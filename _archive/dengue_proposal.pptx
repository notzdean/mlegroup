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420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548640"/>
            <a:ext cx="3200400" cy="3200400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011680" cy="2011680"/>
          </a:xfrm>
          <a:prstGeom prst="ellipse">
            <a:avLst/>
          </a:prstGeom>
          <a:solidFill>
            <a:srgbClr val="95D5B2">
              <a:alpha val="20000"/>
            </a:srgbClr>
          </a:solidFill>
          <a:ln w="12700">
            <a:solidFill>
              <a:srgbClr val="95D5B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320040" y="384048"/>
            <a:ext cx="1737360" cy="2743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PROJECT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Dengue Outbreak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Prediction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2697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subzone-level dengue cluster risk 2 weeks ahead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Singapore government open data — NEA, LTA &amp; SingStat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703320"/>
            <a:ext cx="256032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320040" y="37216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4178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Subzones scored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3703320"/>
            <a:ext cx="256032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3154680" y="37216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yrs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54680" y="4178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cluster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3703320"/>
            <a:ext cx="256032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5989320" y="37216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89320" y="4178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open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C"/>
                </a:solidFill>
              </a:rPr>
              <a:t>CS611 MLE — Group Project  |  Week 6 Proposal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8503920" y="109728"/>
            <a:ext cx="50292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" y="4892040"/>
            <a:ext cx="8933688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D5B2"/>
                </a:solidFill>
              </a:rPr>
              <a:t>CS611 MLE — Group Project  |  Business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2801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126480" y="749808"/>
            <a:ext cx="2743200" cy="3931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12648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35,000+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12648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dengue cases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Singapore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alone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578608"/>
            <a:ext cx="2377440" cy="0"/>
          </a:xfrm>
          <a:prstGeom prst="line">
            <a:avLst/>
          </a:prstGeom>
          <a:noFill/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612648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outbreak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recorded history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mandates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pest mgmt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$8.6B economic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(WHO est.)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" y="749808"/>
            <a:ext cx="5715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292608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4672" y="822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1115568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declares clusters only after cases accumulate. Fogging teams are deployed too late — the outbreak is already spreading.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" y="1920240"/>
            <a:ext cx="5715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292608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🦟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4672" y="19933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Mosquito breeding cycle = 2 weeks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228600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Aedes aegypti eggs hatch in 7–14 days. A 2-week advance prediction window is exactly what's needed to intervene before transmission.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3090672"/>
            <a:ext cx="5715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292608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4672" y="31638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345643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subzones will have active clusters in the next 14 days — so NEA or pest control operators can pre-deploy fogging teams proactively.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" y="4206240"/>
            <a:ext cx="8741664" cy="54864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320040" y="42062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2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dengue cluster risk per subzone for the next 14 days — enabling proactive fogging deployment before the outbreak forms.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8503920" y="109728"/>
            <a:ext cx="50292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" y="4892040"/>
            <a:ext cx="8933688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D5B2"/>
                </a:solidFill>
              </a:rPr>
              <a:t>CS611 MLE — Group Project  |  The 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2801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01168" y="713232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201168" y="713232"/>
            <a:ext cx="411480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ANCHOR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SGCharts Dengue Cluster Snapshots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1261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2013 → Nov 2020  ·  250+ bi-weekly snapshots  ·  Community-maintained CSV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14813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Lat/long cluster boundaries + case counts per snapshot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17099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years of real spatial cluster 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" y="19385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2020 record outbreak (35k+ cases) — key drift event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" y="21671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Treated as primary training signal: cluster present/absent per subzone per week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713232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4526280" y="713232"/>
            <a:ext cx="4114800" cy="2743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4599432" y="7132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AUXILIARY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Weather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1261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+ historical  ·  Free government API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14813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Rainfall, temperature, humidity by weather station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17099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2-week rainfall lag = strongest dengue predictor (mosquito breeding)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7720" y="19385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Rolling 4-week temperature mean as secondary feature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" y="260604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201168" y="2606040"/>
            <a:ext cx="4114800" cy="2743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274320" y="2606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AUXILIARY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2608" y="2898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MRT Tap Volumes + SingStat Population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" y="31546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DataMall API  ·  data.gov.sg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" y="33741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Nearby MRT tap-in/out as neighbourhood activity proxy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" y="36027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SingStat subzone population density — exposure risk weighting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2608" y="38313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OneMap API: geocode subzones, compute spatial proximity features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26280" y="260604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Shape 32"/>
          <p:cNvSpPr/>
          <p:nvPr/>
        </p:nvSpPr>
        <p:spPr>
          <a:xfrm>
            <a:off x="4526280" y="2606040"/>
            <a:ext cx="41148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4599432" y="2606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LABEL (Proxy)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17720" y="2898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Subzone Grid + Binary Label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17720" y="31546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assumption — fully transparent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17720" y="33741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330 SG subzones gridded from URA planning boundaries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17720" y="36027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Label: cluster present in subzone in next 14 days (1/0)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17720" y="38313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Derived from SGCharts cluster coordinates + spatial join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" y="4407408"/>
            <a:ext cx="8741664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Text 40"/>
          <p:cNvSpPr/>
          <p:nvPr/>
        </p:nvSpPr>
        <p:spPr>
          <a:xfrm>
            <a:off x="320040" y="440740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Follows prof's formula: real anchor (SGCharts) + real auxiliaries (NEA, LTA, SingStat) + synthetic labels only where no public data exists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8503920" y="109728"/>
            <a:ext cx="50292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" y="4892040"/>
            <a:ext cx="8933688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D5B2"/>
                </a:solidFill>
              </a:rPr>
              <a:t>CS611 MLE — Group Project  |  Users &amp; System Use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280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and how they use the system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01168" y="713232"/>
            <a:ext cx="874166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201168" y="713232"/>
            <a:ext cx="73152" cy="11704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347472" y="7498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🏛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0120" y="7680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Operations Team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0789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1280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— every Monday morning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93592" y="10789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93592" y="1280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map: 330 subzones colour-coded Low/Med/High for coming 14 days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27064" y="10789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27064" y="1280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 fogging teams to High-risk subzones before clusters form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719072"/>
            <a:ext cx="8503920" cy="10972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320040" y="1709928"/>
            <a:ext cx="8412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Primary user — system built for their operational planning cycle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01168" y="2011680"/>
            <a:ext cx="874166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201168" y="2011680"/>
            <a:ext cx="73152" cy="11704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347472" y="20482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🐛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0120" y="20665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Control Operators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23774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25786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— before scheduling fogging rounds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93592" y="23774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93592" y="25786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of high-risk subzones with confidence scores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7064" y="23774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27064" y="25786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fogging contracts, allocate teams to predicted hotspots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017520"/>
            <a:ext cx="8503920" cy="10972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320040" y="3008376"/>
            <a:ext cx="8412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Secondary user — commercial pest control companies (Rentokil, PestBusters)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" y="3310128"/>
            <a:ext cx="874166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Shape 31"/>
          <p:cNvSpPr/>
          <p:nvPr/>
        </p:nvSpPr>
        <p:spPr>
          <a:xfrm>
            <a:off x="201168" y="3310128"/>
            <a:ext cx="73152" cy="11704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347472" y="33467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60120" y="33649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Ops Team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0120" y="36758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0120" y="38770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— weekly monitoring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93592" y="36758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93592" y="38770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dashboard: precision, recall, drift alerts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27064" y="36758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27064" y="38770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weekly prediction quality; triggers retraining when Gini drops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315968"/>
            <a:ext cx="8503920" cy="10972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320040" y="4306824"/>
            <a:ext cx="8412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Internal tooling only — monitors pipeline health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8503920" y="109728"/>
            <a:ext cx="50292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" y="4892040"/>
            <a:ext cx="8933688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D5B2"/>
                </a:solidFill>
              </a:rPr>
              <a:t>CS611 MLE — Group Project  | 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640080"/>
            <a:ext cx="88696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5176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73152" y="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14600" y="0"/>
            <a:ext cx="228600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2587752" y="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0"/>
            <a:ext cx="155448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4736592" y="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0"/>
            <a:ext cx="2926080" cy="38404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153912" y="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Retrain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" y="438912"/>
            <a:ext cx="2542032" cy="4480560"/>
          </a:xfrm>
          <a:prstGeom prst="rect">
            <a:avLst/>
          </a:prstGeom>
          <a:solidFill>
            <a:srgbClr val="F0FBF4"/>
          </a:solidFill>
          <a:ln w="19050">
            <a:solidFill>
              <a:srgbClr val="40916C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164592" y="4937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304" y="694944"/>
            <a:ext cx="1115568" cy="841248"/>
          </a:xfrm>
          <a:prstGeom prst="rect">
            <a:avLst/>
          </a:prstGeom>
          <a:solidFill>
            <a:srgbClr val="B7E4C7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146304" y="71323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" y="905256"/>
            <a:ext cx="493776" cy="512064"/>
          </a:xfrm>
          <a:prstGeom prst="rect">
            <a:avLst/>
          </a:prstGeom>
          <a:solidFill>
            <a:srgbClr val="40916C">
              <a:alpha val="25000"/>
            </a:srgbClr>
          </a:solidFill>
          <a:ln w="635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182880" y="905256"/>
            <a:ext cx="4937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SGCharts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713232" y="905256"/>
            <a:ext cx="493776" cy="512064"/>
          </a:xfrm>
          <a:prstGeom prst="rect">
            <a:avLst/>
          </a:prstGeom>
          <a:solidFill>
            <a:srgbClr val="40916C">
              <a:alpha val="25000"/>
            </a:srgbClr>
          </a:solidFill>
          <a:ln w="635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713232" y="905256"/>
            <a:ext cx="4937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64592" y="1444752"/>
            <a:ext cx="10789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6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Airflow DAG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9728" y="1664208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9728" y="1847088"/>
            <a:ext cx="768096" cy="1719072"/>
          </a:xfrm>
          <a:prstGeom prst="rect">
            <a:avLst/>
          </a:prstGeom>
          <a:solidFill>
            <a:srgbClr val="F5DEB3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146304" y="1883664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Bronze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92608" y="2131101"/>
            <a:ext cx="402336" cy="374355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292608" y="2412919"/>
            <a:ext cx="402336" cy="92537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2"/>
          <p:cNvSpPr/>
          <p:nvPr/>
        </p:nvSpPr>
        <p:spPr>
          <a:xfrm>
            <a:off x="292608" y="2084832"/>
            <a:ext cx="402336" cy="9253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128016" y="25420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Integration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64592" y="2724912"/>
            <a:ext cx="676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ingest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64592" y="2980944"/>
            <a:ext cx="676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schema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64592" y="3236976"/>
            <a:ext cx="676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Landing zone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914400" y="1847088"/>
            <a:ext cx="804672" cy="1719072"/>
          </a:xfrm>
          <a:prstGeom prst="rect">
            <a:avLst/>
          </a:prstGeom>
          <a:solidFill>
            <a:srgbClr val="E8EDF0"/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950976" y="188366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Silver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115568" y="2131101"/>
            <a:ext cx="402336" cy="374355"/>
          </a:xfrm>
          <a:prstGeom prst="rect">
            <a:avLst/>
          </a:prstGeom>
          <a:solidFill>
            <a:srgbClr val="708090"/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Shape 30"/>
          <p:cNvSpPr/>
          <p:nvPr/>
        </p:nvSpPr>
        <p:spPr>
          <a:xfrm>
            <a:off x="1115568" y="2412919"/>
            <a:ext cx="402336" cy="92537"/>
          </a:xfrm>
          <a:prstGeom prst="ellipse">
            <a:avLst/>
          </a:prstGeom>
          <a:solidFill>
            <a:srgbClr val="708090"/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Shape 31"/>
          <p:cNvSpPr/>
          <p:nvPr/>
        </p:nvSpPr>
        <p:spPr>
          <a:xfrm>
            <a:off x="1115568" y="2084832"/>
            <a:ext cx="402336" cy="9253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7080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932688" y="254203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&amp; Cleaned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969264" y="272491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enforced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69264" y="298094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Nulls handled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969264" y="3236976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Joined tables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755648" y="1847088"/>
            <a:ext cx="804672" cy="1719072"/>
          </a:xfrm>
          <a:prstGeom prst="rect">
            <a:avLst/>
          </a:prstGeom>
          <a:solidFill>
            <a:srgbClr val="FFF3CD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7"/>
          <p:cNvSpPr/>
          <p:nvPr/>
        </p:nvSpPr>
        <p:spPr>
          <a:xfrm>
            <a:off x="1792224" y="188366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Gold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956816" y="2131101"/>
            <a:ext cx="402336" cy="374355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Shape 39"/>
          <p:cNvSpPr/>
          <p:nvPr/>
        </p:nvSpPr>
        <p:spPr>
          <a:xfrm>
            <a:off x="1956816" y="2412919"/>
            <a:ext cx="402336" cy="9253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Shape 40"/>
          <p:cNvSpPr/>
          <p:nvPr/>
        </p:nvSpPr>
        <p:spPr>
          <a:xfrm>
            <a:off x="1956816" y="2084832"/>
            <a:ext cx="402336" cy="92537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1773936" y="2542032"/>
            <a:ext cx="768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810512" y="272491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Lag features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810512" y="298094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Spatial join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810512" y="3236976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ML-ready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877824" y="2706624"/>
            <a:ext cx="36576" cy="0"/>
          </a:xfrm>
          <a:prstGeom prst="line">
            <a:avLst/>
          </a:prstGeom>
          <a:noFill/>
          <a:ln w="19050">
            <a:solidFill>
              <a:srgbClr val="CD7F32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48" name="Shape 46"/>
          <p:cNvSpPr/>
          <p:nvPr/>
        </p:nvSpPr>
        <p:spPr>
          <a:xfrm>
            <a:off x="1719072" y="2706624"/>
            <a:ext cx="36576" cy="0"/>
          </a:xfrm>
          <a:prstGeom prst="line">
            <a:avLst/>
          </a:prstGeom>
          <a:noFill/>
          <a:ln w="19050">
            <a:solidFill>
              <a:srgbClr val="708090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49" name="Shape 47"/>
          <p:cNvSpPr/>
          <p:nvPr/>
        </p:nvSpPr>
        <p:spPr>
          <a:xfrm>
            <a:off x="109728" y="3657600"/>
            <a:ext cx="2450592" cy="201168"/>
          </a:xfrm>
          <a:prstGeom prst="rect">
            <a:avLst/>
          </a:prstGeom>
          <a:solidFill>
            <a:srgbClr val="1A6FAA">
              <a:alpha val="12000"/>
            </a:srgbClr>
          </a:solidFill>
          <a:ln w="6350">
            <a:solidFill>
              <a:srgbClr val="1A6FA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0" name="Text 48"/>
          <p:cNvSpPr/>
          <p:nvPr/>
        </p:nvSpPr>
        <p:spPr>
          <a:xfrm>
            <a:off x="109728" y="365760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6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Airflow — weekly ingest · preprocess · feature engineering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09728" y="3913632"/>
            <a:ext cx="2450592" cy="475488"/>
          </a:xfrm>
          <a:prstGeom prst="rect">
            <a:avLst/>
          </a:prstGeom>
          <a:solidFill>
            <a:srgbClr val="F5DEB3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2" name="Text 50"/>
          <p:cNvSpPr/>
          <p:nvPr/>
        </p:nvSpPr>
        <p:spPr>
          <a:xfrm>
            <a:off x="109728" y="3931920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Storage (Bronze)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28016" y="4114800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Postgres — raw_clusters · raw_weather · raw_population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704088" y="1536192"/>
            <a:ext cx="0" cy="310896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55" name="Shape 53"/>
          <p:cNvSpPr/>
          <p:nvPr/>
        </p:nvSpPr>
        <p:spPr>
          <a:xfrm>
            <a:off x="2798064" y="475488"/>
            <a:ext cx="1188720" cy="877824"/>
          </a:xfrm>
          <a:prstGeom prst="rect">
            <a:avLst/>
          </a:prstGeom>
          <a:solidFill>
            <a:srgbClr val="FFF3CD"/>
          </a:solidFill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6" name="Text 54"/>
          <p:cNvSpPr/>
          <p:nvPr/>
        </p:nvSpPr>
        <p:spPr>
          <a:xfrm>
            <a:off x="2798064" y="4937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(Gold)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944368" y="733166"/>
            <a:ext cx="402336" cy="30925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8" name="Shape 56"/>
          <p:cNvSpPr/>
          <p:nvPr/>
        </p:nvSpPr>
        <p:spPr>
          <a:xfrm>
            <a:off x="2944368" y="965972"/>
            <a:ext cx="402336" cy="7644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9" name="Shape 57"/>
          <p:cNvSpPr/>
          <p:nvPr/>
        </p:nvSpPr>
        <p:spPr>
          <a:xfrm>
            <a:off x="2944368" y="694944"/>
            <a:ext cx="402336" cy="764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0" name="Text 58"/>
          <p:cNvSpPr/>
          <p:nvPr/>
        </p:nvSpPr>
        <p:spPr>
          <a:xfrm>
            <a:off x="2798064" y="11338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133088" y="475488"/>
            <a:ext cx="1097280" cy="877824"/>
          </a:xfrm>
          <a:prstGeom prst="rect">
            <a:avLst/>
          </a:prstGeom>
          <a:solidFill>
            <a:srgbClr val="B7E4C7"/>
          </a:solidFill>
          <a:ln w="1905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2" name="Text 60"/>
          <p:cNvSpPr/>
          <p:nvPr/>
        </p:nvSpPr>
        <p:spPr>
          <a:xfrm>
            <a:off x="4133088" y="4937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261104" y="733166"/>
            <a:ext cx="402336" cy="309250"/>
          </a:xfrm>
          <a:prstGeom prst="rect">
            <a:avLst/>
          </a:prstGeom>
          <a:solidFill>
            <a:srgbClr val="1B4332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4" name="Shape 62"/>
          <p:cNvSpPr/>
          <p:nvPr/>
        </p:nvSpPr>
        <p:spPr>
          <a:xfrm>
            <a:off x="4261104" y="965972"/>
            <a:ext cx="402336" cy="7644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5" name="Shape 63"/>
          <p:cNvSpPr/>
          <p:nvPr/>
        </p:nvSpPr>
        <p:spPr>
          <a:xfrm>
            <a:off x="4261104" y="694944"/>
            <a:ext cx="402336" cy="764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6" name="Text 64"/>
          <p:cNvSpPr/>
          <p:nvPr/>
        </p:nvSpPr>
        <p:spPr>
          <a:xfrm>
            <a:off x="4133088" y="113385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2560320" y="2962656"/>
            <a:ext cx="237744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68" name="Text 66"/>
          <p:cNvSpPr/>
          <p:nvPr/>
        </p:nvSpPr>
        <p:spPr>
          <a:xfrm>
            <a:off x="2578608" y="23774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Features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(Gold)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2743200" y="1481328"/>
            <a:ext cx="1938528" cy="1993392"/>
          </a:xfrm>
          <a:prstGeom prst="rect">
            <a:avLst/>
          </a:prstGeom>
          <a:solidFill>
            <a:srgbClr val="EDE9F8"/>
          </a:solidFill>
          <a:ln w="19050">
            <a:solidFill>
              <a:srgbClr val="6B48A8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70" name="Text 68"/>
          <p:cNvSpPr/>
          <p:nvPr/>
        </p:nvSpPr>
        <p:spPr>
          <a:xfrm>
            <a:off x="2816352" y="153619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Model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816352" y="1737360"/>
            <a:ext cx="841248" cy="1609344"/>
          </a:xfrm>
          <a:prstGeom prst="rect">
            <a:avLst/>
          </a:prstGeom>
          <a:solidFill>
            <a:srgbClr val="D8CCF0"/>
          </a:solidFill>
          <a:ln w="12700">
            <a:solidFill>
              <a:srgbClr val="6B48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2" name="Text 70"/>
          <p:cNvSpPr/>
          <p:nvPr/>
        </p:nvSpPr>
        <p:spPr>
          <a:xfrm>
            <a:off x="2816352" y="1755648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2834640" y="195681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834640" y="221284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Optuna HPT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2834640" y="246888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5-fold TS CV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2834640" y="2724912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SMOTE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2834640" y="298094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MLflow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3730752" y="1737360"/>
            <a:ext cx="877824" cy="1609344"/>
          </a:xfrm>
          <a:prstGeom prst="rect">
            <a:avLst/>
          </a:prstGeom>
          <a:solidFill>
            <a:srgbClr val="C5B8E8"/>
          </a:solidFill>
          <a:ln w="12700">
            <a:solidFill>
              <a:srgbClr val="6B48A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9" name="Text 77"/>
          <p:cNvSpPr/>
          <p:nvPr/>
        </p:nvSpPr>
        <p:spPr>
          <a:xfrm>
            <a:off x="3730752" y="17556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749040" y="1956816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Precision/Recall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3749040" y="2212848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MLflow log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3749040" y="2468880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Promotion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3749040" y="2724912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3749040" y="2980944"/>
            <a:ext cx="841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Spatial acc.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3657600" y="2542032"/>
            <a:ext cx="73152" cy="0"/>
          </a:xfrm>
          <a:prstGeom prst="line">
            <a:avLst/>
          </a:prstGeom>
          <a:noFill/>
          <a:ln w="19050">
            <a:solidFill>
              <a:srgbClr val="6B48A8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86" name="Shape 84"/>
          <p:cNvSpPr/>
          <p:nvPr/>
        </p:nvSpPr>
        <p:spPr>
          <a:xfrm>
            <a:off x="3392424" y="1353312"/>
            <a:ext cx="0" cy="384048"/>
          </a:xfrm>
          <a:prstGeom prst="line">
            <a:avLst/>
          </a:prstGeom>
          <a:noFill/>
          <a:ln w="19050">
            <a:solidFill>
              <a:srgbClr val="D4A017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87" name="Text 85"/>
          <p:cNvSpPr/>
          <p:nvPr/>
        </p:nvSpPr>
        <p:spPr>
          <a:xfrm>
            <a:off x="3090672" y="1408176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Features</a:t>
            </a:r>
            <a:endParaRPr lang="en-US" sz="550" dirty="0"/>
          </a:p>
        </p:txBody>
      </p:sp>
      <p:sp>
        <p:nvSpPr>
          <p:cNvPr id="88" name="Shape 86"/>
          <p:cNvSpPr/>
          <p:nvPr/>
        </p:nvSpPr>
        <p:spPr>
          <a:xfrm>
            <a:off x="4169664" y="1737360"/>
            <a:ext cx="310896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89" name="Text 87"/>
          <p:cNvSpPr/>
          <p:nvPr/>
        </p:nvSpPr>
        <p:spPr>
          <a:xfrm>
            <a:off x="4206240" y="140817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550" dirty="0"/>
          </a:p>
        </p:txBody>
      </p:sp>
      <p:sp>
        <p:nvSpPr>
          <p:cNvPr id="90" name="Shape 88"/>
          <p:cNvSpPr/>
          <p:nvPr/>
        </p:nvSpPr>
        <p:spPr>
          <a:xfrm>
            <a:off x="4773168" y="1481328"/>
            <a:ext cx="1389888" cy="1993392"/>
          </a:xfrm>
          <a:prstGeom prst="rect">
            <a:avLst/>
          </a:prstGeom>
          <a:solidFill>
            <a:srgbClr val="DBEAFE"/>
          </a:solidFill>
          <a:ln w="19050">
            <a:solidFill>
              <a:srgbClr val="1A6FAA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91" name="Text 89"/>
          <p:cNvSpPr/>
          <p:nvPr/>
        </p:nvSpPr>
        <p:spPr>
          <a:xfrm>
            <a:off x="4846320" y="15361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846320" y="1737360"/>
            <a:ext cx="1243584" cy="1609344"/>
          </a:xfrm>
          <a:prstGeom prst="rect">
            <a:avLst/>
          </a:prstGeom>
          <a:solidFill>
            <a:srgbClr val="90CAF9"/>
          </a:solidFill>
          <a:ln w="12700">
            <a:solidFill>
              <a:srgbClr val="1A6FA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3" name="Text 91"/>
          <p:cNvSpPr/>
          <p:nvPr/>
        </p:nvSpPr>
        <p:spPr>
          <a:xfrm>
            <a:off x="4846320" y="1755648"/>
            <a:ext cx="12435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Inference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4882896" y="1956816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(Monday)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4882896" y="2212848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330 subzones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4882896" y="246888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Low/Med/High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4882896" y="2724912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Postgres map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4882896" y="298094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⚙ Airflow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4681728" y="914400"/>
            <a:ext cx="786384" cy="822960"/>
          </a:xfrm>
          <a:prstGeom prst="line">
            <a:avLst/>
          </a:prstGeom>
          <a:noFill/>
          <a:ln w="19050">
            <a:solidFill>
              <a:srgbClr val="1A6FAA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00" name="Text 98"/>
          <p:cNvSpPr/>
          <p:nvPr/>
        </p:nvSpPr>
        <p:spPr>
          <a:xfrm>
            <a:off x="4700016" y="122529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1A6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Model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6272784" y="438912"/>
            <a:ext cx="2743200" cy="4480560"/>
          </a:xfrm>
          <a:prstGeom prst="rect">
            <a:avLst/>
          </a:prstGeom>
          <a:solidFill>
            <a:srgbClr val="F0FBF4"/>
          </a:solidFill>
          <a:ln w="19050">
            <a:solidFill>
              <a:srgbClr val="40916C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102" name="Text 100"/>
          <p:cNvSpPr/>
          <p:nvPr/>
        </p:nvSpPr>
        <p:spPr>
          <a:xfrm>
            <a:off x="6364224" y="4937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Retrain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345936" y="713232"/>
            <a:ext cx="1353312" cy="749808"/>
          </a:xfrm>
          <a:prstGeom prst="rect">
            <a:avLst/>
          </a:prstGeom>
          <a:solidFill>
            <a:srgbClr val="B7E4C7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4" name="Text 102"/>
          <p:cNvSpPr/>
          <p:nvPr/>
        </p:nvSpPr>
        <p:spPr>
          <a:xfrm>
            <a:off x="6345936" y="7315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/ Pest Control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6382512" y="9326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Views weekly risk map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6382512" y="109728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Deploys fogging teams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6382512" y="12618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High-risk subzones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6345936" y="1554480"/>
            <a:ext cx="1353312" cy="1133856"/>
          </a:xfrm>
          <a:prstGeom prst="rect">
            <a:avLst/>
          </a:prstGeom>
          <a:solidFill>
            <a:srgbClr val="A5D6A7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9" name="Text 107"/>
          <p:cNvSpPr/>
          <p:nvPr/>
        </p:nvSpPr>
        <p:spPr>
          <a:xfrm>
            <a:off x="6345936" y="157276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6382512" y="17739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Precision/Recall weekly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6382512" y="195681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drift (weather)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6382512" y="213969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Concept drift (serotype)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6382512" y="232257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⚙ Airflow scheduled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6382512" y="250545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Lineage tracker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7808976" y="1554480"/>
            <a:ext cx="1133856" cy="42062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6" name="Text 114"/>
          <p:cNvSpPr/>
          <p:nvPr/>
        </p:nvSpPr>
        <p:spPr>
          <a:xfrm>
            <a:off x="7808976" y="1554480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Manager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7808976" y="2066544"/>
            <a:ext cx="1133856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8" name="Text 116"/>
          <p:cNvSpPr/>
          <p:nvPr/>
        </p:nvSpPr>
        <p:spPr>
          <a:xfrm>
            <a:off x="7808976" y="2066544"/>
            <a:ext cx="1133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7699248" y="1764792"/>
            <a:ext cx="10972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0" name="Shape 118"/>
          <p:cNvSpPr/>
          <p:nvPr/>
        </p:nvSpPr>
        <p:spPr>
          <a:xfrm>
            <a:off x="7699248" y="2276856"/>
            <a:ext cx="109728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1" name="Shape 119"/>
          <p:cNvSpPr/>
          <p:nvPr/>
        </p:nvSpPr>
        <p:spPr>
          <a:xfrm>
            <a:off x="6345936" y="2798064"/>
            <a:ext cx="2596896" cy="585216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2" name="Text 120"/>
          <p:cNvSpPr/>
          <p:nvPr/>
        </p:nvSpPr>
        <p:spPr>
          <a:xfrm>
            <a:off x="6345936" y="281635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Trigger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6345936" y="3054096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alert (serotype / seasonal) → fires Airflow retraining DAG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7022592" y="2688336"/>
            <a:ext cx="0" cy="109728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5" name="Shape 123"/>
          <p:cNvSpPr/>
          <p:nvPr/>
        </p:nvSpPr>
        <p:spPr>
          <a:xfrm>
            <a:off x="8375904" y="2487168"/>
            <a:ext cx="0" cy="896112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6" name="Shape 124"/>
          <p:cNvSpPr/>
          <p:nvPr/>
        </p:nvSpPr>
        <p:spPr>
          <a:xfrm>
            <a:off x="8375904" y="3383280"/>
            <a:ext cx="56692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7" name="Shape 125"/>
          <p:cNvSpPr/>
          <p:nvPr/>
        </p:nvSpPr>
        <p:spPr>
          <a:xfrm>
            <a:off x="6199632" y="2304288"/>
            <a:ext cx="14630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28" name="Text 126"/>
          <p:cNvSpPr/>
          <p:nvPr/>
        </p:nvSpPr>
        <p:spPr>
          <a:xfrm>
            <a:off x="5760720" y="16916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</a:t>
            </a:r>
            <a:endParaRPr lang="en-US" sz="550" dirty="0"/>
          </a:p>
        </p:txBody>
      </p:sp>
      <p:sp>
        <p:nvSpPr>
          <p:cNvPr id="129" name="Shape 127"/>
          <p:cNvSpPr/>
          <p:nvPr/>
        </p:nvSpPr>
        <p:spPr>
          <a:xfrm>
            <a:off x="6199632" y="2651760"/>
            <a:ext cx="146304" cy="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30" name="Text 128"/>
          <p:cNvSpPr/>
          <p:nvPr/>
        </p:nvSpPr>
        <p:spPr>
          <a:xfrm>
            <a:off x="5742432" y="25420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550" dirty="0"/>
          </a:p>
        </p:txBody>
      </p:sp>
      <p:sp>
        <p:nvSpPr>
          <p:cNvPr id="131" name="Shape 129"/>
          <p:cNvSpPr/>
          <p:nvPr/>
        </p:nvSpPr>
        <p:spPr>
          <a:xfrm>
            <a:off x="493776" y="4443984"/>
            <a:ext cx="3639312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lg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32" name="Text 130"/>
          <p:cNvSpPr/>
          <p:nvPr/>
        </p:nvSpPr>
        <p:spPr>
          <a:xfrm>
            <a:off x="1097280" y="448056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Feedback Loop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3236976" y="4663440"/>
            <a:ext cx="3785616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lgDash"/>
            <a:tailEnd type="arrow"/>
          </a:ln>
        </p:spPr>
        <p:txBody>
          <a:bodyPr/>
          <a:lstStyle/>
          <a:p>
            <a:endParaRPr lang="en-SG"/>
          </a:p>
        </p:txBody>
      </p:sp>
      <p:sp>
        <p:nvSpPr>
          <p:cNvPr id="134" name="Text 132"/>
          <p:cNvSpPr/>
          <p:nvPr/>
        </p:nvSpPr>
        <p:spPr>
          <a:xfrm>
            <a:off x="3566160" y="470001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/ Serotype Change Feedback Loop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4169664" y="4297680"/>
            <a:ext cx="512064" cy="0"/>
          </a:xfrm>
          <a:prstGeom prst="line">
            <a:avLst/>
          </a:prstGeom>
          <a:noFill/>
          <a:ln w="12700">
            <a:solidFill>
              <a:srgbClr val="1B4332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136" name="Text 134"/>
          <p:cNvSpPr/>
          <p:nvPr/>
        </p:nvSpPr>
        <p:spPr>
          <a:xfrm>
            <a:off x="3749040" y="433425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Artifacts (Data, Code, Model)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73152" y="4901184"/>
            <a:ext cx="8933688" cy="2468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8" name="Text 136"/>
          <p:cNvSpPr/>
          <p:nvPr/>
        </p:nvSpPr>
        <p:spPr>
          <a:xfrm>
            <a:off x="109728" y="4901184"/>
            <a:ext cx="8869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All components containerised via Docker + docker-compose  —  runs fully locally · deployable to any cloud with same tooling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8503920" y="109728"/>
            <a:ext cx="50292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" y="4892040"/>
            <a:ext cx="8933688" cy="2514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D5B2"/>
                </a:solidFill>
              </a:rPr>
              <a:t>CS611 MLE — Group Project  |  Design Choices &amp; Open Questions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choices &amp; open questions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01168" y="694944"/>
            <a:ext cx="4023360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256032" y="6949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</a:rPr>
              <a:t>Design choices — rationale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115568"/>
            <a:ext cx="54864" cy="6583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29184" y="1133856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over real-time inference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" y="1426464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plans fogging schedules weekly — not in milliseconds. Batch is operationally correct.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1956816"/>
            <a:ext cx="54864" cy="6583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329184" y="1975104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over deep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" y="2267712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spatial + temporal data; interpretable for public health reporting; faster iteration.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" y="2798064"/>
            <a:ext cx="54864" cy="6583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329184" y="2816352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cross-validation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" y="3108960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k-fold leaks future data into training — temporal CV prevents data leakage.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" y="3639312"/>
            <a:ext cx="54864" cy="658368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329184" y="3657600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cadence tied to Airflow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" y="3950208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Mosquito breeding cycle is 7–14 days. Weekly prediction matches the intervention window.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80560" y="694944"/>
            <a:ext cx="4462272" cy="310896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4535424" y="694944"/>
            <a:ext cx="4352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</a:rPr>
              <a:t>Open questions — seeking feedback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1115568"/>
            <a:ext cx="4462272" cy="694944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4535424" y="1152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01184" y="11521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SGCharts data ends 2020 — how to handle post-2020?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01184" y="14447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train on 2013–2020 and demo drift. Option B: synthesise 2021–2025 using published NEA yearly totals.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1956816"/>
            <a:ext cx="4462272" cy="694944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4535424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901184" y="1993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Subzone vs planning area granularity?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01184" y="2286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subzones is fine-grained but sparse. 55 planning areas is coarser but data-rich. Which level for prediction?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80560" y="2798064"/>
            <a:ext cx="4462272" cy="694944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4535424" y="2834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901184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 Recall tradeoff?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01184" y="3127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outbreaks) are costly. Should we optimise recall at cost of precision — over-deploying fogging teams?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80560" y="3639312"/>
            <a:ext cx="4462272" cy="694944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/>
          <p:nvPr/>
        </p:nvSpPr>
        <p:spPr>
          <a:xfrm>
            <a:off x="4535424" y="3675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901184" y="3675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Popular Times as auxiliary footfall signal?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01184" y="39684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mobility context. But scraping ToS may be an issue. Worth pursuing or too risky for a course project?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1087</Words>
  <Application>Microsoft Office PowerPoint</Application>
  <PresentationFormat>On-screen Show (16:9)</PresentationFormat>
  <Paragraphs>210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Dengue Outbreak Risk Prediction — Project Proposal</dc:title>
  <dc:subject>PptxGenJS Presentation</dc:subject>
  <dc:creator>PptxGenJS</dc:creator>
  <cp:lastModifiedBy>Gareth Wang</cp:lastModifiedBy>
  <cp:revision>4</cp:revision>
  <dcterms:created xsi:type="dcterms:W3CDTF">2026-05-13T04:31:08Z</dcterms:created>
  <dcterms:modified xsi:type="dcterms:W3CDTF">2026-05-14T09:24:33Z</dcterms:modified>
</cp:coreProperties>
</file>