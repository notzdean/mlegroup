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0" y="-1280160"/>
            <a:ext cx="4114800" cy="4114800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0" y="2743200"/>
            <a:ext cx="2377440" cy="2377440"/>
          </a:xfrm>
          <a:prstGeom prst="ellipse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65760"/>
            <a:ext cx="1325880" cy="292608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PROJECT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68680"/>
            <a:ext cx="7315200" cy="8686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Dengue Outbreak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508760"/>
            <a:ext cx="7315200" cy="8686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Risk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651760"/>
            <a:ext cx="6400800" cy="7315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200" b="0" i="0">
                <a:solidFill>
                  <a:srgbClr val="95D5B2"/>
                </a:solidFill>
                <a:latin typeface="Calibri"/>
              </a:rPr>
              <a:t>Predicting subzone-level dengue cluster risk —</a:t>
            </a:r>
          </a:p>
          <a:p>
            <a:pPr algn="l"/>
            <a:r>
              <a:rPr sz="1200" b="0" i="0">
                <a:solidFill>
                  <a:srgbClr val="95D5B2"/>
                </a:solidFill>
                <a:latin typeface="Calibri"/>
              </a:rPr>
              <a:t>strategic batch + tactical real-time inference, served from one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794760"/>
            <a:ext cx="1828800" cy="868680"/>
          </a:xfrm>
          <a:prstGeom prst="rect">
            <a:avLst/>
          </a:prstGeom>
          <a:noFill/>
          <a:ln w="9525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3886200"/>
            <a:ext cx="1645920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330+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4343400"/>
            <a:ext cx="164592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950" b="0" i="0">
                <a:solidFill>
                  <a:srgbClr val="95D5B2"/>
                </a:solidFill>
                <a:latin typeface="Calibri"/>
              </a:rPr>
              <a:t>SG Subzones scored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3794760"/>
            <a:ext cx="1828800" cy="868680"/>
          </a:xfrm>
          <a:prstGeom prst="rect">
            <a:avLst/>
          </a:prstGeom>
          <a:noFill/>
          <a:ln w="9525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3886200"/>
            <a:ext cx="1645920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7 yrs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4343400"/>
            <a:ext cx="164592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950" b="0" i="0">
                <a:solidFill>
                  <a:srgbClr val="95D5B2"/>
                </a:solidFill>
                <a:latin typeface="Calibri"/>
              </a:rPr>
              <a:t>Real cluster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794760"/>
            <a:ext cx="1828800" cy="868680"/>
          </a:xfrm>
          <a:prstGeom prst="rect">
            <a:avLst/>
          </a:prstGeom>
          <a:noFill/>
          <a:ln w="9525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886200"/>
            <a:ext cx="1645920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343400"/>
            <a:ext cx="164592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950" b="0" i="0">
                <a:solidFill>
                  <a:srgbClr val="95D5B2"/>
                </a:solidFill>
                <a:latin typeface="Calibri"/>
              </a:rPr>
              <a:t>Gov open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846320"/>
            <a:ext cx="548640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900" b="0" i="0">
                <a:solidFill>
                  <a:srgbClr val="95D5B2"/>
                </a:solidFill>
                <a:latin typeface="Calibri"/>
              </a:rPr>
              <a:t>CS611 MLE — Group Project   |   Week 6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365760" cy="32004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640080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900" b="0" i="0">
                <a:solidFill>
                  <a:srgbClr val="40916C"/>
                </a:solidFill>
                <a:latin typeface="Calibri"/>
              </a:rPr>
              <a:t>CS611 MLE — Group Project   |   The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82296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2600" b="1" i="0">
                <a:solidFill>
                  <a:srgbClr val="1B4332"/>
                </a:solidFill>
                <a:latin typeface="Georgia"/>
              </a:rPr>
              <a:t>Dengue control is a two-speed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841248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050" b="0" i="1">
                <a:solidFill>
                  <a:srgbClr val="4A5A5A"/>
                </a:solidFill>
                <a:latin typeface="Calibri"/>
              </a:rPr>
              <a:t>Singapore's 2020 outbreak — 35,000+ cases — exposed two distinct operational gaps. Conflating them with one model is the strategic mistake.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83080"/>
            <a:ext cx="40690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4069080" cy="38404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STRATEGIC LOOP   ·   WEEKLY BATCH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3703320" cy="4114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Where should fogging be deployed next week?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100584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1" i="0">
                <a:solidFill>
                  <a:srgbClr val="6B7A7A"/>
                </a:solidFill>
                <a:latin typeface="Calibri"/>
              </a:rPr>
              <a:t>Cadence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743200"/>
            <a:ext cx="274320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000" b="0" i="0">
                <a:solidFill>
                  <a:srgbClr val="2D3A3A"/>
                </a:solidFill>
                <a:latin typeface="Calibri"/>
              </a:rPr>
              <a:t>Weekly  ·  Monday 06:00 SGT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63239"/>
            <a:ext cx="100584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1" i="0">
                <a:solidFill>
                  <a:srgbClr val="6B7A7A"/>
                </a:solidFill>
                <a:latin typeface="Calibri"/>
              </a:rPr>
              <a:t>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063239"/>
            <a:ext cx="274320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000" b="0" i="0">
                <a:solidFill>
                  <a:srgbClr val="2D3A3A"/>
                </a:solidFill>
                <a:latin typeface="Calibri"/>
              </a:rPr>
              <a:t>NEA Ops + Pest Control Operators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83280"/>
            <a:ext cx="100584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1" i="0">
                <a:solidFill>
                  <a:srgbClr val="6B7A7A"/>
                </a:solidFill>
                <a:latin typeface="Calibri"/>
              </a:rPr>
              <a:t>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383280"/>
            <a:ext cx="274320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000" b="0" i="0">
                <a:solidFill>
                  <a:srgbClr val="2D3A3A"/>
                </a:solidFill>
                <a:latin typeface="Calibri"/>
              </a:rPr>
              <a:t>Plan fogging crews + equipment staging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03320"/>
            <a:ext cx="100584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1" i="0">
                <a:solidFill>
                  <a:srgbClr val="6B7A7A"/>
                </a:solidFill>
                <a:latin typeface="Calibri"/>
              </a:rPr>
              <a:t>If wrong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703320"/>
            <a:ext cx="274320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000" b="0" i="0">
                <a:solidFill>
                  <a:srgbClr val="2D3A3A"/>
                </a:solidFill>
                <a:latin typeface="Calibri"/>
              </a:rPr>
              <a:t>Missed fogging run — recoverable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69080"/>
            <a:ext cx="370332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000" b="1" i="1">
                <a:solidFill>
                  <a:srgbClr val="40916C"/>
                </a:solidFill>
                <a:latin typeface="Calibri"/>
              </a:rPr>
              <a:t>Latency tolerance: days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1783080"/>
            <a:ext cx="40690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9160" y="1783080"/>
            <a:ext cx="4069080" cy="384048"/>
          </a:xfrm>
          <a:prstGeom prst="rect">
            <a:avLst/>
          </a:prstGeom>
          <a:solidFill>
            <a:srgbClr val="B84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TACTICAL LOOP   ·   EVENT-DRIVEN REAL-TIME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286000"/>
            <a:ext cx="3703320" cy="4114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300" b="1" i="0">
                <a:solidFill>
                  <a:srgbClr val="B84B3C"/>
                </a:solidFill>
                <a:latin typeface="Calibri"/>
              </a:rPr>
              <a:t>Who needs same-day outreach right now?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2743200"/>
            <a:ext cx="100584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1" i="0">
                <a:solidFill>
                  <a:srgbClr val="6B7A7A"/>
                </a:solidFill>
                <a:latin typeface="Calibri"/>
              </a:rPr>
              <a:t>Cadence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2743200"/>
            <a:ext cx="274320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000" b="0" i="0">
                <a:solidFill>
                  <a:srgbClr val="2D3A3A"/>
                </a:solidFill>
                <a:latin typeface="Calibri"/>
              </a:rPr>
              <a:t>Event-driven  ·  per case notification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063239"/>
            <a:ext cx="100584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1" i="0">
                <a:solidFill>
                  <a:srgbClr val="6B7A7A"/>
                </a:solidFill>
                <a:latin typeface="Calibri"/>
              </a:rPr>
              <a:t>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3063239"/>
            <a:ext cx="274320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000" b="0" i="0">
                <a:solidFill>
                  <a:srgbClr val="2D3A3A"/>
                </a:solidFill>
                <a:latin typeface="Calibri"/>
              </a:rPr>
              <a:t>CDC Officer at MOH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383280"/>
            <a:ext cx="100584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1" i="0">
                <a:solidFill>
                  <a:srgbClr val="6B7A7A"/>
                </a:solidFill>
                <a:latin typeface="Calibri"/>
              </a:rPr>
              <a:t>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3383280"/>
            <a:ext cx="274320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000" b="0" i="0">
                <a:solidFill>
                  <a:srgbClr val="2D3A3A"/>
                </a:solidFill>
                <a:latin typeface="Calibri"/>
              </a:rPr>
              <a:t>Triage: home visit, advisory, testing van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3703320"/>
            <a:ext cx="100584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1" i="0">
                <a:solidFill>
                  <a:srgbClr val="6B7A7A"/>
                </a:solidFill>
                <a:latin typeface="Calibri"/>
              </a:rPr>
              <a:t>If wrong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3703320"/>
            <a:ext cx="274320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000" b="0" i="0">
                <a:solidFill>
                  <a:srgbClr val="2D3A3A"/>
                </a:solidFill>
                <a:latin typeface="Calibri"/>
              </a:rPr>
              <a:t>Vulnerable resident → WHO days 4-7 critical phase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4069080"/>
            <a:ext cx="370332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000" b="1" i="1">
                <a:solidFill>
                  <a:srgbClr val="B84B3C"/>
                </a:solidFill>
                <a:latin typeface="Calibri"/>
              </a:rPr>
              <a:t>Latency tolerance: sub-second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Two cost functions   ·   two cadences   ·   one underlying model serving both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365760" cy="32004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640080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900" b="0" i="0">
                <a:solidFill>
                  <a:srgbClr val="40916C"/>
                </a:solidFill>
                <a:latin typeface="Calibri"/>
              </a:rPr>
              <a:t>CS611 MLE — Group Project   |   The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82296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2600" b="1" i="0">
                <a:solidFill>
                  <a:srgbClr val="1B4332"/>
                </a:solidFill>
                <a:latin typeface="Georgia"/>
              </a:rPr>
              <a:t>The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40690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4069080" cy="27432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ANCHOR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19072"/>
            <a:ext cx="379476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150" b="1" i="0">
                <a:solidFill>
                  <a:srgbClr val="1B4332"/>
                </a:solidFill>
                <a:latin typeface="Calibri"/>
              </a:rPr>
              <a:t>SGCharts Dengue Cluster Snapshots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75104"/>
            <a:ext cx="379476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0" i="1">
                <a:solidFill>
                  <a:srgbClr val="6B7A7A"/>
                </a:solidFill>
                <a:latin typeface="Calibri"/>
              </a:rPr>
              <a:t>May 2013 → Nov 2020  ·  250+ bi-weekly snapshots  ·  Community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12848"/>
            <a:ext cx="3794760" cy="7772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2D3A3A"/>
                </a:solidFill>
                <a:latin typeface="Calibri"/>
              </a:rPr>
              <a:t>•  Lat/long cluster boundaries + case counts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2D3A3A"/>
                </a:solidFill>
                <a:latin typeface="Calibri"/>
              </a:rPr>
              <a:t>•  7 years of real spatial cluster data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2D3A3A"/>
                </a:solidFill>
                <a:latin typeface="Calibri"/>
              </a:rPr>
              <a:t>•  Covers 2020 record outbreak (35k+ cases) — concept drift event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1371600"/>
            <a:ext cx="40690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09160" y="1371600"/>
            <a:ext cx="4069080" cy="27432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AUXILIARY  ·  WEATHER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719072"/>
            <a:ext cx="379476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150" b="1" i="0">
                <a:solidFill>
                  <a:srgbClr val="1B4332"/>
                </a:solidFill>
                <a:latin typeface="Calibri"/>
              </a:rPr>
              <a:t>MSS Weather Station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975104"/>
            <a:ext cx="379476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0" i="1">
                <a:solidFill>
                  <a:srgbClr val="6B7A7A"/>
                </a:solidFill>
                <a:latin typeface="Calibri"/>
              </a:rPr>
              <a:t>Met Service Singapore  ·  station-level daily  ·  2013–present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212848"/>
            <a:ext cx="3794760" cy="7772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2D3A3A"/>
                </a:solidFill>
                <a:latin typeface="Calibri"/>
              </a:rPr>
              <a:t>•  Rainfall, temperature, relative humidity per station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2D3A3A"/>
                </a:solidFill>
                <a:latin typeface="Calibri"/>
              </a:rPr>
              <a:t>•  Replaces NEA realtime API — extends usable training window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2D3A3A"/>
                </a:solidFill>
                <a:latin typeface="Calibri"/>
              </a:rPr>
              <a:t>•  Drives lag features: 1w / 2w / 4w rainfall, 4w temp mean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54680"/>
            <a:ext cx="40690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154680"/>
            <a:ext cx="4069080" cy="274320"/>
          </a:xfrm>
          <a:prstGeom prst="rect">
            <a:avLst/>
          </a:prstGeom>
          <a:solidFill>
            <a:srgbClr val="C9A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AUXILIARY  ·  DEMOGRAPHICS + GEOMETRY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02152"/>
            <a:ext cx="379476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150" b="1" i="0">
                <a:solidFill>
                  <a:srgbClr val="1B4332"/>
                </a:solidFill>
                <a:latin typeface="Calibri"/>
              </a:rPr>
              <a:t>SingStat Census + URA Master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58184"/>
            <a:ext cx="379476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0" i="1">
                <a:solidFill>
                  <a:srgbClr val="6B7A7A"/>
                </a:solidFill>
                <a:latin typeface="Calibri"/>
              </a:rPr>
              <a:t>Census 2020  ·  URA Master Plan 2019 GeoJSON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995928"/>
            <a:ext cx="3794760" cy="7772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2D3A3A"/>
                </a:solidFill>
                <a:latin typeface="Calibri"/>
              </a:rPr>
              <a:t>•  Subzone-level population, age, comorbidity proxies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2D3A3A"/>
                </a:solidFill>
                <a:latin typeface="Calibri"/>
              </a:rPr>
              <a:t>•  Vulnerability index (% elderly + chronic) for tactical layer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2D3A3A"/>
                </a:solidFill>
                <a:latin typeface="Calibri"/>
              </a:rPr>
              <a:t>•  URA polygons → spatial join target for label derivation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3154680"/>
            <a:ext cx="40690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09160" y="3154680"/>
            <a:ext cx="4069080" cy="27432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LABEL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502152"/>
            <a:ext cx="379476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150" b="1" i="0">
                <a:solidFill>
                  <a:srgbClr val="1B4332"/>
                </a:solidFill>
                <a:latin typeface="Calibri"/>
              </a:rPr>
              <a:t>Spatial Join → Binary Label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758184"/>
            <a:ext cx="379476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0" i="1">
                <a:solidFill>
                  <a:srgbClr val="6B7A7A"/>
                </a:solidFill>
                <a:latin typeface="Calibri"/>
              </a:rPr>
              <a:t>Derived from anchor  ·  fully transparent process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995928"/>
            <a:ext cx="3794760" cy="7772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2D3A3A"/>
                </a:solidFill>
                <a:latin typeface="Calibri"/>
              </a:rPr>
              <a:t>•  URA subzones intersected with SGCharts cluster polygons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2D3A3A"/>
                </a:solidFill>
                <a:latin typeface="Calibri"/>
              </a:rPr>
              <a:t>•  Label = 1 if active cluster in subzone in next 14 days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2D3A3A"/>
                </a:solidFill>
                <a:latin typeface="Calibri"/>
              </a:rPr>
              <a:t>•  No synthetic data — every label traces to real cluster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36592"/>
            <a:ext cx="8412480" cy="347472"/>
          </a:xfrm>
          <a:prstGeom prst="rect">
            <a:avLst/>
          </a:prstGeom>
          <a:solidFill>
            <a:srgbClr val="B84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 simulated  confirmed_cases  event stream feeds the real-time path — Postgres INSERT triggers LISTEN/NOTIFY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365760" cy="32004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640080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900" b="0" i="0">
                <a:solidFill>
                  <a:srgbClr val="40916C"/>
                </a:solidFill>
                <a:latin typeface="Calibri"/>
              </a:rPr>
              <a:t>CS611 MLE — Group Project   |   Users &amp; System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82296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2600" b="1" i="0">
                <a:solidFill>
                  <a:srgbClr val="1B4332"/>
                </a:solidFill>
                <a:latin typeface="Georgia"/>
              </a:rPr>
              <a:t>Users and how they consume the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40690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73152" cy="169164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35607"/>
            <a:ext cx="374904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200" b="1" i="0">
                <a:solidFill>
                  <a:srgbClr val="1B4332"/>
                </a:solidFill>
                <a:latin typeface="Calibri"/>
              </a:rPr>
              <a:t>NEA Operations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91640"/>
            <a:ext cx="3749040" cy="20116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00" b="1" i="0">
                <a:solidFill>
                  <a:srgbClr val="1B4332"/>
                </a:solidFill>
                <a:latin typeface="Calibri"/>
              </a:rPr>
              <a:t>STRATEGIC LOOP  ·  PRIMARY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84248"/>
            <a:ext cx="82296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00" b="1" i="0">
                <a:solidFill>
                  <a:srgbClr val="6B7A7A"/>
                </a:solidFill>
                <a:latin typeface="Calibri"/>
              </a:rPr>
              <a:t>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984248"/>
            <a:ext cx="297180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900" b="0" i="0">
                <a:solidFill>
                  <a:srgbClr val="2D3A3A"/>
                </a:solidFill>
                <a:latin typeface="Calibri"/>
              </a:rPr>
              <a:t>Weekly — every Monday morning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313432"/>
            <a:ext cx="82296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00" b="1" i="0">
                <a:solidFill>
                  <a:srgbClr val="6B7A7A"/>
                </a:solidFill>
                <a:latin typeface="Calibri"/>
              </a:rPr>
              <a:t>Receives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313432"/>
            <a:ext cx="297180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900" b="0" i="0">
                <a:solidFill>
                  <a:srgbClr val="2D3A3A"/>
                </a:solidFill>
                <a:latin typeface="Calibri"/>
              </a:rPr>
              <a:t>Risk map: 330 subzones colour-coded Low/Med/High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642615"/>
            <a:ext cx="82296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00" b="1" i="0">
                <a:solidFill>
                  <a:srgbClr val="6B7A7A"/>
                </a:solidFill>
                <a:latin typeface="Calibri"/>
              </a:rPr>
              <a:t>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642615"/>
            <a:ext cx="297180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900" b="0" i="0">
                <a:solidFill>
                  <a:srgbClr val="2D3A3A"/>
                </a:solidFill>
                <a:latin typeface="Calibri"/>
              </a:rPr>
              <a:t>Pre-deploy fogging teams to High-risk subzones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1325880"/>
            <a:ext cx="40690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9160" y="1325880"/>
            <a:ext cx="73152" cy="169164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0328" y="1435607"/>
            <a:ext cx="374904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200" b="1" i="0">
                <a:solidFill>
                  <a:srgbClr val="1B4332"/>
                </a:solidFill>
                <a:latin typeface="Calibri"/>
              </a:rPr>
              <a:t>Pest Control Operators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1691640"/>
            <a:ext cx="3749040" cy="20116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00" b="1" i="0">
                <a:solidFill>
                  <a:srgbClr val="40916C"/>
                </a:solidFill>
                <a:latin typeface="Calibri"/>
              </a:rPr>
              <a:t>STRATEGIC LOOP  ·  SECONDARY 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1984248"/>
            <a:ext cx="82296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00" b="1" i="0">
                <a:solidFill>
                  <a:srgbClr val="6B7A7A"/>
                </a:solidFill>
                <a:latin typeface="Calibri"/>
              </a:rPr>
              <a:t>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1984248"/>
            <a:ext cx="297180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900" b="0" i="0">
                <a:solidFill>
                  <a:srgbClr val="2D3A3A"/>
                </a:solidFill>
                <a:latin typeface="Calibri"/>
              </a:rPr>
              <a:t>Weekly — before scheduling fogging rounds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2313432"/>
            <a:ext cx="82296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00" b="1" i="0">
                <a:solidFill>
                  <a:srgbClr val="6B7A7A"/>
                </a:solidFill>
                <a:latin typeface="Calibri"/>
              </a:rPr>
              <a:t>Receives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2313432"/>
            <a:ext cx="297180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900" b="0" i="0">
                <a:solidFill>
                  <a:srgbClr val="2D3A3A"/>
                </a:solidFill>
                <a:latin typeface="Calibri"/>
              </a:rPr>
              <a:t>Ranked list of high-risk subzones with confidence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0328" y="2642615"/>
            <a:ext cx="82296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00" b="1" i="0">
                <a:solidFill>
                  <a:srgbClr val="6B7A7A"/>
                </a:solidFill>
                <a:latin typeface="Calibri"/>
              </a:rPr>
              <a:t>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2642615"/>
            <a:ext cx="297180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900" b="0" i="0">
                <a:solidFill>
                  <a:srgbClr val="2D3A3A"/>
                </a:solidFill>
                <a:latin typeface="Calibri"/>
              </a:rPr>
              <a:t>Prioritise contracts, allocate crews to predicted hotspots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108960"/>
            <a:ext cx="40690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108960"/>
            <a:ext cx="73152" cy="1691640"/>
          </a:xfrm>
          <a:prstGeom prst="rect">
            <a:avLst/>
          </a:prstGeom>
          <a:solidFill>
            <a:srgbClr val="B84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218688"/>
            <a:ext cx="374904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200" b="1" i="0">
                <a:solidFill>
                  <a:srgbClr val="1B4332"/>
                </a:solidFill>
                <a:latin typeface="Calibri"/>
              </a:rPr>
              <a:t>CDC Officer at MOH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474720"/>
            <a:ext cx="3749040" cy="20116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00" b="1" i="0">
                <a:solidFill>
                  <a:srgbClr val="B84B3C"/>
                </a:solidFill>
                <a:latin typeface="Calibri"/>
              </a:rPr>
              <a:t>TACTICAL LOOP  ·  NEW USER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767328"/>
            <a:ext cx="82296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00" b="1" i="0">
                <a:solidFill>
                  <a:srgbClr val="6B7A7A"/>
                </a:solidFill>
                <a:latin typeface="Calibri"/>
              </a:rPr>
              <a:t>When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3767328"/>
            <a:ext cx="297180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900" b="0" i="0">
                <a:solidFill>
                  <a:srgbClr val="2D3A3A"/>
                </a:solidFill>
                <a:latin typeface="Calibri"/>
              </a:rPr>
              <a:t>Event-driven — per confirmed case notification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096512"/>
            <a:ext cx="82296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00" b="1" i="0">
                <a:solidFill>
                  <a:srgbClr val="6B7A7A"/>
                </a:solidFill>
                <a:latin typeface="Calibri"/>
              </a:rPr>
              <a:t>Receives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4096512"/>
            <a:ext cx="297180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900" b="0" i="0">
                <a:solidFill>
                  <a:srgbClr val="2D3A3A"/>
                </a:solidFill>
                <a:latin typeface="Calibri"/>
              </a:rPr>
              <a:t>Real-time alert: score, vulnerability features, 200m radius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425696"/>
            <a:ext cx="82296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00" b="1" i="0">
                <a:solidFill>
                  <a:srgbClr val="6B7A7A"/>
                </a:solidFill>
                <a:latin typeface="Calibri"/>
              </a:rPr>
              <a:t>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4425696"/>
            <a:ext cx="297180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900" b="0" i="0">
                <a:solidFill>
                  <a:srgbClr val="2D3A3A"/>
                </a:solidFill>
                <a:latin typeface="Calibri"/>
              </a:rPr>
              <a:t>Triage: home visit, advisory, testing van dispatch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09160" y="3108960"/>
            <a:ext cx="40690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09160" y="3108960"/>
            <a:ext cx="73152" cy="1691640"/>
          </a:xfrm>
          <a:prstGeom prst="rect">
            <a:avLst/>
          </a:prstGeom>
          <a:solidFill>
            <a:srgbClr val="C9A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10328" y="3218688"/>
            <a:ext cx="374904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200" b="1" i="0">
                <a:solidFill>
                  <a:srgbClr val="1B4332"/>
                </a:solidFill>
                <a:latin typeface="Calibri"/>
              </a:rPr>
              <a:t>Internal Data / Ops 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10328" y="3474720"/>
            <a:ext cx="3749040" cy="20116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00" b="1" i="0">
                <a:solidFill>
                  <a:srgbClr val="C9A146"/>
                </a:solidFill>
                <a:latin typeface="Calibri"/>
              </a:rPr>
              <a:t>INTERNAL  ·  TOOLING 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10328" y="3767328"/>
            <a:ext cx="82296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00" b="1" i="0">
                <a:solidFill>
                  <a:srgbClr val="6B7A7A"/>
                </a:solidFill>
                <a:latin typeface="Calibri"/>
              </a:rPr>
              <a:t>When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3767328"/>
            <a:ext cx="297180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900" b="0" i="0">
                <a:solidFill>
                  <a:srgbClr val="2D3A3A"/>
                </a:solidFill>
                <a:latin typeface="Calibri"/>
              </a:rPr>
              <a:t>Ongoing — weekly monitoring + drift alerts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10328" y="4096512"/>
            <a:ext cx="82296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00" b="1" i="0">
                <a:solidFill>
                  <a:srgbClr val="6B7A7A"/>
                </a:solidFill>
                <a:latin typeface="Calibri"/>
              </a:rPr>
              <a:t>Receives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4096512"/>
            <a:ext cx="297180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900" b="0" i="0">
                <a:solidFill>
                  <a:srgbClr val="2D3A3A"/>
                </a:solidFill>
                <a:latin typeface="Calibri"/>
              </a:rPr>
              <a:t>Model performance dashboard: precision, recall, drift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10328" y="4425696"/>
            <a:ext cx="82296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00" b="1" i="0">
                <a:solidFill>
                  <a:srgbClr val="6B7A7A"/>
                </a:solidFill>
                <a:latin typeface="Calibri"/>
              </a:rPr>
              <a:t>Action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4425696"/>
            <a:ext cx="297180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900" b="0" i="0">
                <a:solidFill>
                  <a:srgbClr val="2D3A3A"/>
                </a:solidFill>
                <a:latin typeface="Calibri"/>
              </a:rPr>
              <a:t>Review pipeline health; trigger retraining when Gini drops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365760" cy="32004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640080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900" b="0" i="0">
                <a:solidFill>
                  <a:srgbClr val="40916C"/>
                </a:solidFill>
                <a:latin typeface="Calibri"/>
              </a:rPr>
              <a:t>CS611 MLE — Group Project   |   Architecture — Macro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82296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2600" b="1" i="0">
                <a:solidFill>
                  <a:srgbClr val="1B4332"/>
                </a:solidFill>
                <a:latin typeface="Georgia"/>
              </a:rPr>
              <a:t>One model, two inference loops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000" b="0" i="1">
                <a:solidFill>
                  <a:srgbClr val="4A5A5A"/>
                </a:solidFill>
                <a:latin typeface="Calibri"/>
              </a:rPr>
              <a:t>Shared predictive logic; different feature freshness, different decision thresholds, different downstream actions.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2286000" cy="274320"/>
          </a:xfrm>
          <a:prstGeom prst="rect">
            <a:avLst/>
          </a:prstGeom>
          <a:solidFill>
            <a:srgbClr val="6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WE KNOW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691640"/>
            <a:ext cx="2468880" cy="27432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WE PREDICT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691640"/>
            <a:ext cx="3291840" cy="27432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WE 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21031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2103120" cy="41148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/>
            <a:r>
              <a:rPr sz="950" b="1" i="0">
                <a:solidFill>
                  <a:srgbClr val="1B4332"/>
                </a:solidFill>
                <a:latin typeface="Calibri"/>
              </a:rPr>
              <a:t>Cluster history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33472"/>
            <a:ext cx="21031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33472"/>
            <a:ext cx="2103120" cy="41148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/>
            <a:r>
              <a:rPr sz="950" b="1" i="0">
                <a:solidFill>
                  <a:srgbClr val="1B4332"/>
                </a:solidFill>
                <a:latin typeface="Calibri"/>
              </a:rPr>
              <a:t>Weather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18104"/>
            <a:ext cx="21031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18104"/>
            <a:ext cx="2103120" cy="41148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/>
            <a:r>
              <a:rPr sz="950" b="1" i="0">
                <a:solidFill>
                  <a:srgbClr val="1B4332"/>
                </a:solidFill>
                <a:latin typeface="Calibri"/>
              </a:rPr>
              <a:t>Demographics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02736"/>
            <a:ext cx="21031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02736"/>
            <a:ext cx="2103120" cy="41148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/>
            <a:r>
              <a:rPr sz="950" b="1" i="0">
                <a:solidFill>
                  <a:srgbClr val="1B4332"/>
                </a:solidFill>
                <a:latin typeface="Calibri"/>
              </a:rPr>
              <a:t>Geography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87368"/>
            <a:ext cx="2103120" cy="411480"/>
          </a:xfrm>
          <a:prstGeom prst="rect">
            <a:avLst/>
          </a:prstGeom>
          <a:solidFill>
            <a:srgbClr val="E8C8C0"/>
          </a:solidFill>
          <a:ln w="9525">
            <a:solidFill>
              <a:srgbClr val="B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87368"/>
            <a:ext cx="2103120" cy="41148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/>
            <a:r>
              <a:rPr sz="950" b="1" i="0">
                <a:solidFill>
                  <a:srgbClr val="B84B3C"/>
                </a:solidFill>
                <a:latin typeface="Calibri"/>
              </a:rPr>
              <a:t>Confirmed cases  (live stream)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240280"/>
            <a:ext cx="246888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900" b="0" i="1">
                <a:solidFill>
                  <a:srgbClr val="6B7A7A"/>
                </a:solidFill>
                <a:latin typeface="Calibri"/>
              </a:rPr>
              <a:t>Feature engineering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2697480"/>
            <a:ext cx="2286000" cy="1280160"/>
          </a:xfrm>
          <a:prstGeom prst="round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Cluster Formation Model</a:t>
            </a:r>
          </a:p>
          <a:p>
            <a:pPr algn="l"/>
            <a:r>
              <a:rPr sz="600" b="0" i="0">
                <a:solidFill>
                  <a:srgbClr val="2D3A3A"/>
                </a:solidFill>
                <a:latin typeface="Calibri"/>
              </a:rPr>
              <a:t/>
            </a:r>
          </a:p>
          <a:p>
            <a:pPr algn="ctr"/>
            <a:r>
              <a:rPr sz="900" b="0" i="1">
                <a:solidFill>
                  <a:srgbClr val="95D5B2"/>
                </a:solidFill>
                <a:latin typeface="Calibri"/>
              </a:rPr>
              <a:t>P(active cluster in subzone S</a:t>
            </a:r>
          </a:p>
          <a:p>
            <a:pPr algn="ctr"/>
            <a:r>
              <a:rPr sz="900" b="0" i="1">
                <a:solidFill>
                  <a:srgbClr val="95D5B2"/>
                </a:solidFill>
                <a:latin typeface="Calibri"/>
              </a:rPr>
              <a:t>over next 14 days)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023360"/>
            <a:ext cx="2468880" cy="4114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900" b="1" i="0">
                <a:solidFill>
                  <a:srgbClr val="1B4332"/>
                </a:solidFill>
                <a:latin typeface="Calibri"/>
              </a:rPr>
              <a:t>One trained artifact —</a:t>
            </a:r>
          </a:p>
          <a:p>
            <a:pPr algn="ctr"/>
            <a:r>
              <a:rPr sz="900" b="1" i="0">
                <a:solidFill>
                  <a:srgbClr val="1B4332"/>
                </a:solidFill>
                <a:latin typeface="Calibri"/>
              </a:rPr>
              <a:t>served two ways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2194560"/>
            <a:ext cx="3154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2267712"/>
            <a:ext cx="288036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1" i="0">
                <a:solidFill>
                  <a:srgbClr val="1B4332"/>
                </a:solidFill>
                <a:latin typeface="Calibri"/>
              </a:rPr>
              <a:t>STRATEGIC LOOP   ·   WEEKLY BATCH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2487168"/>
            <a:ext cx="288036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150" b="1" i="0">
                <a:solidFill>
                  <a:srgbClr val="1B4332"/>
                </a:solidFill>
                <a:latin typeface="Calibri"/>
              </a:rPr>
              <a:t>Risk map → fogging deployment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2816352"/>
            <a:ext cx="288036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950" b="0" i="0">
                <a:solidFill>
                  <a:srgbClr val="4A5A5A"/>
                </a:solidFill>
                <a:latin typeface="Calibri"/>
              </a:rPr>
              <a:t>→ NEA Ops + Pest Control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77840" y="3429000"/>
            <a:ext cx="3154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5000" y="3502152"/>
            <a:ext cx="288036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1" i="0">
                <a:solidFill>
                  <a:srgbClr val="B84B3C"/>
                </a:solidFill>
                <a:latin typeface="Calibri"/>
              </a:rPr>
              <a:t>TACTICAL LOOP   ·   EVENT-DRIVEN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3721608"/>
            <a:ext cx="288036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150" b="1" i="0">
                <a:solidFill>
                  <a:srgbClr val="B84B3C"/>
                </a:solidFill>
                <a:latin typeface="Calibri"/>
              </a:rPr>
              <a:t>Per-case alert → clinical triage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4050791"/>
            <a:ext cx="288036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950" b="0" i="0">
                <a:solidFill>
                  <a:srgbClr val="4A5A5A"/>
                </a:solidFill>
                <a:latin typeface="Calibri"/>
              </a:rPr>
              <a:t>→ CDC Officer at MOH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560320" y="3337560"/>
            <a:ext cx="365760" cy="0"/>
          </a:xfrm>
          <a:prstGeom prst="line">
            <a:avLst/>
          </a:prstGeom>
          <a:ln w="19050">
            <a:solidFill>
              <a:srgbClr val="40916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212080" y="2697480"/>
            <a:ext cx="365760" cy="411480"/>
          </a:xfrm>
          <a:prstGeom prst="line">
            <a:avLst/>
          </a:prstGeom>
          <a:ln w="19050">
            <a:solidFill>
              <a:srgbClr val="1B433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212080" y="3566160"/>
            <a:ext cx="365760" cy="365760"/>
          </a:xfrm>
          <a:prstGeom prst="line">
            <a:avLst/>
          </a:prstGeom>
          <a:ln w="19050">
            <a:solidFill>
              <a:srgbClr val="B84B3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 i="1">
                <a:solidFill>
                  <a:srgbClr val="FFFFFF"/>
                </a:solidFill>
                <a:latin typeface="Calibri"/>
              </a:rPr>
              <a:t>Same predictive logic. Different freshness contracts. Different thresholds. Different 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37160"/>
            <a:ext cx="2240280" cy="32004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PROCESS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8880" y="137160"/>
            <a:ext cx="1828800" cy="32004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DEVELOP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37160"/>
            <a:ext cx="3337560" cy="32004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6679" y="137160"/>
            <a:ext cx="1280160" cy="32004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MONITOR &amp; RETRAIN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892040"/>
            <a:ext cx="219456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/>
            <a:r>
              <a:rPr sz="1000" b="0" i="1">
                <a:solidFill>
                  <a:srgbClr val="95D5B2"/>
                </a:solidFill>
                <a:latin typeface="Georgia"/>
              </a:rPr>
              <a:t>Architecture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4892040"/>
            <a:ext cx="548640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00" b="0" i="0">
                <a:solidFill>
                  <a:srgbClr val="95D5B2"/>
                </a:solidFill>
                <a:latin typeface="Calibri"/>
              </a:rPr>
              <a:t>CS611 MLE — Group Project   |   05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40080"/>
            <a:ext cx="2240280" cy="777240"/>
          </a:xfrm>
          <a:prstGeom prst="rect">
            <a:avLst/>
          </a:prstGeom>
          <a:solidFill>
            <a:srgbClr val="2D6A4F"/>
          </a:solidFill>
          <a:ln w="6350">
            <a:solidFill>
              <a:srgbClr val="95D5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8368"/>
            <a:ext cx="2148840" cy="20116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750" b="1" i="0">
                <a:solidFill>
                  <a:srgbClr val="95D5B2"/>
                </a:solidFill>
                <a:latin typeface="Calibri"/>
              </a:rPr>
              <a:t>DATA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868680"/>
            <a:ext cx="98298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SGCharts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3020" y="868680"/>
            <a:ext cx="98298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MSS Weather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124712"/>
            <a:ext cx="98298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SingStat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3020" y="1124712"/>
            <a:ext cx="98298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URA GeoJSON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554480"/>
            <a:ext cx="2240280" cy="50292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581912"/>
            <a:ext cx="2057400" cy="20116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BRONZE  ·  Raw Ingest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1773936"/>
            <a:ext cx="205740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700" b="0" i="1">
                <a:solidFill>
                  <a:srgbClr val="FFFFFF"/>
                </a:solidFill>
                <a:latin typeface="Calibri"/>
              </a:rPr>
              <a:t>raw_clusters · raw_weather · raw_population  (Postgres)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48840"/>
            <a:ext cx="2240280" cy="502920"/>
          </a:xfrm>
          <a:prstGeom prst="rect">
            <a:avLst/>
          </a:prstGeom>
          <a:solidFill>
            <a:srgbClr val="8E99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176272"/>
            <a:ext cx="2057400" cy="20116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SILVER  ·  Cleaned + Joined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368296"/>
            <a:ext cx="205740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700" b="0" i="1">
                <a:solidFill>
                  <a:srgbClr val="FFFFFF"/>
                </a:solidFill>
                <a:latin typeface="Calibri"/>
              </a:rPr>
              <a:t>schema enforced · nulls handled · joined on date+subzone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743200"/>
            <a:ext cx="2240280" cy="502920"/>
          </a:xfrm>
          <a:prstGeom prst="rect">
            <a:avLst/>
          </a:prstGeom>
          <a:solidFill>
            <a:srgbClr val="C9A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770632"/>
            <a:ext cx="2057400" cy="20116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GOLD  ·  Offline Feature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2962656"/>
            <a:ext cx="205740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700" b="0" i="1">
                <a:solidFill>
                  <a:srgbClr val="FFFFFF"/>
                </a:solidFill>
                <a:latin typeface="Calibri"/>
              </a:rPr>
              <a:t>lag features · spatial joins · ML-ready (Postgres + Parquet)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3383280"/>
            <a:ext cx="2240280" cy="548640"/>
          </a:xfrm>
          <a:prstGeom prst="rect">
            <a:avLst/>
          </a:prstGeom>
          <a:solidFill>
            <a:srgbClr val="B84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410712"/>
            <a:ext cx="2057400" cy="20116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ONLINE STORE  ·  Redis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611880"/>
            <a:ext cx="205740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700" b="0" i="1">
                <a:solidFill>
                  <a:srgbClr val="FFFFFF"/>
                </a:solidFill>
                <a:latin typeface="Calibri"/>
              </a:rPr>
              <a:t>current_week_case_count · vulnerability_index</a:t>
            </a:r>
          </a:p>
          <a:p>
            <a:pPr algn="l"/>
            <a:r>
              <a:rPr sz="700" b="0" i="1">
                <a:solidFill>
                  <a:srgbClr val="E8C8C0"/>
                </a:solidFill>
                <a:latin typeface="Calibri"/>
              </a:rPr>
              <a:t>sub-ms row reads for real-time path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" y="4023360"/>
            <a:ext cx="224028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750" b="0" i="1">
                <a:solidFill>
                  <a:srgbClr val="95D5B2"/>
                </a:solidFill>
                <a:latin typeface="Calibri"/>
              </a:rPr>
              <a:t>⚙  Airflow — weekly ingest · preprocess · feature build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640080"/>
            <a:ext cx="1828800" cy="1280160"/>
          </a:xfrm>
          <a:prstGeom prst="rect">
            <a:avLst/>
          </a:prstGeom>
          <a:solidFill>
            <a:srgbClr val="2D6A4F"/>
          </a:solidFill>
          <a:ln w="6350">
            <a:solidFill>
              <a:srgbClr val="95D5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667512"/>
            <a:ext cx="164592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1" i="0">
                <a:solidFill>
                  <a:srgbClr val="95D5B2"/>
                </a:solidFill>
                <a:latin typeface="Calibri"/>
              </a:rPr>
              <a:t>TRAIN &amp; TUNE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78608" y="886968"/>
            <a:ext cx="1609344" cy="19202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• XGBoost + LightGBM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8608" y="1078992"/>
            <a:ext cx="1609344" cy="19202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• Optuna HPT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78608" y="1271016"/>
            <a:ext cx="1609344" cy="19202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• 5-fold time-series CV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78608" y="1463040"/>
            <a:ext cx="1609344" cy="19202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• SMOTE class balance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78608" y="1655064"/>
            <a:ext cx="1609344" cy="19202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• MLflow tracking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0" y="2011680"/>
            <a:ext cx="1828800" cy="1097280"/>
          </a:xfrm>
          <a:prstGeom prst="rect">
            <a:avLst/>
          </a:prstGeom>
          <a:solidFill>
            <a:srgbClr val="2D6A4F"/>
          </a:solidFill>
          <a:ln w="6350">
            <a:solidFill>
              <a:srgbClr val="95D5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0" y="2039112"/>
            <a:ext cx="164592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1" i="0">
                <a:solidFill>
                  <a:srgbClr val="95D5B2"/>
                </a:solidFill>
                <a:latin typeface="Calibri"/>
              </a:rPr>
              <a:t>EVALUATE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78608" y="2258568"/>
            <a:ext cx="1609344" cy="19202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• Precision / Recall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78608" y="2450592"/>
            <a:ext cx="1609344" cy="19202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• SHAP interpretability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78608" y="2642616"/>
            <a:ext cx="1609344" cy="19202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• Spatial accuracy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78608" y="2834640"/>
            <a:ext cx="1609344" cy="19202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• Promotion gate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68880" y="3200400"/>
            <a:ext cx="1828800" cy="777240"/>
          </a:xfrm>
          <a:prstGeom prst="rect">
            <a:avLst/>
          </a:prstGeom>
          <a:solidFill>
            <a:srgbClr val="C9A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0" y="3246120"/>
            <a:ext cx="164592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MODEL REGISTRY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3502152"/>
            <a:ext cx="1645920" cy="4114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MLflow</a:t>
            </a:r>
          </a:p>
          <a:p>
            <a:pPr algn="ctr"/>
            <a:r>
              <a:rPr sz="750" b="0" i="1">
                <a:solidFill>
                  <a:srgbClr val="FFFFFF"/>
                </a:solidFill>
                <a:latin typeface="Calibri"/>
              </a:rPr>
              <a:t>one artifact, two paths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0" y="640080"/>
            <a:ext cx="3337560" cy="1691640"/>
          </a:xfrm>
          <a:prstGeom prst="rect">
            <a:avLst/>
          </a:prstGeom>
          <a:noFill/>
          <a:ln w="12700">
            <a:solidFill>
              <a:srgbClr val="95D5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640080"/>
            <a:ext cx="3337560" cy="256032"/>
          </a:xfrm>
          <a:prstGeom prst="rect">
            <a:avLst/>
          </a:prstGeom>
          <a:solidFill>
            <a:srgbClr val="95D5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1" i="0">
                <a:solidFill>
                  <a:srgbClr val="1B4332"/>
                </a:solidFill>
                <a:latin typeface="Calibri"/>
              </a:rPr>
              <a:t>BATCH PATH  ·  weekly, scheduled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11980" y="960119"/>
            <a:ext cx="75438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48556" y="996695"/>
            <a:ext cx="681228" cy="52120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/>
            <a:r>
              <a:rPr sz="750" b="1" i="0">
                <a:solidFill>
                  <a:srgbClr val="1B4332"/>
                </a:solidFill>
                <a:latin typeface="Calibri"/>
              </a:rPr>
              <a:t>Airflow trigger</a:t>
            </a:r>
          </a:p>
          <a:p>
            <a:pPr algn="ctr"/>
            <a:r>
              <a:rPr sz="650" b="0" i="1">
                <a:solidFill>
                  <a:srgbClr val="6B7A7A"/>
                </a:solidFill>
                <a:latin typeface="Calibri"/>
              </a:rPr>
              <a:t>Mon 06:00 SGT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166360" y="1252728"/>
            <a:ext cx="64008" cy="0"/>
          </a:xfrm>
          <a:prstGeom prst="line">
            <a:avLst/>
          </a:prstGeom>
          <a:ln w="15240">
            <a:solidFill>
              <a:srgbClr val="95D5B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230368" y="960119"/>
            <a:ext cx="75438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66944" y="996695"/>
            <a:ext cx="681228" cy="52120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/>
            <a:r>
              <a:rPr sz="750" b="1" i="0">
                <a:solidFill>
                  <a:srgbClr val="1B4332"/>
                </a:solidFill>
                <a:latin typeface="Calibri"/>
              </a:rPr>
              <a:t>Score 330 subzones</a:t>
            </a:r>
          </a:p>
          <a:p>
            <a:pPr algn="ctr"/>
            <a:r>
              <a:rPr sz="650" b="0" i="1">
                <a:solidFill>
                  <a:srgbClr val="6B7A7A"/>
                </a:solidFill>
                <a:latin typeface="Calibri"/>
              </a:rPr>
              <a:t>batch inference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984748" y="1252728"/>
            <a:ext cx="64008" cy="0"/>
          </a:xfrm>
          <a:prstGeom prst="line">
            <a:avLst/>
          </a:prstGeom>
          <a:ln w="15240">
            <a:solidFill>
              <a:srgbClr val="95D5B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048756" y="960119"/>
            <a:ext cx="75438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85332" y="996695"/>
            <a:ext cx="681228" cy="52120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/>
            <a:r>
              <a:rPr sz="750" b="1" i="0">
                <a:solidFill>
                  <a:srgbClr val="1B4332"/>
                </a:solidFill>
                <a:latin typeface="Calibri"/>
              </a:rPr>
              <a:t>risk_tier table</a:t>
            </a:r>
          </a:p>
          <a:p>
            <a:pPr algn="ctr"/>
            <a:r>
              <a:rPr sz="650" b="0" i="1">
                <a:solidFill>
                  <a:srgbClr val="6B7A7A"/>
                </a:solidFill>
                <a:latin typeface="Calibri"/>
              </a:rPr>
              <a:t>Postgres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803136" y="1252728"/>
            <a:ext cx="64008" cy="0"/>
          </a:xfrm>
          <a:prstGeom prst="line">
            <a:avLst/>
          </a:prstGeom>
          <a:ln w="15240">
            <a:solidFill>
              <a:srgbClr val="95D5B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6867144" y="960119"/>
            <a:ext cx="75438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03720" y="996695"/>
            <a:ext cx="681228" cy="52120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/>
            <a:r>
              <a:rPr sz="750" b="1" i="0">
                <a:solidFill>
                  <a:srgbClr val="1B4332"/>
                </a:solidFill>
                <a:latin typeface="Calibri"/>
              </a:rPr>
              <a:t>NEA Dashboard</a:t>
            </a:r>
          </a:p>
          <a:p>
            <a:pPr algn="ctr"/>
            <a:r>
              <a:rPr sz="650" b="0" i="1">
                <a:solidFill>
                  <a:srgbClr val="6B7A7A"/>
                </a:solidFill>
                <a:latin typeface="Calibri"/>
              </a:rPr>
              <a:t>fogging map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11980" y="1645920"/>
            <a:ext cx="320040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700" b="0" i="1">
                <a:solidFill>
                  <a:srgbClr val="95D5B2"/>
                </a:solidFill>
                <a:latin typeface="Calibri"/>
              </a:rPr>
              <a:t>Reads offline features from Gold  ·  pulls model from registry  ·  writes weekly risk tiers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43400" y="2423160"/>
            <a:ext cx="3337560" cy="1920240"/>
          </a:xfrm>
          <a:prstGeom prst="rect">
            <a:avLst/>
          </a:prstGeom>
          <a:noFill/>
          <a:ln w="12700">
            <a:solidFill>
              <a:srgbClr val="B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43400" y="2423160"/>
            <a:ext cx="3337560" cy="256032"/>
          </a:xfrm>
          <a:prstGeom prst="rect">
            <a:avLst/>
          </a:prstGeom>
          <a:solidFill>
            <a:srgbClr val="B84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REAL-TIME PATH  ·  event-driven, sub-second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411980" y="2743200"/>
            <a:ext cx="496824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48556" y="2779776"/>
            <a:ext cx="423672" cy="56692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/>
            <a:r>
              <a:rPr sz="750" b="1" i="0">
                <a:solidFill>
                  <a:srgbClr val="B84B3C"/>
                </a:solidFill>
                <a:latin typeface="Calibri"/>
              </a:rPr>
              <a:t>Case INSERT</a:t>
            </a:r>
          </a:p>
          <a:p>
            <a:pPr algn="ctr"/>
            <a:r>
              <a:rPr sz="650" b="0" i="1">
                <a:solidFill>
                  <a:srgbClr val="6B7A7A"/>
                </a:solidFill>
                <a:latin typeface="Calibri"/>
              </a:rPr>
              <a:t>to Postgres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908804" y="3063239"/>
            <a:ext cx="45720" cy="0"/>
          </a:xfrm>
          <a:prstGeom prst="line">
            <a:avLst/>
          </a:prstGeom>
          <a:ln w="15240">
            <a:solidFill>
              <a:srgbClr val="B84B3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4954524" y="2743200"/>
            <a:ext cx="496824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91100" y="2779776"/>
            <a:ext cx="423672" cy="56692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/>
            <a:r>
              <a:rPr sz="750" b="1" i="0">
                <a:solidFill>
                  <a:srgbClr val="B84B3C"/>
                </a:solidFill>
                <a:latin typeface="Calibri"/>
              </a:rPr>
              <a:t>LISTEN / NOTIFY</a:t>
            </a:r>
          </a:p>
          <a:p>
            <a:pPr algn="ctr"/>
            <a:r>
              <a:rPr sz="650" b="0" i="1">
                <a:solidFill>
                  <a:srgbClr val="6B7A7A"/>
                </a:solidFill>
                <a:latin typeface="Calibri"/>
              </a:rPr>
              <a:t>event trigger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451348" y="3063239"/>
            <a:ext cx="45720" cy="0"/>
          </a:xfrm>
          <a:prstGeom prst="line">
            <a:avLst/>
          </a:prstGeom>
          <a:ln w="15240">
            <a:solidFill>
              <a:srgbClr val="B84B3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5497068" y="2743200"/>
            <a:ext cx="496824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33644" y="2779776"/>
            <a:ext cx="423672" cy="56692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/>
            <a:r>
              <a:rPr sz="750" b="1" i="0">
                <a:solidFill>
                  <a:srgbClr val="B84B3C"/>
                </a:solidFill>
                <a:latin typeface="Calibri"/>
              </a:rPr>
              <a:t>Listener +
FastAPI</a:t>
            </a:r>
          </a:p>
          <a:p>
            <a:pPr algn="ctr"/>
            <a:r>
              <a:rPr sz="650" b="0" i="1">
                <a:solidFill>
                  <a:srgbClr val="6B7A7A"/>
                </a:solidFill>
                <a:latin typeface="Calibri"/>
              </a:rPr>
              <a:t>Docker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993892" y="3063239"/>
            <a:ext cx="45720" cy="0"/>
          </a:xfrm>
          <a:prstGeom prst="line">
            <a:avLst/>
          </a:prstGeom>
          <a:ln w="15240">
            <a:solidFill>
              <a:srgbClr val="B84B3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6039612" y="2743200"/>
            <a:ext cx="496824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076188" y="2779776"/>
            <a:ext cx="423672" cy="56692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/>
            <a:r>
              <a:rPr sz="750" b="1" i="0">
                <a:solidFill>
                  <a:srgbClr val="B84B3C"/>
                </a:solidFill>
                <a:latin typeface="Calibri"/>
              </a:rPr>
              <a:t>Score subzone</a:t>
            </a:r>
          </a:p>
          <a:p>
            <a:pPr algn="ctr"/>
            <a:r>
              <a:rPr sz="650" b="0" i="1">
                <a:solidFill>
                  <a:srgbClr val="6B7A7A"/>
                </a:solidFill>
                <a:latin typeface="Calibri"/>
              </a:rPr>
              <a:t>online features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536436" y="3063239"/>
            <a:ext cx="45720" cy="0"/>
          </a:xfrm>
          <a:prstGeom prst="line">
            <a:avLst/>
          </a:prstGeom>
          <a:ln w="15240">
            <a:solidFill>
              <a:srgbClr val="B84B3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6582156" y="2743200"/>
            <a:ext cx="496824" cy="640080"/>
          </a:xfrm>
          <a:prstGeom prst="roundRect">
            <a:avLst/>
          </a:prstGeom>
          <a:solidFill>
            <a:srgbClr val="E8C8C0"/>
          </a:solidFill>
          <a:ln w="6350">
            <a:solidFill>
              <a:srgbClr val="B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18732" y="2779776"/>
            <a:ext cx="423672" cy="56692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/>
            <a:r>
              <a:rPr sz="750" b="1" i="0">
                <a:solidFill>
                  <a:srgbClr val="B84B3C"/>
                </a:solidFill>
                <a:latin typeface="Calibri"/>
              </a:rPr>
              <a:t>Alert rule</a:t>
            </a:r>
          </a:p>
          <a:p>
            <a:pPr algn="ctr"/>
            <a:r>
              <a:rPr sz="650" b="0" i="1">
                <a:solidFill>
                  <a:srgbClr val="6B7A7A"/>
                </a:solidFill>
                <a:latin typeface="Calibri"/>
              </a:rPr>
              <a:t>rule layer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078980" y="3063239"/>
            <a:ext cx="45720" cy="0"/>
          </a:xfrm>
          <a:prstGeom prst="line">
            <a:avLst/>
          </a:prstGeom>
          <a:ln w="15240">
            <a:solidFill>
              <a:srgbClr val="B84B3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7124700" y="2743200"/>
            <a:ext cx="496824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61276" y="2779776"/>
            <a:ext cx="423672" cy="56692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/>
            <a:r>
              <a:rPr sz="750" b="1" i="0">
                <a:solidFill>
                  <a:srgbClr val="B84B3C"/>
                </a:solidFill>
                <a:latin typeface="Calibri"/>
              </a:rPr>
              <a:t>Alert written</a:t>
            </a:r>
          </a:p>
          <a:p>
            <a:pPr algn="ctr"/>
            <a:r>
              <a:rPr sz="650" b="0" i="1">
                <a:solidFill>
                  <a:srgbClr val="6B7A7A"/>
                </a:solidFill>
                <a:latin typeface="Calibri"/>
              </a:rPr>
              <a:t>→ CDC officer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11980" y="3474720"/>
            <a:ext cx="320040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700" b="0" i="1">
                <a:solidFill>
                  <a:srgbClr val="E8C8C0"/>
                </a:solidFill>
                <a:latin typeface="Calibri"/>
              </a:rPr>
              <a:t>Triggered by new case → reads Redis online features → same MLflow artifact → applies rule → alert written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11980" y="3794760"/>
            <a:ext cx="3200400" cy="4114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750" b="1" i="0">
                <a:solidFill>
                  <a:srgbClr val="B84B3C"/>
                </a:solidFill>
                <a:latin typeface="Calibri"/>
              </a:rPr>
              <a:t>end-to-end target: &lt; 500 ms  ·  alert rule is transparent business logic, not a 2nd model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26679" y="640080"/>
            <a:ext cx="1280160" cy="1005840"/>
          </a:xfrm>
          <a:prstGeom prst="rect">
            <a:avLst/>
          </a:prstGeom>
          <a:solidFill>
            <a:srgbClr val="2D6A4F"/>
          </a:solidFill>
          <a:ln w="6350">
            <a:solidFill>
              <a:srgbClr val="95D5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772400" y="667512"/>
            <a:ext cx="1188719" cy="20116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00" b="1" i="0">
                <a:solidFill>
                  <a:srgbClr val="95D5B2"/>
                </a:solidFill>
                <a:latin typeface="Calibri"/>
              </a:rPr>
              <a:t>MONITOR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99831" y="868680"/>
            <a:ext cx="1133856" cy="1828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• Precision/Recall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99831" y="1051560"/>
            <a:ext cx="1133856" cy="1828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• Feature drift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99831" y="1234440"/>
            <a:ext cx="1133856" cy="1828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• Concept drift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99831" y="1417320"/>
            <a:ext cx="1133856" cy="1828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• Lineage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726679" y="1737360"/>
            <a:ext cx="1280160" cy="457200"/>
          </a:xfrm>
          <a:prstGeom prst="rect">
            <a:avLst/>
          </a:prstGeom>
          <a:solidFill>
            <a:srgbClr val="B84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772400" y="1783080"/>
            <a:ext cx="1188719" cy="3840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DRIFT ALARM</a:t>
            </a:r>
          </a:p>
          <a:p>
            <a:pPr algn="ctr"/>
            <a:r>
              <a:rPr sz="650" b="0" i="1">
                <a:solidFill>
                  <a:srgbClr val="E8C8C0"/>
                </a:solidFill>
                <a:latin typeface="Calibri"/>
              </a:rPr>
              <a:t>serotype / seasonal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726679" y="2286000"/>
            <a:ext cx="1280160" cy="457200"/>
          </a:xfrm>
          <a:prstGeom prst="rect">
            <a:avLst/>
          </a:prstGeom>
          <a:solidFill>
            <a:srgbClr val="C9A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772400" y="2331720"/>
            <a:ext cx="1188719" cy="3840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RETRAIN</a:t>
            </a:r>
          </a:p>
          <a:p>
            <a:pPr algn="ctr"/>
            <a:r>
              <a:rPr sz="650" b="0" i="1">
                <a:solidFill>
                  <a:srgbClr val="FFFFFF"/>
                </a:solidFill>
                <a:latin typeface="Calibri"/>
              </a:rPr>
              <a:t>Airflow DAG</a:t>
            </a:r>
          </a:p>
        </p:txBody>
      </p:sp>
      <p:cxnSp>
        <p:nvCxnSpPr>
          <p:cNvPr id="89" name="Connector 88"/>
          <p:cNvCxnSpPr/>
          <p:nvPr/>
        </p:nvCxnSpPr>
        <p:spPr>
          <a:xfrm flipH="1" flipV="1">
            <a:off x="4297680" y="1280160"/>
            <a:ext cx="3428999" cy="1234440"/>
          </a:xfrm>
          <a:prstGeom prst="line">
            <a:avLst/>
          </a:prstGeom>
          <a:ln w="12700">
            <a:solidFill>
              <a:srgbClr val="C9A14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2423160" y="1280160"/>
            <a:ext cx="45720" cy="1691640"/>
          </a:xfrm>
          <a:prstGeom prst="line">
            <a:avLst/>
          </a:prstGeom>
          <a:ln w="15240">
            <a:solidFill>
              <a:srgbClr val="C9A14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423160" y="1280160"/>
            <a:ext cx="1920240" cy="1691640"/>
          </a:xfrm>
          <a:prstGeom prst="line">
            <a:avLst/>
          </a:prstGeom>
          <a:ln w="15240">
            <a:solidFill>
              <a:srgbClr val="C9A14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423160" y="3246120"/>
            <a:ext cx="1920240" cy="411480"/>
          </a:xfrm>
          <a:prstGeom prst="line">
            <a:avLst/>
          </a:prstGeom>
          <a:ln w="19050">
            <a:solidFill>
              <a:srgbClr val="B84B3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4297680" y="1508760"/>
            <a:ext cx="45720" cy="2011680"/>
          </a:xfrm>
          <a:prstGeom prst="line">
            <a:avLst/>
          </a:prstGeom>
          <a:ln w="15240">
            <a:solidFill>
              <a:srgbClr val="C9A14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4297680" y="3337560"/>
            <a:ext cx="45720" cy="274320"/>
          </a:xfrm>
          <a:prstGeom prst="line">
            <a:avLst/>
          </a:prstGeom>
          <a:ln w="15240">
            <a:solidFill>
              <a:srgbClr val="C9A14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182880" y="4480560"/>
            <a:ext cx="8778240" cy="320040"/>
          </a:xfrm>
          <a:prstGeom prst="rect">
            <a:avLst/>
          </a:prstGeom>
          <a:solidFill>
            <a:srgbClr val="2D6A4F"/>
          </a:solidFill>
          <a:ln w="6350">
            <a:solidFill>
              <a:srgbClr val="95D5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28600" y="4498848"/>
            <a:ext cx="8686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900" b="1" i="0">
                <a:solidFill>
                  <a:srgbClr val="95D5B2"/>
                </a:solidFill>
                <a:latin typeface="Calibri"/>
              </a:rPr>
              <a:t>All components containerised via Docker + docker-compose   ·   runs fully locally   ·   no cloud spend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365760" cy="320040"/>
          </a:xfrm>
          <a:prstGeom prst="rect">
            <a:avLst/>
          </a:prstGeom>
          <a:solidFill>
            <a:srgbClr val="95D5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1B4332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640080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900" b="0" i="0">
                <a:solidFill>
                  <a:srgbClr val="95D5B2"/>
                </a:solidFill>
                <a:latin typeface="Calibri"/>
              </a:rPr>
              <a:t>CS611 MLE — Group Project   |   Design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82296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Design choices &amp; what we decided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4069080" cy="310896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DESIGN CHOICES   ·   RATIONALE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9160" y="1417320"/>
            <a:ext cx="4069080" cy="310896"/>
          </a:xfrm>
          <a:prstGeom prst="rect">
            <a:avLst/>
          </a:prstGeom>
          <a:solidFill>
            <a:srgbClr val="C9A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WHAT WE DECIDED SINCE PROPOSAL DRAFT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54864" cy="676656"/>
          </a:xfrm>
          <a:prstGeom prst="rect">
            <a:avLst/>
          </a:prstGeom>
          <a:solidFill>
            <a:srgbClr val="95D5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828800"/>
            <a:ext cx="384048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Two-layer by design — batch + real-time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103120"/>
            <a:ext cx="3840480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0" i="0">
                <a:solidFill>
                  <a:srgbClr val="95D5B2"/>
                </a:solidFill>
                <a:latin typeface="Calibri"/>
              </a:rPr>
              <a:t>Different operational loops, different cost functions. Same trained model, two inference paths.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42032"/>
            <a:ext cx="54864" cy="676656"/>
          </a:xfrm>
          <a:prstGeom prst="rect">
            <a:avLst/>
          </a:prstGeom>
          <a:solidFill>
            <a:srgbClr val="95D5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542032"/>
            <a:ext cx="384048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XGBoost / LightGBM, not deep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816352"/>
            <a:ext cx="3840480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0" i="0">
                <a:solidFill>
                  <a:srgbClr val="95D5B2"/>
                </a:solidFill>
                <a:latin typeface="Calibri"/>
              </a:rPr>
              <a:t>Tabular spatial+temporal data. Interpretable via SHAP. Trains in minutes locally.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55264"/>
            <a:ext cx="54864" cy="676656"/>
          </a:xfrm>
          <a:prstGeom prst="rect">
            <a:avLst/>
          </a:prstGeom>
          <a:solidFill>
            <a:srgbClr val="95D5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255264"/>
            <a:ext cx="384048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Time-series sliding-window CV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529584"/>
            <a:ext cx="3840480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0" i="0">
                <a:solidFill>
                  <a:srgbClr val="95D5B2"/>
                </a:solidFill>
                <a:latin typeface="Calibri"/>
              </a:rPr>
              <a:t>Standard k-fold leaks future cluster data — temporal CV is the only valid choice.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68496"/>
            <a:ext cx="54864" cy="676656"/>
          </a:xfrm>
          <a:prstGeom prst="rect">
            <a:avLst/>
          </a:prstGeom>
          <a:solidFill>
            <a:srgbClr val="95D5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968496"/>
            <a:ext cx="384048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Recall ≥ 0.70 on High-risk 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4242816"/>
            <a:ext cx="3840480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0" i="0">
                <a:solidFill>
                  <a:srgbClr val="95D5B2"/>
                </a:solidFill>
                <a:latin typeface="Calibri"/>
              </a:rPr>
              <a:t>Asymmetric cost: false negative = missed outbreak. We optimise for the more expensive error.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1828800"/>
            <a:ext cx="4069080" cy="676656"/>
          </a:xfrm>
          <a:prstGeom prst="rect">
            <a:avLst/>
          </a:prstGeom>
          <a:noFill/>
          <a:ln w="9525">
            <a:solidFill>
              <a:srgbClr val="C9A1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1892807"/>
            <a:ext cx="27432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1400" b="1" i="0">
                <a:solidFill>
                  <a:srgbClr val="C9A146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1883664"/>
            <a:ext cx="365760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Training window: 2013–2020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2157984"/>
            <a:ext cx="3657600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0" i="0">
                <a:solidFill>
                  <a:srgbClr val="95D5B2"/>
                </a:solidFill>
                <a:latin typeface="Calibri"/>
              </a:rPr>
              <a:t>Use full SGCharts window. 2020 serotype shift (DENV-3, 35k+ cases) demonstrates concept drift in the report.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2542032"/>
            <a:ext cx="4069080" cy="676656"/>
          </a:xfrm>
          <a:prstGeom prst="rect">
            <a:avLst/>
          </a:prstGeom>
          <a:noFill/>
          <a:ln w="9525">
            <a:solidFill>
              <a:srgbClr val="C9A1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2606040"/>
            <a:ext cx="27432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1400" b="1" i="0">
                <a:solidFill>
                  <a:srgbClr val="C9A146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2596896"/>
            <a:ext cx="365760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Subzone granularity: 330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2871216"/>
            <a:ext cx="3657600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0" i="0">
                <a:solidFill>
                  <a:srgbClr val="95D5B2"/>
                </a:solidFill>
                <a:latin typeface="Calibri"/>
              </a:rPr>
              <a:t>Fine-grained for operational fogging. Planning areas (55) lose deployment precision.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60" y="3255264"/>
            <a:ext cx="4069080" cy="676656"/>
          </a:xfrm>
          <a:prstGeom prst="rect">
            <a:avLst/>
          </a:prstGeom>
          <a:noFill/>
          <a:ln w="9525">
            <a:solidFill>
              <a:srgbClr val="C9A1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3319272"/>
            <a:ext cx="27432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1400" b="1" i="0">
                <a:solidFill>
                  <a:srgbClr val="C9A146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310128"/>
            <a:ext cx="365760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Weather source: MSS, not NEA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3584448"/>
            <a:ext cx="3657600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0" i="0">
                <a:solidFill>
                  <a:srgbClr val="95D5B2"/>
                </a:solidFill>
                <a:latin typeface="Calibri"/>
              </a:rPr>
              <a:t>MSS station data extends usable window back to 2013. NEA API has Dec 2016 floor + 7-hr ingest.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3968496"/>
            <a:ext cx="4069080" cy="676656"/>
          </a:xfrm>
          <a:prstGeom prst="rect">
            <a:avLst/>
          </a:prstGeom>
          <a:noFill/>
          <a:ln w="9525">
            <a:solidFill>
              <a:srgbClr val="C9A1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4032504"/>
            <a:ext cx="27432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/>
            <a:r>
              <a:rPr sz="1400" b="1" i="0">
                <a:solidFill>
                  <a:srgbClr val="C9A146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4023359"/>
            <a:ext cx="365760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Real-time alert is a rule, not a 2nd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4297680"/>
            <a:ext cx="3657600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0" i="0">
                <a:solidFill>
                  <a:srgbClr val="95D5B2"/>
                </a:solidFill>
                <a:latin typeface="Calibri"/>
              </a:rPr>
              <a:t>No outcome-level labels exist publicly. Score × vulnerability × count threshold — transparent and honest.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/>
            <a:r>
              <a:rPr sz="850" b="0" i="0">
                <a:solidFill>
                  <a:srgbClr val="95D5B2"/>
                </a:solidFill>
                <a:latin typeface="Calibri"/>
              </a:rPr>
              <a:t>CS611 MLE — Group Project   |   Design Choices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