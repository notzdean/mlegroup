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notesSlides/_rels/notesSlide1.xml.rels><?xml version="1.0" encoding="UTF-8"?><Relationships xmlns="http://schemas.openxmlformats.org/package/2006/relationships"><Relationship Id="rId1"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en-US" dirty="0"/>
              <a:t>KEY MESSAGE / PURPOSE</a:t>
            </a:r>
          </a:p>
          <a:p>
            <a:r>
              <a:rPr lang="en-US" dirty="0"/>
              <a:t>Key message: Set the scene — this is a real operational problem, not a toy ML project. The 'one model, two loops' hook creates immediate intrigue.</a:t>
            </a:r>
          </a:p>
          <a:p>
            <a:endParaRPr lang="en-US" dirty="0"/>
          </a:p>
          <a:p>
            <a:r>
              <a:rPr lang="en-US" dirty="0"/>
              <a:t>---</a:t>
            </a:r>
          </a:p>
          <a:p>
            <a:endParaRPr lang="en-US" dirty="0"/>
          </a:p>
          <a:p>
            <a:r>
              <a:rPr lang="en-US" dirty="0"/>
              <a:t>SPEAKER SCRIPT</a:t>
            </a:r>
          </a:p>
          <a:p>
            <a:r>
              <a:rPr lang="en-US" dirty="0"/>
              <a:t>Good morning / afternoon everyone. Today we're presenting our group project proposal for CS611 MLE — a dengue outbreak risk prediction system for Singapore.</a:t>
            </a:r>
          </a:p>
          <a:p>
            <a:endParaRPr lang="en-US" dirty="0"/>
          </a:p>
          <a:p>
            <a:r>
              <a:rPr lang="en-US" dirty="0"/>
              <a:t>The core idea: we score all 330 subzones in Singapore for dengue cluster risk — and we do it using a single trained model that serves two completely different operational loops. We're calling this strategic batch plus tactical real-time inference, served from one model. We'll explain exactly what that means in a moment.</a:t>
            </a:r>
          </a:p>
          <a:p>
            <a:endParaRPr lang="en-US" dirty="0"/>
          </a:p>
          <a:p>
            <a:r>
              <a:rPr lang="en-US" dirty="0"/>
              <a:t>Our dataset spans 7 years of real cluster data, entirely from government open data sources — no synthetic labels.</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en-US" dirty="0"/>
              <a:t>KEY MESSAGE / PURPOSE</a:t>
            </a:r>
          </a:p>
          <a:p>
            <a:r>
              <a:rPr lang="en-US" dirty="0"/>
              <a:t>Key message: Justify the two-loop architecture from first principles. The audience should leave this slide understanding WHY one generic model would be the wrong answer — before we even show them the solution.</a:t>
            </a:r>
          </a:p>
          <a:p>
            <a:endParaRPr lang="en-US" dirty="0"/>
          </a:p>
          <a:p>
            <a:r>
              <a:rPr lang="en-US" dirty="0"/>
              <a:t>---</a:t>
            </a:r>
          </a:p>
          <a:p>
            <a:endParaRPr lang="en-US" dirty="0"/>
          </a:p>
          <a:p>
            <a:r>
              <a:rPr lang="en-US" dirty="0"/>
              <a:t>SPEAKER SCRIPT</a:t>
            </a:r>
          </a:p>
          <a:p>
            <a:r>
              <a:rPr lang="en-US" dirty="0"/>
              <a:t>So why two loops? Singapore's 2020 dengue outbreak — over 35,000 cases — exposed two very distinct operational problems that actually have different urgency and different consequences if you get them wrong.</a:t>
            </a:r>
          </a:p>
          <a:p>
            <a:endParaRPr lang="en-US" dirty="0"/>
          </a:p>
          <a:p>
            <a:r>
              <a:rPr lang="en-US" dirty="0"/>
              <a:t>The first is the strategic loop: every Monday morning, NEA operations teams need to answer — where should we deploy fogging crews next week? This is a weekly planning decision. If the model's prediction is off, you miss a fogging run. That's recoverable.</a:t>
            </a:r>
          </a:p>
          <a:p>
            <a:endParaRPr lang="en-US" dirty="0"/>
          </a:p>
          <a:p>
            <a:r>
              <a:rPr lang="en-US" dirty="0"/>
              <a:t>The second is the tactical loop: a CDC officer at MOH receives a confirmed case notification and needs to decide right now — does this resident need a home visit, an advisory, or a testing van? The latency tolerance here is sub-second. And if you're wrong, a vulnerable resident enters dengue's critical phase without intervention.</a:t>
            </a:r>
          </a:p>
          <a:p>
            <a:endParaRPr lang="en-US" dirty="0"/>
          </a:p>
          <a:p>
            <a:r>
              <a:rPr lang="en-US" dirty="0"/>
              <a:t>Our key design insight is this: these are two cost functions, two cadences — but they don't need two models. One trained artifact can serve both.</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en-US" dirty="0"/>
              <a:t>KEY MESSAGE / PURPOSE</a:t>
            </a:r>
          </a:p>
          <a:p>
            <a:r>
              <a:rPr lang="en-US" dirty="0"/>
              <a:t>Key message: Establish data credibility and transparency. Every label traces to a real cluster, every source is public, and our engineering choices — like using MSS over the NEA API — are deliberate and reasoned, not accidental.</a:t>
            </a:r>
          </a:p>
          <a:p>
            <a:endParaRPr lang="en-US" dirty="0"/>
          </a:p>
          <a:p>
            <a:r>
              <a:rPr lang="en-US" dirty="0"/>
              <a:t>---</a:t>
            </a:r>
          </a:p>
          <a:p>
            <a:endParaRPr lang="en-US" dirty="0"/>
          </a:p>
          <a:p>
            <a:r>
              <a:rPr lang="en-US" dirty="0"/>
              <a:t>SPEAKER SCRIPT</a:t>
            </a:r>
          </a:p>
          <a:p>
            <a:r>
              <a:rPr lang="en-US" dirty="0"/>
              <a:t>Let's talk about data. Our anchor dataset is SGCharts dengue cluster snapshots — over 250 bi-weekly snapshots from May 2013 to November 2020, with lat/long cluster boundaries and case counts. Critically, this includes the 2020 record outbreak, which we'll use as a concept drift event in our report.</a:t>
            </a:r>
          </a:p>
          <a:p>
            <a:endParaRPr lang="en-US" dirty="0"/>
          </a:p>
          <a:p>
            <a:r>
              <a:rPr lang="en-US" dirty="0"/>
              <a:t>We enrich this with three auxiliary sources. MSS Weather Station records give us daily rainfall, temperature, and humidity back to 2013 — we use this instead of the NEA real-time API because the API only goes back to late 2016. We build lag features at 1, 2, and 4 weeks to capture the mosquito incubation cycle.</a:t>
            </a:r>
          </a:p>
          <a:p>
            <a:endParaRPr lang="en-US" dirty="0"/>
          </a:p>
          <a:p>
            <a:r>
              <a:rPr lang="en-US" dirty="0"/>
              <a:t>SingStat Census and URA Master Plan data give us subzone-level demographics — population, age, and comorbidity proxies — which feed a vulnerability index for the tactical layer.</a:t>
            </a:r>
          </a:p>
          <a:p>
            <a:endParaRPr lang="en-US" dirty="0"/>
          </a:p>
          <a:p>
            <a:r>
              <a:rPr lang="en-US" dirty="0"/>
              <a:t>Our labels are derived transparently: we spatially join URA subzone polygons against the SGCharts cluster boundaries. A subzone gets label = 1 if an active cluster overlaps it in the next 14 days. Every label traces to a real cluster — no synthetic data.</a:t>
            </a:r>
          </a:p>
          <a:p>
            <a:endParaRPr lang="en-US" dirty="0"/>
          </a:p>
          <a:p>
            <a:r>
              <a:rPr lang="en-US" dirty="0"/>
              <a:t>And for the real-time path, we simulate a live confirmed_cases event stream using Postgres LISTEN/NOTIFY.</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en-US" dirty="0"/>
              <a:t>KEY MESSAGE / PURPOSE</a:t>
            </a:r>
          </a:p>
          <a:p>
            <a:r>
              <a:rPr lang="en-US" dirty="0"/>
              <a:t>Key message: Ground the system in concrete human actors and actions. This slide proves you've thought beyond model accuracy — you know WHO consumes outputs, WHEN, and WHAT they do with them. It also reinforces the batch/real-time distinction through a human lens rather than a technical one.</a:t>
            </a:r>
          </a:p>
          <a:p>
            <a:endParaRPr lang="en-US" dirty="0"/>
          </a:p>
          <a:p>
            <a:r>
              <a:rPr lang="en-US" dirty="0"/>
              <a:t>---</a:t>
            </a:r>
          </a:p>
          <a:p>
            <a:endParaRPr lang="en-US" dirty="0"/>
          </a:p>
          <a:p>
            <a:r>
              <a:rPr lang="en-US" dirty="0"/>
              <a:t>SPEAKER SCRIPT</a:t>
            </a:r>
          </a:p>
          <a:p>
            <a:r>
              <a:rPr lang="en-US" dirty="0"/>
              <a:t>Here's who actually uses this system and how.</a:t>
            </a:r>
          </a:p>
          <a:p>
            <a:endParaRPr lang="en-US" dirty="0"/>
          </a:p>
          <a:p>
            <a:r>
              <a:rPr lang="en-US" dirty="0"/>
              <a:t>NEA Ops is our primary strategic user — every Monday morning they receive a risk map of all 330 subzones colour-coded Low, Medium, or High. They use this to pre-deploy fogging teams.</a:t>
            </a:r>
          </a:p>
          <a:p>
            <a:endParaRPr lang="en-US" dirty="0"/>
          </a:p>
          <a:p>
            <a:r>
              <a:rPr lang="en-US" dirty="0"/>
              <a:t>Pest Control Operators are our secondary strategic user — they get a ranked list with confidence scores to prioritise their contracts.</a:t>
            </a:r>
          </a:p>
          <a:p>
            <a:endParaRPr lang="en-US" dirty="0"/>
          </a:p>
          <a:p>
            <a:r>
              <a:rPr lang="en-US" dirty="0"/>
              <a:t>The CDC Officer at MOH is our new tactical user — event-driven, per confirmed case. They receive a real-time alert with the subzone score, the vulnerability features, and a 200-metre radius summary.</a:t>
            </a:r>
          </a:p>
          <a:p>
            <a:endParaRPr lang="en-US" dirty="0"/>
          </a:p>
          <a:p>
            <a:r>
              <a:rPr lang="en-US" dirty="0"/>
              <a:t>And internally, our data/ops team gets a performance dashboard tracking precision, recall, and drift signals, with an automatic retraining trigger when the Gini coefficient drops.</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en-US" dirty="0"/>
              <a:t>KEY MESSAGE / PURPOSE</a:t>
            </a:r>
          </a:p>
          <a:p>
            <a:r>
              <a:rPr lang="en-US" dirty="0"/>
              <a:t>Key message: Give the audience the mental model before the detail. This slide is the 'one picture' that ties inputs to model to outputs together. The payoff is the repeated closer: same logic, different contracts — so the detail slide feels like a logical expansion, not a surprise.</a:t>
            </a:r>
          </a:p>
          <a:p>
            <a:endParaRPr lang="en-US" dirty="0"/>
          </a:p>
          <a:p>
            <a:r>
              <a:rPr lang="en-US" dirty="0"/>
              <a:t>---</a:t>
            </a:r>
          </a:p>
          <a:p>
            <a:endParaRPr lang="en-US" dirty="0"/>
          </a:p>
          <a:p>
            <a:r>
              <a:rPr lang="en-US" dirty="0"/>
              <a:t>SPEAKER SCRIPT</a:t>
            </a:r>
          </a:p>
          <a:p>
            <a:r>
              <a:rPr lang="en-US" dirty="0"/>
              <a:t>This diagram captures the core architecture in one picture. On the left, what we know: cluster history, weather, demographics, geography, and a live confirmed-cases stream. In the middle, a single cluster formation model estimating the probability of an active cluster in a given subzone over the next 14 days. On the right, two distinct output loops.</a:t>
            </a:r>
          </a:p>
          <a:p>
            <a:endParaRPr lang="en-US" dirty="0"/>
          </a:p>
          <a:p>
            <a:r>
              <a:rPr lang="en-US" dirty="0"/>
              <a:t>The strategic loop: weekly batch scoring of all 330 subzones, producing a risk map for fogging deployment.</a:t>
            </a:r>
          </a:p>
          <a:p>
            <a:endParaRPr lang="en-US" dirty="0"/>
          </a:p>
          <a:p>
            <a:r>
              <a:rPr lang="en-US" dirty="0"/>
              <a:t>The tactical loop: per-case event-driven scoring, producing a sub-second alert for clinical triage.</a:t>
            </a:r>
          </a:p>
          <a:p>
            <a:endParaRPr lang="en-US" dirty="0"/>
          </a:p>
          <a:p>
            <a:r>
              <a:rPr lang="en-US" dirty="0"/>
              <a:t>Same predictive logic. Different feature freshness. Different decision thresholds. Different downstream actions.</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en-US" dirty="0"/>
              <a:t>KEY MESSAGE / PURPOSE</a:t>
            </a:r>
          </a:p>
          <a:p>
            <a:r>
              <a:rPr lang="en-US" dirty="0"/>
              <a:t>Key message: Demonstrate engineering rigour. The audience should see that every component has a reason — the Medallion layers, the Redis online store, the Airflow schedule, the LISTEN/NOTIFY trigger, the 500ms target. This is where you prove the team can actually build this, not just describe it.</a:t>
            </a:r>
          </a:p>
          <a:p>
            <a:endParaRPr lang="en-US" dirty="0"/>
          </a:p>
          <a:p>
            <a:r>
              <a:rPr lang="en-US" dirty="0"/>
              <a:t>---</a:t>
            </a:r>
          </a:p>
          <a:p>
            <a:endParaRPr lang="en-US" dirty="0"/>
          </a:p>
          <a:p>
            <a:r>
              <a:rPr lang="en-US" dirty="0"/>
              <a:t>SPEAKER SCRIPT</a:t>
            </a:r>
          </a:p>
          <a:p>
            <a:r>
              <a:rPr lang="en-US" dirty="0"/>
              <a:t>Let's walk through the detailed pipeline.</a:t>
            </a:r>
          </a:p>
          <a:p>
            <a:endParaRPr lang="en-US" dirty="0"/>
          </a:p>
          <a:p>
            <a:r>
              <a:rPr lang="en-US" dirty="0"/>
              <a:t>Data flows through a Medallion Architecture — Bronze for raw ingest from our four sources, Silver for schema enforcement, cleaning, and date-subzone joins, and Gold for our offline feature store with lag features and spatial joins stored in Postgres and Parquet.</a:t>
            </a:r>
          </a:p>
          <a:p>
            <a:endParaRPr lang="en-US" dirty="0"/>
          </a:p>
          <a:p>
            <a:r>
              <a:rPr lang="en-US" dirty="0"/>
              <a:t>We also maintain a Redis online store for the two features that change in real-time: current week case count and vulnerability index — sub-millisecond row reads for the real-time path.</a:t>
            </a:r>
          </a:p>
          <a:p>
            <a:endParaRPr lang="en-US" dirty="0"/>
          </a:p>
          <a:p>
            <a:r>
              <a:rPr lang="en-US" dirty="0"/>
              <a:t>Airflow orchestrates the weekly ingest, preprocessing, and feature build cycle.</a:t>
            </a:r>
          </a:p>
          <a:p>
            <a:endParaRPr lang="en-US" dirty="0"/>
          </a:p>
          <a:p>
            <a:r>
              <a:rPr lang="en-US" dirty="0"/>
              <a:t>For modelling, we train XGBoost and LightGBM with Optuna hyperparameter tuning, 5-fold time-series cross-validation, SMOTE for class balance, and MLflow for experiment tracking. The best model is promoted through an evaluation gate — precision, recall, SHAP interpretability, and a spatial accuracy check.</a:t>
            </a:r>
          </a:p>
          <a:p>
            <a:endParaRPr lang="en-US" dirty="0"/>
          </a:p>
          <a:p>
            <a:r>
              <a:rPr lang="en-US" dirty="0"/>
              <a:t>The batch path is straightforward: Airflow triggers at Monday 06:00 SGT, scores all 330 subzones using offline Gold features, and writes risk tiers to Postgres for the NEA dashboard.</a:t>
            </a:r>
          </a:p>
          <a:p>
            <a:endParaRPr lang="en-US" dirty="0"/>
          </a:p>
          <a:p>
            <a:r>
              <a:rPr lang="en-US" dirty="0"/>
              <a:t>The real-time path is event-driven: a new confirmed case INSERT triggers a LISTEN/NOTIFY event, a FastAPI listener picks it up, reads Redis for online features, calls the same MLflow artifact, applies a transparent alert rule — score x vulnerability x case count threshold — and writes the alert to the CDC officer's queue. End-to-end target: under 500 milliseconds.</a:t>
            </a:r>
          </a:p>
          <a:p>
            <a:endParaRPr lang="en-US" dirty="0"/>
          </a:p>
          <a:p>
            <a:r>
              <a:rPr lang="en-US" dirty="0"/>
              <a:t>Everything runs locally via Docker and docker-compose. No cloud spend.</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en-US" dirty="0"/>
              <a:t>KEY MESSAGE / PURPOSE</a:t>
            </a:r>
          </a:p>
          <a:p>
            <a:r>
              <a:rPr lang="en-US" dirty="0"/>
              <a:t>Key message: Show intellectual honesty and decision maturity. The best teams don't just build things — they know WHY they made each call and what they traded off. The ticked items signal decisions already locked in, not still open. The 'rule not a model' point demonstrates you didn't cut a corner — you made a principled choice.</a:t>
            </a:r>
          </a:p>
          <a:p>
            <a:endParaRPr lang="en-US" dirty="0"/>
          </a:p>
          <a:p>
            <a:r>
              <a:rPr lang="en-US" dirty="0"/>
              <a:t>---</a:t>
            </a:r>
          </a:p>
          <a:p>
            <a:endParaRPr lang="en-US" dirty="0"/>
          </a:p>
          <a:p>
            <a:r>
              <a:rPr lang="en-US" dirty="0"/>
              <a:t>SPEAKER SCRIPT</a:t>
            </a:r>
          </a:p>
          <a:p>
            <a:r>
              <a:rPr lang="en-US" dirty="0"/>
              <a:t>Finally, our key design decisions and the rationale.</a:t>
            </a:r>
          </a:p>
          <a:p>
            <a:endParaRPr lang="en-US" dirty="0"/>
          </a:p>
          <a:p>
            <a:r>
              <a:rPr lang="en-US" dirty="0"/>
              <a:t>Two-layer by design — because the operational loops genuinely have different cost functions. We're not overengineering; we're matching architecture to reality.</a:t>
            </a:r>
          </a:p>
          <a:p>
            <a:endParaRPr lang="en-US" dirty="0"/>
          </a:p>
          <a:p>
            <a:r>
              <a:rPr lang="en-US" dirty="0"/>
              <a:t>XGBoost and LightGBM, not deep learning — tabular spatial-temporal data doesn't benefit from deep learning, and interpretability via SHAP matters here for operational trust.</a:t>
            </a:r>
          </a:p>
          <a:p>
            <a:endParaRPr lang="en-US" dirty="0"/>
          </a:p>
          <a:p>
            <a:r>
              <a:rPr lang="en-US" dirty="0"/>
              <a:t>Time-series sliding-window CV — this is non-negotiable. Standard k-fold leaks future cluster data into training. Temporal CV is the only valid choice for a forecasting problem.</a:t>
            </a:r>
          </a:p>
          <a:p>
            <a:endParaRPr lang="en-US" dirty="0"/>
          </a:p>
          <a:p>
            <a:r>
              <a:rPr lang="en-US" dirty="0"/>
              <a:t>Recall of 0.70 or above on the high-risk tier — we're optimising for the expensive error. A false negative means a missed outbreak. We'd rather flag too many subzones than miss a real one.</a:t>
            </a:r>
          </a:p>
          <a:p>
            <a:endParaRPr lang="en-US" dirty="0"/>
          </a:p>
          <a:p>
            <a:r>
              <a:rPr lang="en-US" dirty="0"/>
              <a:t>On the data decisions that are now locked in: we use the full 2013 to 2020 SGCharts window, work at subzone granularity for operational precision, and use MSS weather data to extend our training window back three additional years compared to the NEA API.</a:t>
            </a:r>
          </a:p>
          <a:p>
            <a:endParaRPr lang="en-US" dirty="0"/>
          </a:p>
          <a:p>
            <a:r>
              <a:rPr lang="en-US" dirty="0"/>
              <a:t>And importantly — the real-time alert is a rule, not a second model. We have no public outcome-level labels for individual cases, so rather than pretend otherwise, we use a transparent threshold rule on top of the model score.</a:t>
            </a:r>
          </a:p>
          <a:p>
            <a:endParaRPr lang="en-US" dirty="0"/>
          </a:p>
          <a:p>
            <a:r>
              <a:rPr lang="en-US" dirty="0"/>
              <a:t>That's the proposal. We're confident this is a system that solves a real problem cleanly, with honest engineering decisions. Happy to take questions.</a:t>
            </a:r>
          </a:p>
        </p:txBody>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B4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583680" y="-1280160"/>
            <a:ext cx="4114800" cy="4114800"/>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132320" y="2743200"/>
            <a:ext cx="2377440" cy="2377440"/>
          </a:xfrm>
          <a:prstGeom prst="ellipse">
            <a:avLst/>
          </a:prstGeom>
          <a:solidFill>
            <a:srgbClr val="4091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0040" y="365760"/>
            <a:ext cx="1325880" cy="292608"/>
          </a:xfrm>
          <a:prstGeom prst="rect">
            <a:avLst/>
          </a:prstGeom>
          <a:solidFill>
            <a:srgbClr val="40916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r>
              <a:rPr sz="900" b="1" i="0">
                <a:solidFill>
                  <a:srgbClr val="FFFFFF"/>
                </a:solidFill>
                <a:latin typeface="Calibri"/>
              </a:rPr>
              <a:t>PROJECT PROPOSAL</a:t>
            </a:r>
          </a:p>
        </p:txBody>
      </p:sp>
      <p:sp>
        <p:nvSpPr>
          <p:cNvPr id="6" name="TextBox 5"/>
          <p:cNvSpPr txBox="1"/>
          <p:nvPr/>
        </p:nvSpPr>
        <p:spPr>
          <a:xfrm>
            <a:off x="320040" y="868680"/>
            <a:ext cx="7315200" cy="868680"/>
          </a:xfrm>
          <a:prstGeom prst="rect">
            <a:avLst/>
          </a:prstGeom>
          <a:noFill/>
        </p:spPr>
        <p:txBody>
          <a:bodyPr wrap="square" anchor="t" lIns="54864" rIns="54864" tIns="36576" bIns="36576">
            <a:spAutoFit/>
          </a:bodyPr>
          <a:lstStyle/>
          <a:p>
            <a:pPr algn="l"/>
            <a:r>
              <a:rPr sz="4000" b="1" i="0">
                <a:solidFill>
                  <a:srgbClr val="FFFFFF"/>
                </a:solidFill>
                <a:latin typeface="Georgia"/>
              </a:rPr>
              <a:t>Dengue Outbreak</a:t>
            </a:r>
          </a:p>
        </p:txBody>
      </p:sp>
      <p:sp>
        <p:nvSpPr>
          <p:cNvPr id="7" name="TextBox 6"/>
          <p:cNvSpPr txBox="1"/>
          <p:nvPr/>
        </p:nvSpPr>
        <p:spPr>
          <a:xfrm>
            <a:off x="320040" y="1508760"/>
            <a:ext cx="7315200" cy="868680"/>
          </a:xfrm>
          <a:prstGeom prst="rect">
            <a:avLst/>
          </a:prstGeom>
          <a:noFill/>
        </p:spPr>
        <p:txBody>
          <a:bodyPr wrap="square" anchor="t" lIns="54864" rIns="54864" tIns="36576" bIns="36576">
            <a:spAutoFit/>
          </a:bodyPr>
          <a:lstStyle/>
          <a:p>
            <a:pPr algn="l"/>
            <a:r>
              <a:rPr sz="4000" b="1" i="0">
                <a:solidFill>
                  <a:srgbClr val="FFFFFF"/>
                </a:solidFill>
                <a:latin typeface="Georgia"/>
              </a:rPr>
              <a:t>Risk Prediction</a:t>
            </a:r>
          </a:p>
        </p:txBody>
      </p:sp>
      <p:sp>
        <p:nvSpPr>
          <p:cNvPr id="8" name="TextBox 7"/>
          <p:cNvSpPr txBox="1"/>
          <p:nvPr/>
        </p:nvSpPr>
        <p:spPr>
          <a:xfrm>
            <a:off x="320040" y="2651760"/>
            <a:ext cx="6400800" cy="731520"/>
          </a:xfrm>
          <a:prstGeom prst="rect">
            <a:avLst/>
          </a:prstGeom>
          <a:noFill/>
        </p:spPr>
        <p:txBody>
          <a:bodyPr wrap="square" anchor="t" lIns="54864" rIns="54864" tIns="36576" bIns="36576">
            <a:spAutoFit/>
          </a:bodyPr>
          <a:lstStyle/>
          <a:p>
            <a:pPr algn="l"/>
            <a:r>
              <a:rPr sz="1200" b="0" i="0">
                <a:solidFill>
                  <a:srgbClr val="95D5B2"/>
                </a:solidFill>
                <a:latin typeface="Calibri"/>
              </a:rPr>
              <a:t>Predicting subzone-level dengue cluster risk —</a:t>
            </a:r>
          </a:p>
          <a:p>
            <a:pPr algn="l"/>
            <a:r>
              <a:rPr sz="1200" b="0" i="0">
                <a:solidFill>
                  <a:srgbClr val="95D5B2"/>
                </a:solidFill>
                <a:latin typeface="Calibri"/>
              </a:rPr>
              <a:t>strategic batch + tactical real-time inference, served from one model</a:t>
            </a:r>
          </a:p>
        </p:txBody>
      </p:sp>
      <p:sp>
        <p:nvSpPr>
          <p:cNvPr id="9" name="Rectangle 8"/>
          <p:cNvSpPr/>
          <p:nvPr/>
        </p:nvSpPr>
        <p:spPr>
          <a:xfrm>
            <a:off x="320040" y="3794760"/>
            <a:ext cx="1828800" cy="868680"/>
          </a:xfrm>
          <a:prstGeom prst="rect">
            <a:avLst/>
          </a:prstGeom>
          <a:noFill/>
          <a:ln w="9525">
            <a:solidFill>
              <a:srgbClr val="40916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79" y="3886200"/>
            <a:ext cx="1645920" cy="457200"/>
          </a:xfrm>
          <a:prstGeom prst="rect">
            <a:avLst/>
          </a:prstGeom>
          <a:noFill/>
        </p:spPr>
        <p:txBody>
          <a:bodyPr wrap="square" anchor="t" lIns="54864" rIns="54864" tIns="36576" bIns="36576">
            <a:spAutoFit/>
          </a:bodyPr>
          <a:lstStyle/>
          <a:p>
            <a:pPr algn="ctr"/>
            <a:r>
              <a:rPr sz="2200" b="1" i="0">
                <a:solidFill>
                  <a:srgbClr val="FFFFFF"/>
                </a:solidFill>
                <a:latin typeface="Georgia"/>
              </a:rPr>
              <a:t>330+</a:t>
            </a:r>
          </a:p>
        </p:txBody>
      </p:sp>
      <p:sp>
        <p:nvSpPr>
          <p:cNvPr id="11" name="TextBox 10"/>
          <p:cNvSpPr txBox="1"/>
          <p:nvPr/>
        </p:nvSpPr>
        <p:spPr>
          <a:xfrm>
            <a:off x="411479" y="4343400"/>
            <a:ext cx="1645920" cy="274320"/>
          </a:xfrm>
          <a:prstGeom prst="rect">
            <a:avLst/>
          </a:prstGeom>
          <a:noFill/>
        </p:spPr>
        <p:txBody>
          <a:bodyPr wrap="square" anchor="t" lIns="54864" rIns="54864" tIns="36576" bIns="36576">
            <a:spAutoFit/>
          </a:bodyPr>
          <a:lstStyle/>
          <a:p>
            <a:pPr algn="ctr"/>
            <a:r>
              <a:rPr sz="950" b="0" i="0">
                <a:solidFill>
                  <a:srgbClr val="95D5B2"/>
                </a:solidFill>
                <a:latin typeface="Calibri"/>
              </a:rPr>
              <a:t>SG Subzones scored</a:t>
            </a:r>
          </a:p>
        </p:txBody>
      </p:sp>
      <p:sp>
        <p:nvSpPr>
          <p:cNvPr id="12" name="Rectangle 11"/>
          <p:cNvSpPr/>
          <p:nvPr/>
        </p:nvSpPr>
        <p:spPr>
          <a:xfrm>
            <a:off x="2331720" y="3794760"/>
            <a:ext cx="1828800" cy="868680"/>
          </a:xfrm>
          <a:prstGeom prst="rect">
            <a:avLst/>
          </a:prstGeom>
          <a:noFill/>
          <a:ln w="9525">
            <a:solidFill>
              <a:srgbClr val="40916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23160" y="3886200"/>
            <a:ext cx="1645920" cy="457200"/>
          </a:xfrm>
          <a:prstGeom prst="rect">
            <a:avLst/>
          </a:prstGeom>
          <a:noFill/>
        </p:spPr>
        <p:txBody>
          <a:bodyPr wrap="square" anchor="t" lIns="54864" rIns="54864" tIns="36576" bIns="36576">
            <a:spAutoFit/>
          </a:bodyPr>
          <a:lstStyle/>
          <a:p>
            <a:pPr algn="ctr"/>
            <a:r>
              <a:rPr sz="2200" b="1" i="0">
                <a:solidFill>
                  <a:srgbClr val="FFFFFF"/>
                </a:solidFill>
                <a:latin typeface="Georgia"/>
              </a:rPr>
              <a:t>7 yrs</a:t>
            </a:r>
          </a:p>
        </p:txBody>
      </p:sp>
      <p:sp>
        <p:nvSpPr>
          <p:cNvPr id="14" name="TextBox 13"/>
          <p:cNvSpPr txBox="1"/>
          <p:nvPr/>
        </p:nvSpPr>
        <p:spPr>
          <a:xfrm>
            <a:off x="2423160" y="4343400"/>
            <a:ext cx="1645920" cy="274320"/>
          </a:xfrm>
          <a:prstGeom prst="rect">
            <a:avLst/>
          </a:prstGeom>
          <a:noFill/>
        </p:spPr>
        <p:txBody>
          <a:bodyPr wrap="square" anchor="t" lIns="54864" rIns="54864" tIns="36576" bIns="36576">
            <a:spAutoFit/>
          </a:bodyPr>
          <a:lstStyle/>
          <a:p>
            <a:pPr algn="ctr"/>
            <a:r>
              <a:rPr sz="950" b="0" i="0">
                <a:solidFill>
                  <a:srgbClr val="95D5B2"/>
                </a:solidFill>
                <a:latin typeface="Calibri"/>
              </a:rPr>
              <a:t>Real cluster data</a:t>
            </a:r>
          </a:p>
        </p:txBody>
      </p:sp>
      <p:sp>
        <p:nvSpPr>
          <p:cNvPr id="15" name="Rectangle 14"/>
          <p:cNvSpPr/>
          <p:nvPr/>
        </p:nvSpPr>
        <p:spPr>
          <a:xfrm>
            <a:off x="4343400" y="3794760"/>
            <a:ext cx="1828800" cy="868680"/>
          </a:xfrm>
          <a:prstGeom prst="rect">
            <a:avLst/>
          </a:prstGeom>
          <a:noFill/>
          <a:ln w="9525">
            <a:solidFill>
              <a:srgbClr val="40916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34840" y="3886200"/>
            <a:ext cx="1645920" cy="457200"/>
          </a:xfrm>
          <a:prstGeom prst="rect">
            <a:avLst/>
          </a:prstGeom>
          <a:noFill/>
        </p:spPr>
        <p:txBody>
          <a:bodyPr wrap="square" anchor="t" lIns="54864" rIns="54864" tIns="36576" bIns="36576">
            <a:spAutoFit/>
          </a:bodyPr>
          <a:lstStyle/>
          <a:p>
            <a:pPr algn="ctr"/>
            <a:r>
              <a:rPr sz="2200" b="1" i="0">
                <a:solidFill>
                  <a:srgbClr val="FFFFFF"/>
                </a:solidFill>
                <a:latin typeface="Georgia"/>
              </a:rPr>
              <a:t>100%</a:t>
            </a:r>
          </a:p>
        </p:txBody>
      </p:sp>
      <p:sp>
        <p:nvSpPr>
          <p:cNvPr id="17" name="TextBox 16"/>
          <p:cNvSpPr txBox="1"/>
          <p:nvPr/>
        </p:nvSpPr>
        <p:spPr>
          <a:xfrm>
            <a:off x="4434840" y="4343400"/>
            <a:ext cx="1645920" cy="274320"/>
          </a:xfrm>
          <a:prstGeom prst="rect">
            <a:avLst/>
          </a:prstGeom>
          <a:noFill/>
        </p:spPr>
        <p:txBody>
          <a:bodyPr wrap="square" anchor="t" lIns="54864" rIns="54864" tIns="36576" bIns="36576">
            <a:spAutoFit/>
          </a:bodyPr>
          <a:lstStyle/>
          <a:p>
            <a:pPr algn="ctr"/>
            <a:r>
              <a:rPr sz="950" b="0" i="0">
                <a:solidFill>
                  <a:srgbClr val="95D5B2"/>
                </a:solidFill>
                <a:latin typeface="Calibri"/>
              </a:rPr>
              <a:t>Gov open data</a:t>
            </a:r>
          </a:p>
        </p:txBody>
      </p:sp>
      <p:sp>
        <p:nvSpPr>
          <p:cNvPr id="18" name="TextBox 17"/>
          <p:cNvSpPr txBox="1"/>
          <p:nvPr/>
        </p:nvSpPr>
        <p:spPr>
          <a:xfrm>
            <a:off x="320040" y="4846320"/>
            <a:ext cx="5486400" cy="228600"/>
          </a:xfrm>
          <a:prstGeom prst="rect">
            <a:avLst/>
          </a:prstGeom>
          <a:noFill/>
        </p:spPr>
        <p:txBody>
          <a:bodyPr wrap="square" anchor="t" lIns="54864" rIns="54864" tIns="36576" bIns="36576">
            <a:spAutoFit/>
          </a:bodyPr>
          <a:lstStyle/>
          <a:p>
            <a:pPr algn="l"/>
            <a:r>
              <a:rPr sz="900" b="0" i="0">
                <a:solidFill>
                  <a:srgbClr val="95D5B2"/>
                </a:solidFill>
                <a:latin typeface="Calibri"/>
              </a:rPr>
              <a:t>CS611 MLE — Group Project   |   Week 6 Proposal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7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20040"/>
            <a:ext cx="365760" cy="320040"/>
          </a:xfrm>
          <a:prstGeom prst="rect">
            <a:avLst/>
          </a:prstGeom>
          <a:solidFill>
            <a:srgbClr val="1B43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100" b="1" i="0">
                <a:solidFill>
                  <a:srgbClr val="FFFFFF"/>
                </a:solidFill>
                <a:latin typeface="Calibri"/>
              </a:rPr>
              <a:t>01</a:t>
            </a:r>
          </a:p>
        </p:txBody>
      </p:sp>
      <p:sp>
        <p:nvSpPr>
          <p:cNvPr id="4" name="TextBox 3"/>
          <p:cNvSpPr txBox="1"/>
          <p:nvPr/>
        </p:nvSpPr>
        <p:spPr>
          <a:xfrm>
            <a:off x="822960" y="365760"/>
            <a:ext cx="6400800" cy="274320"/>
          </a:xfrm>
          <a:prstGeom prst="rect">
            <a:avLst/>
          </a:prstGeom>
          <a:noFill/>
        </p:spPr>
        <p:txBody>
          <a:bodyPr wrap="square" anchor="t" lIns="54864" rIns="54864" tIns="36576" bIns="36576">
            <a:spAutoFit/>
          </a:bodyPr>
          <a:lstStyle/>
          <a:p>
            <a:pPr algn="l"/>
            <a:r>
              <a:rPr sz="900" b="0" i="0">
                <a:solidFill>
                  <a:srgbClr val="40916C"/>
                </a:solidFill>
                <a:latin typeface="Calibri"/>
              </a:rPr>
              <a:t>CS611 MLE — Group Project   |   The Business Problem</a:t>
            </a:r>
          </a:p>
        </p:txBody>
      </p:sp>
      <p:sp>
        <p:nvSpPr>
          <p:cNvPr id="5" name="TextBox 4"/>
          <p:cNvSpPr txBox="1"/>
          <p:nvPr/>
        </p:nvSpPr>
        <p:spPr>
          <a:xfrm>
            <a:off x="365760" y="713232"/>
            <a:ext cx="8229600" cy="548640"/>
          </a:xfrm>
          <a:prstGeom prst="rect">
            <a:avLst/>
          </a:prstGeom>
          <a:noFill/>
        </p:spPr>
        <p:txBody>
          <a:bodyPr wrap="square" anchor="t" lIns="54864" rIns="54864" tIns="36576" bIns="36576">
            <a:spAutoFit/>
          </a:bodyPr>
          <a:lstStyle/>
          <a:p>
            <a:pPr algn="l"/>
            <a:r>
              <a:rPr sz="2600" b="1" i="0">
                <a:solidFill>
                  <a:srgbClr val="1B4332"/>
                </a:solidFill>
                <a:latin typeface="Georgia"/>
              </a:rPr>
              <a:t>Dengue control is a two-speed problem</a:t>
            </a:r>
          </a:p>
        </p:txBody>
      </p:sp>
      <p:sp>
        <p:nvSpPr>
          <p:cNvPr id="6" name="TextBox 5"/>
          <p:cNvSpPr txBox="1"/>
          <p:nvPr/>
        </p:nvSpPr>
        <p:spPr>
          <a:xfrm>
            <a:off x="365760" y="1325880"/>
            <a:ext cx="8412480" cy="320040"/>
          </a:xfrm>
          <a:prstGeom prst="rect">
            <a:avLst/>
          </a:prstGeom>
          <a:noFill/>
        </p:spPr>
        <p:txBody>
          <a:bodyPr wrap="square" anchor="t" lIns="54864" rIns="54864" tIns="36576" bIns="36576">
            <a:spAutoFit/>
          </a:bodyPr>
          <a:lstStyle/>
          <a:p>
            <a:pPr algn="l"/>
            <a:r>
              <a:rPr sz="1050" b="0" i="1">
                <a:solidFill>
                  <a:srgbClr val="4A5A5A"/>
                </a:solidFill>
                <a:latin typeface="Calibri"/>
              </a:rPr>
              <a:t>Singapore's 2020 outbreak — 35,000+ cases — exposed two distinct operational gaps. Conflating them with one model is the strategic mistake.</a:t>
            </a:r>
          </a:p>
        </p:txBody>
      </p:sp>
      <p:sp>
        <p:nvSpPr>
          <p:cNvPr id="7" name="Rectangle 6"/>
          <p:cNvSpPr/>
          <p:nvPr/>
        </p:nvSpPr>
        <p:spPr>
          <a:xfrm>
            <a:off x="365760" y="1783080"/>
            <a:ext cx="4069080" cy="2697480"/>
          </a:xfrm>
          <a:prstGeom prst="rect">
            <a:avLst/>
          </a:prstGeom>
          <a:solidFill>
            <a:srgbClr val="FFFFFF"/>
          </a:solidFill>
          <a:ln w="12700">
            <a:solidFill>
              <a:srgbClr val="C9D3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783080"/>
            <a:ext cx="4069080" cy="384048"/>
          </a:xfrm>
          <a:prstGeom prst="rect">
            <a:avLst/>
          </a:prstGeom>
          <a:solidFill>
            <a:srgbClr val="1B43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r>
              <a:rPr sz="1000" b="1" i="0">
                <a:solidFill>
                  <a:srgbClr val="FFFFFF"/>
                </a:solidFill>
                <a:latin typeface="Calibri"/>
              </a:rPr>
              <a:t>STRATEGIC LOOP   ·   WEEKLY BATCH</a:t>
            </a:r>
          </a:p>
        </p:txBody>
      </p:sp>
      <p:sp>
        <p:nvSpPr>
          <p:cNvPr id="9" name="TextBox 8"/>
          <p:cNvSpPr txBox="1"/>
          <p:nvPr/>
        </p:nvSpPr>
        <p:spPr>
          <a:xfrm>
            <a:off x="548640" y="2286000"/>
            <a:ext cx="3703320" cy="411480"/>
          </a:xfrm>
          <a:prstGeom prst="rect">
            <a:avLst/>
          </a:prstGeom>
          <a:noFill/>
        </p:spPr>
        <p:txBody>
          <a:bodyPr wrap="square" anchor="t" lIns="54864" rIns="54864" tIns="36576" bIns="36576">
            <a:spAutoFit/>
          </a:bodyPr>
          <a:lstStyle/>
          <a:p>
            <a:pPr algn="l"/>
            <a:r>
              <a:rPr sz="1300" b="1" i="0">
                <a:solidFill>
                  <a:srgbClr val="1B4332"/>
                </a:solidFill>
                <a:latin typeface="Calibri"/>
              </a:rPr>
              <a:t>Where should fogging be deployed next week?</a:t>
            </a:r>
          </a:p>
        </p:txBody>
      </p:sp>
      <p:sp>
        <p:nvSpPr>
          <p:cNvPr id="10" name="TextBox 9"/>
          <p:cNvSpPr txBox="1"/>
          <p:nvPr/>
        </p:nvSpPr>
        <p:spPr>
          <a:xfrm>
            <a:off x="548640" y="2743200"/>
            <a:ext cx="1005840" cy="274320"/>
          </a:xfrm>
          <a:prstGeom prst="rect">
            <a:avLst/>
          </a:prstGeom>
          <a:noFill/>
        </p:spPr>
        <p:txBody>
          <a:bodyPr wrap="square" anchor="t" lIns="54864" rIns="54864" tIns="36576" bIns="36576">
            <a:spAutoFit/>
          </a:bodyPr>
          <a:lstStyle/>
          <a:p>
            <a:pPr algn="l"/>
            <a:r>
              <a:rPr sz="850" b="1" i="0">
                <a:solidFill>
                  <a:srgbClr val="6B7A7A"/>
                </a:solidFill>
                <a:latin typeface="Calibri"/>
              </a:rPr>
              <a:t>Cadence</a:t>
            </a:r>
          </a:p>
        </p:txBody>
      </p:sp>
      <p:sp>
        <p:nvSpPr>
          <p:cNvPr id="11" name="TextBox 10"/>
          <p:cNvSpPr txBox="1"/>
          <p:nvPr/>
        </p:nvSpPr>
        <p:spPr>
          <a:xfrm>
            <a:off x="1508760" y="2743200"/>
            <a:ext cx="2743200" cy="365760"/>
          </a:xfrm>
          <a:prstGeom prst="rect">
            <a:avLst/>
          </a:prstGeom>
          <a:noFill/>
        </p:spPr>
        <p:txBody>
          <a:bodyPr wrap="square" anchor="t" lIns="54864" rIns="54864" tIns="36576" bIns="36576">
            <a:spAutoFit/>
          </a:bodyPr>
          <a:lstStyle/>
          <a:p>
            <a:pPr algn="l"/>
            <a:r>
              <a:rPr sz="1000" b="0" i="0">
                <a:solidFill>
                  <a:srgbClr val="2D3A3A"/>
                </a:solidFill>
                <a:latin typeface="Calibri"/>
              </a:rPr>
              <a:t>Weekly  ·  Monday 06:00 SGT</a:t>
            </a:r>
          </a:p>
        </p:txBody>
      </p:sp>
      <p:sp>
        <p:nvSpPr>
          <p:cNvPr id="12" name="TextBox 11"/>
          <p:cNvSpPr txBox="1"/>
          <p:nvPr/>
        </p:nvSpPr>
        <p:spPr>
          <a:xfrm>
            <a:off x="548640" y="3063239"/>
            <a:ext cx="1005840" cy="274320"/>
          </a:xfrm>
          <a:prstGeom prst="rect">
            <a:avLst/>
          </a:prstGeom>
          <a:noFill/>
        </p:spPr>
        <p:txBody>
          <a:bodyPr wrap="square" anchor="t" lIns="54864" rIns="54864" tIns="36576" bIns="36576">
            <a:spAutoFit/>
          </a:bodyPr>
          <a:lstStyle/>
          <a:p>
            <a:pPr algn="l"/>
            <a:r>
              <a:rPr sz="850" b="1" i="0">
                <a:solidFill>
                  <a:srgbClr val="6B7A7A"/>
                </a:solidFill>
                <a:latin typeface="Calibri"/>
              </a:rPr>
              <a:t>User</a:t>
            </a:r>
          </a:p>
        </p:txBody>
      </p:sp>
      <p:sp>
        <p:nvSpPr>
          <p:cNvPr id="13" name="TextBox 12"/>
          <p:cNvSpPr txBox="1"/>
          <p:nvPr/>
        </p:nvSpPr>
        <p:spPr>
          <a:xfrm>
            <a:off x="1508760" y="3063239"/>
            <a:ext cx="2743200" cy="365760"/>
          </a:xfrm>
          <a:prstGeom prst="rect">
            <a:avLst/>
          </a:prstGeom>
          <a:noFill/>
        </p:spPr>
        <p:txBody>
          <a:bodyPr wrap="square" anchor="t" lIns="54864" rIns="54864" tIns="36576" bIns="36576">
            <a:spAutoFit/>
          </a:bodyPr>
          <a:lstStyle/>
          <a:p>
            <a:pPr algn="l"/>
            <a:r>
              <a:rPr sz="1000" b="0" i="0">
                <a:solidFill>
                  <a:srgbClr val="2D3A3A"/>
                </a:solidFill>
                <a:latin typeface="Calibri"/>
              </a:rPr>
              <a:t>NEA Ops + Pest Control Operators</a:t>
            </a:r>
          </a:p>
        </p:txBody>
      </p:sp>
      <p:sp>
        <p:nvSpPr>
          <p:cNvPr id="14" name="TextBox 13"/>
          <p:cNvSpPr txBox="1"/>
          <p:nvPr/>
        </p:nvSpPr>
        <p:spPr>
          <a:xfrm>
            <a:off x="548640" y="3383280"/>
            <a:ext cx="1005840" cy="274320"/>
          </a:xfrm>
          <a:prstGeom prst="rect">
            <a:avLst/>
          </a:prstGeom>
          <a:noFill/>
        </p:spPr>
        <p:txBody>
          <a:bodyPr wrap="square" anchor="t" lIns="54864" rIns="54864" tIns="36576" bIns="36576">
            <a:spAutoFit/>
          </a:bodyPr>
          <a:lstStyle/>
          <a:p>
            <a:pPr algn="l"/>
            <a:r>
              <a:rPr sz="850" b="1" i="0">
                <a:solidFill>
                  <a:srgbClr val="6B7A7A"/>
                </a:solidFill>
                <a:latin typeface="Calibri"/>
              </a:rPr>
              <a:t>Action</a:t>
            </a:r>
          </a:p>
        </p:txBody>
      </p:sp>
      <p:sp>
        <p:nvSpPr>
          <p:cNvPr id="15" name="TextBox 14"/>
          <p:cNvSpPr txBox="1"/>
          <p:nvPr/>
        </p:nvSpPr>
        <p:spPr>
          <a:xfrm>
            <a:off x="1508760" y="3383280"/>
            <a:ext cx="2743200" cy="365760"/>
          </a:xfrm>
          <a:prstGeom prst="rect">
            <a:avLst/>
          </a:prstGeom>
          <a:noFill/>
        </p:spPr>
        <p:txBody>
          <a:bodyPr wrap="square" anchor="t" lIns="54864" rIns="54864" tIns="36576" bIns="36576">
            <a:spAutoFit/>
          </a:bodyPr>
          <a:lstStyle/>
          <a:p>
            <a:pPr algn="l"/>
            <a:r>
              <a:rPr sz="1000" b="0" i="0">
                <a:solidFill>
                  <a:srgbClr val="2D3A3A"/>
                </a:solidFill>
                <a:latin typeface="Calibri"/>
              </a:rPr>
              <a:t>Plan fogging crews + equipment staging</a:t>
            </a:r>
          </a:p>
        </p:txBody>
      </p:sp>
      <p:sp>
        <p:nvSpPr>
          <p:cNvPr id="16" name="TextBox 15"/>
          <p:cNvSpPr txBox="1"/>
          <p:nvPr/>
        </p:nvSpPr>
        <p:spPr>
          <a:xfrm>
            <a:off x="548640" y="3703320"/>
            <a:ext cx="1005840" cy="274320"/>
          </a:xfrm>
          <a:prstGeom prst="rect">
            <a:avLst/>
          </a:prstGeom>
          <a:noFill/>
        </p:spPr>
        <p:txBody>
          <a:bodyPr wrap="square" anchor="t" lIns="54864" rIns="54864" tIns="36576" bIns="36576">
            <a:spAutoFit/>
          </a:bodyPr>
          <a:lstStyle/>
          <a:p>
            <a:pPr algn="l"/>
            <a:r>
              <a:rPr sz="850" b="1" i="0">
                <a:solidFill>
                  <a:srgbClr val="6B7A7A"/>
                </a:solidFill>
                <a:latin typeface="Calibri"/>
              </a:rPr>
              <a:t>If wrong</a:t>
            </a:r>
          </a:p>
        </p:txBody>
      </p:sp>
      <p:sp>
        <p:nvSpPr>
          <p:cNvPr id="17" name="TextBox 16"/>
          <p:cNvSpPr txBox="1"/>
          <p:nvPr/>
        </p:nvSpPr>
        <p:spPr>
          <a:xfrm>
            <a:off x="1508760" y="3703320"/>
            <a:ext cx="2743200" cy="365760"/>
          </a:xfrm>
          <a:prstGeom prst="rect">
            <a:avLst/>
          </a:prstGeom>
          <a:noFill/>
        </p:spPr>
        <p:txBody>
          <a:bodyPr wrap="square" anchor="t" lIns="54864" rIns="54864" tIns="36576" bIns="36576">
            <a:spAutoFit/>
          </a:bodyPr>
          <a:lstStyle/>
          <a:p>
            <a:pPr algn="l"/>
            <a:r>
              <a:rPr sz="1000" b="0" i="0">
                <a:solidFill>
                  <a:srgbClr val="2D3A3A"/>
                </a:solidFill>
                <a:latin typeface="Calibri"/>
              </a:rPr>
              <a:t>Missed fogging run — recoverable</a:t>
            </a:r>
          </a:p>
        </p:txBody>
      </p:sp>
      <p:sp>
        <p:nvSpPr>
          <p:cNvPr id="18" name="TextBox 17"/>
          <p:cNvSpPr txBox="1"/>
          <p:nvPr/>
        </p:nvSpPr>
        <p:spPr>
          <a:xfrm>
            <a:off x="548640" y="4069080"/>
            <a:ext cx="3703320" cy="320040"/>
          </a:xfrm>
          <a:prstGeom prst="rect">
            <a:avLst/>
          </a:prstGeom>
          <a:noFill/>
        </p:spPr>
        <p:txBody>
          <a:bodyPr wrap="square" anchor="t" lIns="54864" rIns="54864" tIns="36576" bIns="36576">
            <a:spAutoFit/>
          </a:bodyPr>
          <a:lstStyle/>
          <a:p>
            <a:pPr algn="l"/>
            <a:r>
              <a:rPr sz="1000" b="1" i="1">
                <a:solidFill>
                  <a:srgbClr val="40916C"/>
                </a:solidFill>
                <a:latin typeface="Calibri"/>
              </a:rPr>
              <a:t>Latency tolerance: days</a:t>
            </a:r>
          </a:p>
        </p:txBody>
      </p:sp>
      <p:sp>
        <p:nvSpPr>
          <p:cNvPr id="19" name="Rectangle 18"/>
          <p:cNvSpPr/>
          <p:nvPr/>
        </p:nvSpPr>
        <p:spPr>
          <a:xfrm>
            <a:off x="4709160" y="1783080"/>
            <a:ext cx="4069080" cy="2697480"/>
          </a:xfrm>
          <a:prstGeom prst="rect">
            <a:avLst/>
          </a:prstGeom>
          <a:solidFill>
            <a:srgbClr val="FFFFFF"/>
          </a:solidFill>
          <a:ln w="12700">
            <a:solidFill>
              <a:srgbClr val="C9D3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709160" y="1783080"/>
            <a:ext cx="4069080" cy="384048"/>
          </a:xfrm>
          <a:prstGeom prst="rect">
            <a:avLst/>
          </a:prstGeom>
          <a:solidFill>
            <a:srgbClr val="B84B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r>
              <a:rPr sz="1000" b="1" i="0">
                <a:solidFill>
                  <a:srgbClr val="FFFFFF"/>
                </a:solidFill>
                <a:latin typeface="Calibri"/>
              </a:rPr>
              <a:t>TACTICAL LOOP   ·   EVENT-DRIVEN REAL-TIME</a:t>
            </a:r>
          </a:p>
        </p:txBody>
      </p:sp>
      <p:sp>
        <p:nvSpPr>
          <p:cNvPr id="21" name="TextBox 20"/>
          <p:cNvSpPr txBox="1"/>
          <p:nvPr/>
        </p:nvSpPr>
        <p:spPr>
          <a:xfrm>
            <a:off x="4892040" y="2286000"/>
            <a:ext cx="3703320" cy="411480"/>
          </a:xfrm>
          <a:prstGeom prst="rect">
            <a:avLst/>
          </a:prstGeom>
          <a:noFill/>
        </p:spPr>
        <p:txBody>
          <a:bodyPr wrap="square" anchor="t" lIns="54864" rIns="54864" tIns="36576" bIns="36576">
            <a:spAutoFit/>
          </a:bodyPr>
          <a:lstStyle/>
          <a:p>
            <a:pPr algn="l"/>
            <a:r>
              <a:rPr sz="1300" b="1" i="0">
                <a:solidFill>
                  <a:srgbClr val="B84B3C"/>
                </a:solidFill>
                <a:latin typeface="Calibri"/>
              </a:rPr>
              <a:t>Who needs same-day outreach right now?</a:t>
            </a:r>
          </a:p>
        </p:txBody>
      </p:sp>
      <p:sp>
        <p:nvSpPr>
          <p:cNvPr id="22" name="TextBox 21"/>
          <p:cNvSpPr txBox="1"/>
          <p:nvPr/>
        </p:nvSpPr>
        <p:spPr>
          <a:xfrm>
            <a:off x="4892040" y="2743200"/>
            <a:ext cx="1005840" cy="274320"/>
          </a:xfrm>
          <a:prstGeom prst="rect">
            <a:avLst/>
          </a:prstGeom>
          <a:noFill/>
        </p:spPr>
        <p:txBody>
          <a:bodyPr wrap="square" anchor="t" lIns="54864" rIns="54864" tIns="36576" bIns="36576">
            <a:spAutoFit/>
          </a:bodyPr>
          <a:lstStyle/>
          <a:p>
            <a:pPr algn="l"/>
            <a:r>
              <a:rPr sz="850" b="1" i="0">
                <a:solidFill>
                  <a:srgbClr val="6B7A7A"/>
                </a:solidFill>
                <a:latin typeface="Calibri"/>
              </a:rPr>
              <a:t>Cadence</a:t>
            </a:r>
          </a:p>
        </p:txBody>
      </p:sp>
      <p:sp>
        <p:nvSpPr>
          <p:cNvPr id="23" name="TextBox 22"/>
          <p:cNvSpPr txBox="1"/>
          <p:nvPr/>
        </p:nvSpPr>
        <p:spPr>
          <a:xfrm>
            <a:off x="5852160" y="2743200"/>
            <a:ext cx="2743200" cy="365760"/>
          </a:xfrm>
          <a:prstGeom prst="rect">
            <a:avLst/>
          </a:prstGeom>
          <a:noFill/>
        </p:spPr>
        <p:txBody>
          <a:bodyPr wrap="square" anchor="t" lIns="54864" rIns="54864" tIns="36576" bIns="36576">
            <a:spAutoFit/>
          </a:bodyPr>
          <a:lstStyle/>
          <a:p>
            <a:pPr algn="l"/>
            <a:r>
              <a:rPr sz="1000" b="0" i="0">
                <a:solidFill>
                  <a:srgbClr val="2D3A3A"/>
                </a:solidFill>
                <a:latin typeface="Calibri"/>
              </a:rPr>
              <a:t>Event-driven  ·  per case notification</a:t>
            </a:r>
          </a:p>
        </p:txBody>
      </p:sp>
      <p:sp>
        <p:nvSpPr>
          <p:cNvPr id="24" name="TextBox 23"/>
          <p:cNvSpPr txBox="1"/>
          <p:nvPr/>
        </p:nvSpPr>
        <p:spPr>
          <a:xfrm>
            <a:off x="4892040" y="3063239"/>
            <a:ext cx="1005840" cy="274320"/>
          </a:xfrm>
          <a:prstGeom prst="rect">
            <a:avLst/>
          </a:prstGeom>
          <a:noFill/>
        </p:spPr>
        <p:txBody>
          <a:bodyPr wrap="square" anchor="t" lIns="54864" rIns="54864" tIns="36576" bIns="36576">
            <a:spAutoFit/>
          </a:bodyPr>
          <a:lstStyle/>
          <a:p>
            <a:pPr algn="l"/>
            <a:r>
              <a:rPr sz="850" b="1" i="0">
                <a:solidFill>
                  <a:srgbClr val="6B7A7A"/>
                </a:solidFill>
                <a:latin typeface="Calibri"/>
              </a:rPr>
              <a:t>User</a:t>
            </a:r>
          </a:p>
        </p:txBody>
      </p:sp>
      <p:sp>
        <p:nvSpPr>
          <p:cNvPr id="25" name="TextBox 24"/>
          <p:cNvSpPr txBox="1"/>
          <p:nvPr/>
        </p:nvSpPr>
        <p:spPr>
          <a:xfrm>
            <a:off x="5852160" y="3063239"/>
            <a:ext cx="2743200" cy="365760"/>
          </a:xfrm>
          <a:prstGeom prst="rect">
            <a:avLst/>
          </a:prstGeom>
          <a:noFill/>
        </p:spPr>
        <p:txBody>
          <a:bodyPr wrap="square" anchor="t" lIns="54864" rIns="54864" tIns="36576" bIns="36576">
            <a:spAutoFit/>
          </a:bodyPr>
          <a:lstStyle/>
          <a:p>
            <a:pPr algn="l"/>
            <a:r>
              <a:rPr sz="1000" b="0" i="0">
                <a:solidFill>
                  <a:srgbClr val="2D3A3A"/>
                </a:solidFill>
                <a:latin typeface="Calibri"/>
              </a:rPr>
              <a:t>CDC Officer at MOH</a:t>
            </a:r>
          </a:p>
        </p:txBody>
      </p:sp>
      <p:sp>
        <p:nvSpPr>
          <p:cNvPr id="26" name="TextBox 25"/>
          <p:cNvSpPr txBox="1"/>
          <p:nvPr/>
        </p:nvSpPr>
        <p:spPr>
          <a:xfrm>
            <a:off x="4892040" y="3383280"/>
            <a:ext cx="1005840" cy="274320"/>
          </a:xfrm>
          <a:prstGeom prst="rect">
            <a:avLst/>
          </a:prstGeom>
          <a:noFill/>
        </p:spPr>
        <p:txBody>
          <a:bodyPr wrap="square" anchor="t" lIns="54864" rIns="54864" tIns="36576" bIns="36576">
            <a:spAutoFit/>
          </a:bodyPr>
          <a:lstStyle/>
          <a:p>
            <a:pPr algn="l"/>
            <a:r>
              <a:rPr sz="850" b="1" i="0">
                <a:solidFill>
                  <a:srgbClr val="6B7A7A"/>
                </a:solidFill>
                <a:latin typeface="Calibri"/>
              </a:rPr>
              <a:t>Action</a:t>
            </a:r>
          </a:p>
        </p:txBody>
      </p:sp>
      <p:sp>
        <p:nvSpPr>
          <p:cNvPr id="27" name="TextBox 26"/>
          <p:cNvSpPr txBox="1"/>
          <p:nvPr/>
        </p:nvSpPr>
        <p:spPr>
          <a:xfrm>
            <a:off x="5852160" y="3383280"/>
            <a:ext cx="2743200" cy="365760"/>
          </a:xfrm>
          <a:prstGeom prst="rect">
            <a:avLst/>
          </a:prstGeom>
          <a:noFill/>
        </p:spPr>
        <p:txBody>
          <a:bodyPr wrap="square" anchor="t" lIns="54864" rIns="54864" tIns="36576" bIns="36576">
            <a:spAutoFit/>
          </a:bodyPr>
          <a:lstStyle/>
          <a:p>
            <a:pPr algn="l"/>
            <a:r>
              <a:rPr sz="1000" b="0" i="0">
                <a:solidFill>
                  <a:srgbClr val="2D3A3A"/>
                </a:solidFill>
                <a:latin typeface="Calibri"/>
              </a:rPr>
              <a:t>Triage: home visit, advisory, testing van</a:t>
            </a:r>
          </a:p>
        </p:txBody>
      </p:sp>
      <p:sp>
        <p:nvSpPr>
          <p:cNvPr id="28" name="TextBox 27"/>
          <p:cNvSpPr txBox="1"/>
          <p:nvPr/>
        </p:nvSpPr>
        <p:spPr>
          <a:xfrm>
            <a:off x="4892040" y="3703320"/>
            <a:ext cx="1005840" cy="274320"/>
          </a:xfrm>
          <a:prstGeom prst="rect">
            <a:avLst/>
          </a:prstGeom>
          <a:noFill/>
        </p:spPr>
        <p:txBody>
          <a:bodyPr wrap="square" anchor="t" lIns="54864" rIns="54864" tIns="36576" bIns="36576">
            <a:spAutoFit/>
          </a:bodyPr>
          <a:lstStyle/>
          <a:p>
            <a:pPr algn="l"/>
            <a:r>
              <a:rPr sz="850" b="1" i="0">
                <a:solidFill>
                  <a:srgbClr val="6B7A7A"/>
                </a:solidFill>
                <a:latin typeface="Calibri"/>
              </a:rPr>
              <a:t>If wrong</a:t>
            </a:r>
          </a:p>
        </p:txBody>
      </p:sp>
      <p:sp>
        <p:nvSpPr>
          <p:cNvPr id="29" name="TextBox 28"/>
          <p:cNvSpPr txBox="1"/>
          <p:nvPr/>
        </p:nvSpPr>
        <p:spPr>
          <a:xfrm>
            <a:off x="5852160" y="3703320"/>
            <a:ext cx="2743200" cy="365760"/>
          </a:xfrm>
          <a:prstGeom prst="rect">
            <a:avLst/>
          </a:prstGeom>
          <a:noFill/>
        </p:spPr>
        <p:txBody>
          <a:bodyPr wrap="square" anchor="t" lIns="54864" rIns="54864" tIns="36576" bIns="36576">
            <a:spAutoFit/>
          </a:bodyPr>
          <a:lstStyle/>
          <a:p>
            <a:pPr algn="l"/>
            <a:r>
              <a:rPr sz="1000" b="0" i="0">
                <a:solidFill>
                  <a:srgbClr val="2D3A3A"/>
                </a:solidFill>
                <a:latin typeface="Calibri"/>
              </a:rPr>
              <a:t>Vulnerable resident → WHO days 4-7 critical phase</a:t>
            </a:r>
          </a:p>
        </p:txBody>
      </p:sp>
      <p:sp>
        <p:nvSpPr>
          <p:cNvPr id="30" name="TextBox 29"/>
          <p:cNvSpPr txBox="1"/>
          <p:nvPr/>
        </p:nvSpPr>
        <p:spPr>
          <a:xfrm>
            <a:off x="4892040" y="4069080"/>
            <a:ext cx="3703320" cy="320040"/>
          </a:xfrm>
          <a:prstGeom prst="rect">
            <a:avLst/>
          </a:prstGeom>
          <a:noFill/>
        </p:spPr>
        <p:txBody>
          <a:bodyPr wrap="square" anchor="t" lIns="54864" rIns="54864" tIns="36576" bIns="36576">
            <a:spAutoFit/>
          </a:bodyPr>
          <a:lstStyle/>
          <a:p>
            <a:pPr algn="l"/>
            <a:r>
              <a:rPr sz="1000" b="1" i="1">
                <a:solidFill>
                  <a:srgbClr val="B84B3C"/>
                </a:solidFill>
                <a:latin typeface="Calibri"/>
              </a:rPr>
              <a:t>Latency tolerance: sub-second</a:t>
            </a:r>
          </a:p>
        </p:txBody>
      </p:sp>
      <p:sp>
        <p:nvSpPr>
          <p:cNvPr id="31" name="Rectangle 30"/>
          <p:cNvSpPr/>
          <p:nvPr/>
        </p:nvSpPr>
        <p:spPr>
          <a:xfrm>
            <a:off x="365760" y="4617720"/>
            <a:ext cx="8412480" cy="384048"/>
          </a:xfrm>
          <a:prstGeom prst="rect">
            <a:avLst/>
          </a:prstGeom>
          <a:solidFill>
            <a:srgbClr val="1B43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100" b="1" i="0">
                <a:solidFill>
                  <a:srgbClr val="FFFFFF"/>
                </a:solidFill>
                <a:latin typeface="Calibri"/>
              </a:rPr>
              <a:t>Two cost functions   ·   two cadences   ·   one underlying model serving both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7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20040"/>
            <a:ext cx="365760" cy="320040"/>
          </a:xfrm>
          <a:prstGeom prst="rect">
            <a:avLst/>
          </a:prstGeom>
          <a:solidFill>
            <a:srgbClr val="1B43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100" b="1" i="0">
                <a:solidFill>
                  <a:srgbClr val="FFFFFF"/>
                </a:solidFill>
                <a:latin typeface="Calibri"/>
              </a:rPr>
              <a:t>02</a:t>
            </a:r>
          </a:p>
        </p:txBody>
      </p:sp>
      <p:sp>
        <p:nvSpPr>
          <p:cNvPr id="4" name="TextBox 3"/>
          <p:cNvSpPr txBox="1"/>
          <p:nvPr/>
        </p:nvSpPr>
        <p:spPr>
          <a:xfrm>
            <a:off x="822960" y="365760"/>
            <a:ext cx="6400800" cy="274320"/>
          </a:xfrm>
          <a:prstGeom prst="rect">
            <a:avLst/>
          </a:prstGeom>
          <a:noFill/>
        </p:spPr>
        <p:txBody>
          <a:bodyPr wrap="square" anchor="t" lIns="54864" rIns="54864" tIns="36576" bIns="36576">
            <a:spAutoFit/>
          </a:bodyPr>
          <a:lstStyle/>
          <a:p>
            <a:pPr algn="l"/>
            <a:r>
              <a:rPr sz="900" b="0" i="0">
                <a:solidFill>
                  <a:srgbClr val="40916C"/>
                </a:solidFill>
                <a:latin typeface="Calibri"/>
              </a:rPr>
              <a:t>CS611 MLE — Group Project   |   The Dataset</a:t>
            </a:r>
          </a:p>
        </p:txBody>
      </p:sp>
      <p:sp>
        <p:nvSpPr>
          <p:cNvPr id="5" name="TextBox 4"/>
          <p:cNvSpPr txBox="1"/>
          <p:nvPr/>
        </p:nvSpPr>
        <p:spPr>
          <a:xfrm>
            <a:off x="365760" y="713232"/>
            <a:ext cx="8229600" cy="548640"/>
          </a:xfrm>
          <a:prstGeom prst="rect">
            <a:avLst/>
          </a:prstGeom>
          <a:noFill/>
        </p:spPr>
        <p:txBody>
          <a:bodyPr wrap="square" anchor="t" lIns="54864" rIns="54864" tIns="36576" bIns="36576">
            <a:spAutoFit/>
          </a:bodyPr>
          <a:lstStyle/>
          <a:p>
            <a:pPr algn="l"/>
            <a:r>
              <a:rPr sz="2600" b="1" i="0">
                <a:solidFill>
                  <a:srgbClr val="1B4332"/>
                </a:solidFill>
                <a:latin typeface="Georgia"/>
              </a:rPr>
              <a:t>The dataset</a:t>
            </a:r>
          </a:p>
        </p:txBody>
      </p:sp>
      <p:sp>
        <p:nvSpPr>
          <p:cNvPr id="6" name="Rectangle 5"/>
          <p:cNvSpPr/>
          <p:nvPr/>
        </p:nvSpPr>
        <p:spPr>
          <a:xfrm>
            <a:off x="365760" y="1371600"/>
            <a:ext cx="4069080" cy="1691640"/>
          </a:xfrm>
          <a:prstGeom prst="rect">
            <a:avLst/>
          </a:prstGeom>
          <a:solidFill>
            <a:srgbClr val="FFFFFF"/>
          </a:solidFill>
          <a:ln w="9525">
            <a:solidFill>
              <a:srgbClr val="C9D3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371600"/>
            <a:ext cx="4069080" cy="274320"/>
          </a:xfrm>
          <a:prstGeom prst="rect">
            <a:avLst/>
          </a:prstGeom>
          <a:solidFill>
            <a:srgbClr val="1B43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l"/>
            <a:r>
              <a:rPr sz="900" b="1" i="0">
                <a:solidFill>
                  <a:srgbClr val="FFFFFF"/>
                </a:solidFill>
                <a:latin typeface="Calibri"/>
              </a:rPr>
              <a:t>ANCHOR</a:t>
            </a:r>
          </a:p>
        </p:txBody>
      </p:sp>
      <p:sp>
        <p:nvSpPr>
          <p:cNvPr id="8" name="TextBox 7"/>
          <p:cNvSpPr txBox="1"/>
          <p:nvPr/>
        </p:nvSpPr>
        <p:spPr>
          <a:xfrm>
            <a:off x="502920" y="1719072"/>
            <a:ext cx="3794760" cy="292608"/>
          </a:xfrm>
          <a:prstGeom prst="rect">
            <a:avLst/>
          </a:prstGeom>
          <a:noFill/>
        </p:spPr>
        <p:txBody>
          <a:bodyPr wrap="square" anchor="t" lIns="54864" rIns="54864" tIns="36576" bIns="36576">
            <a:spAutoFit/>
          </a:bodyPr>
          <a:lstStyle/>
          <a:p>
            <a:pPr algn="l"/>
            <a:r>
              <a:rPr sz="1150" b="1" i="0">
                <a:solidFill>
                  <a:srgbClr val="1B4332"/>
                </a:solidFill>
                <a:latin typeface="Calibri"/>
              </a:rPr>
              <a:t>SGCharts Dengue Cluster Snapshots</a:t>
            </a:r>
          </a:p>
        </p:txBody>
      </p:sp>
      <p:sp>
        <p:nvSpPr>
          <p:cNvPr id="9" name="TextBox 8"/>
          <p:cNvSpPr txBox="1"/>
          <p:nvPr/>
        </p:nvSpPr>
        <p:spPr>
          <a:xfrm>
            <a:off x="502920" y="1975104"/>
            <a:ext cx="3794760" cy="228600"/>
          </a:xfrm>
          <a:prstGeom prst="rect">
            <a:avLst/>
          </a:prstGeom>
          <a:noFill/>
        </p:spPr>
        <p:txBody>
          <a:bodyPr wrap="square" anchor="t" lIns="54864" rIns="54864" tIns="36576" bIns="36576">
            <a:spAutoFit/>
          </a:bodyPr>
          <a:lstStyle/>
          <a:p>
            <a:pPr algn="l"/>
            <a:r>
              <a:rPr sz="850" b="0" i="1">
                <a:solidFill>
                  <a:srgbClr val="6B7A7A"/>
                </a:solidFill>
                <a:latin typeface="Calibri"/>
              </a:rPr>
              <a:t>May 2013 → Nov 2020  ·  250+ bi-weekly snapshots  ·  Community CSV</a:t>
            </a:r>
          </a:p>
        </p:txBody>
      </p:sp>
      <p:sp>
        <p:nvSpPr>
          <p:cNvPr id="10" name="TextBox 9"/>
          <p:cNvSpPr txBox="1"/>
          <p:nvPr/>
        </p:nvSpPr>
        <p:spPr>
          <a:xfrm>
            <a:off x="502920" y="2212848"/>
            <a:ext cx="3794760" cy="777240"/>
          </a:xfrm>
          <a:prstGeom prst="rect">
            <a:avLst/>
          </a:prstGeom>
          <a:noFill/>
        </p:spPr>
        <p:txBody>
          <a:bodyPr wrap="square" anchor="t" lIns="54864" rIns="54864" tIns="36576" bIns="36576">
            <a:spAutoFit/>
          </a:bodyPr>
          <a:lstStyle/>
          <a:p>
            <a:pPr algn="l">
              <a:spcAft>
                <a:spcPts val="200"/>
              </a:spcAft>
            </a:pPr>
            <a:r>
              <a:rPr sz="850" b="0" i="0">
                <a:solidFill>
                  <a:srgbClr val="2D3A3A"/>
                </a:solidFill>
                <a:latin typeface="Calibri"/>
              </a:rPr>
              <a:t>•  Lat/long cluster boundaries + case counts</a:t>
            </a:r>
          </a:p>
          <a:p>
            <a:pPr algn="l">
              <a:spcAft>
                <a:spcPts val="200"/>
              </a:spcAft>
            </a:pPr>
            <a:r>
              <a:rPr sz="850" b="0" i="0">
                <a:solidFill>
                  <a:srgbClr val="2D3A3A"/>
                </a:solidFill>
                <a:latin typeface="Calibri"/>
              </a:rPr>
              <a:t>•  7 years of real spatial cluster data</a:t>
            </a:r>
          </a:p>
          <a:p>
            <a:pPr algn="l">
              <a:spcAft>
                <a:spcPts val="200"/>
              </a:spcAft>
            </a:pPr>
            <a:r>
              <a:rPr sz="850" b="0" i="0">
                <a:solidFill>
                  <a:srgbClr val="2D3A3A"/>
                </a:solidFill>
                <a:latin typeface="Calibri"/>
              </a:rPr>
              <a:t>•  Covers 2020 record outbreak (35k+ cases) — concept drift event</a:t>
            </a:r>
          </a:p>
        </p:txBody>
      </p:sp>
      <p:sp>
        <p:nvSpPr>
          <p:cNvPr id="11" name="Rectangle 10"/>
          <p:cNvSpPr/>
          <p:nvPr/>
        </p:nvSpPr>
        <p:spPr>
          <a:xfrm>
            <a:off x="4709160" y="1371600"/>
            <a:ext cx="4069080" cy="1691640"/>
          </a:xfrm>
          <a:prstGeom prst="rect">
            <a:avLst/>
          </a:prstGeom>
          <a:solidFill>
            <a:srgbClr val="FFFFFF"/>
          </a:solidFill>
          <a:ln w="9525">
            <a:solidFill>
              <a:srgbClr val="C9D3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709160" y="1371600"/>
            <a:ext cx="4069080" cy="274320"/>
          </a:xfrm>
          <a:prstGeom prst="rect">
            <a:avLst/>
          </a:prstGeom>
          <a:solidFill>
            <a:srgbClr val="40916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l"/>
            <a:r>
              <a:rPr sz="900" b="1" i="0">
                <a:solidFill>
                  <a:srgbClr val="FFFFFF"/>
                </a:solidFill>
                <a:latin typeface="Calibri"/>
              </a:rPr>
              <a:t>AUXILIARY  ·  WEATHER</a:t>
            </a:r>
          </a:p>
        </p:txBody>
      </p:sp>
      <p:sp>
        <p:nvSpPr>
          <p:cNvPr id="13" name="TextBox 12"/>
          <p:cNvSpPr txBox="1"/>
          <p:nvPr/>
        </p:nvSpPr>
        <p:spPr>
          <a:xfrm>
            <a:off x="4846320" y="1719072"/>
            <a:ext cx="3794760" cy="292608"/>
          </a:xfrm>
          <a:prstGeom prst="rect">
            <a:avLst/>
          </a:prstGeom>
          <a:noFill/>
        </p:spPr>
        <p:txBody>
          <a:bodyPr wrap="square" anchor="t" lIns="54864" rIns="54864" tIns="36576" bIns="36576">
            <a:spAutoFit/>
          </a:bodyPr>
          <a:lstStyle/>
          <a:p>
            <a:pPr algn="l"/>
            <a:r>
              <a:rPr sz="1150" b="1" i="0">
                <a:solidFill>
                  <a:srgbClr val="1B4332"/>
                </a:solidFill>
                <a:latin typeface="Calibri"/>
              </a:rPr>
              <a:t>MSS Weather Station Records</a:t>
            </a:r>
          </a:p>
        </p:txBody>
      </p:sp>
      <p:sp>
        <p:nvSpPr>
          <p:cNvPr id="14" name="TextBox 13"/>
          <p:cNvSpPr txBox="1"/>
          <p:nvPr/>
        </p:nvSpPr>
        <p:spPr>
          <a:xfrm>
            <a:off x="4846320" y="1975104"/>
            <a:ext cx="3794760" cy="228600"/>
          </a:xfrm>
          <a:prstGeom prst="rect">
            <a:avLst/>
          </a:prstGeom>
          <a:noFill/>
        </p:spPr>
        <p:txBody>
          <a:bodyPr wrap="square" anchor="t" lIns="54864" rIns="54864" tIns="36576" bIns="36576">
            <a:spAutoFit/>
          </a:bodyPr>
          <a:lstStyle/>
          <a:p>
            <a:pPr algn="l"/>
            <a:r>
              <a:rPr sz="850" b="0" i="1">
                <a:solidFill>
                  <a:srgbClr val="6B7A7A"/>
                </a:solidFill>
                <a:latin typeface="Calibri"/>
              </a:rPr>
              <a:t>Met Service Singapore  ·  station-level daily  ·  2013–present</a:t>
            </a:r>
          </a:p>
        </p:txBody>
      </p:sp>
      <p:sp>
        <p:nvSpPr>
          <p:cNvPr id="15" name="TextBox 14"/>
          <p:cNvSpPr txBox="1"/>
          <p:nvPr/>
        </p:nvSpPr>
        <p:spPr>
          <a:xfrm>
            <a:off x="4846320" y="2212848"/>
            <a:ext cx="3794760" cy="777240"/>
          </a:xfrm>
          <a:prstGeom prst="rect">
            <a:avLst/>
          </a:prstGeom>
          <a:noFill/>
        </p:spPr>
        <p:txBody>
          <a:bodyPr wrap="square" anchor="t" lIns="54864" rIns="54864" tIns="36576" bIns="36576">
            <a:spAutoFit/>
          </a:bodyPr>
          <a:lstStyle/>
          <a:p>
            <a:pPr algn="l">
              <a:spcAft>
                <a:spcPts val="200"/>
              </a:spcAft>
            </a:pPr>
            <a:r>
              <a:rPr sz="850" b="0" i="0">
                <a:solidFill>
                  <a:srgbClr val="2D3A3A"/>
                </a:solidFill>
                <a:latin typeface="Calibri"/>
              </a:rPr>
              <a:t>•  Rainfall, temperature, relative humidity per station</a:t>
            </a:r>
          </a:p>
          <a:p>
            <a:pPr algn="l">
              <a:spcAft>
                <a:spcPts val="200"/>
              </a:spcAft>
            </a:pPr>
            <a:r>
              <a:rPr sz="850" b="0" i="0">
                <a:solidFill>
                  <a:srgbClr val="2D3A3A"/>
                </a:solidFill>
                <a:latin typeface="Calibri"/>
              </a:rPr>
              <a:t>•  Replaces NEA realtime API — extends usable training window</a:t>
            </a:r>
          </a:p>
          <a:p>
            <a:pPr algn="l">
              <a:spcAft>
                <a:spcPts val="200"/>
              </a:spcAft>
            </a:pPr>
            <a:r>
              <a:rPr sz="850" b="0" i="0">
                <a:solidFill>
                  <a:srgbClr val="2D3A3A"/>
                </a:solidFill>
                <a:latin typeface="Calibri"/>
              </a:rPr>
              <a:t>•  Drives lag features: 1w / 2w / 4w rainfall, 4w temp mean</a:t>
            </a:r>
          </a:p>
        </p:txBody>
      </p:sp>
      <p:sp>
        <p:nvSpPr>
          <p:cNvPr id="16" name="Rectangle 15"/>
          <p:cNvSpPr/>
          <p:nvPr/>
        </p:nvSpPr>
        <p:spPr>
          <a:xfrm>
            <a:off x="365760" y="3154680"/>
            <a:ext cx="4069080" cy="1691640"/>
          </a:xfrm>
          <a:prstGeom prst="rect">
            <a:avLst/>
          </a:prstGeom>
          <a:solidFill>
            <a:srgbClr val="FFFFFF"/>
          </a:solidFill>
          <a:ln w="9525">
            <a:solidFill>
              <a:srgbClr val="C9D3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5760" y="3154680"/>
            <a:ext cx="4069080" cy="274320"/>
          </a:xfrm>
          <a:prstGeom prst="rect">
            <a:avLst/>
          </a:prstGeom>
          <a:solidFill>
            <a:srgbClr val="C9A1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l"/>
            <a:r>
              <a:rPr sz="900" b="1" i="0">
                <a:solidFill>
                  <a:srgbClr val="FFFFFF"/>
                </a:solidFill>
                <a:latin typeface="Calibri"/>
              </a:rPr>
              <a:t>AUXILIARY  ·  DEMOGRAPHICS + GEOMETRY</a:t>
            </a:r>
          </a:p>
        </p:txBody>
      </p:sp>
      <p:sp>
        <p:nvSpPr>
          <p:cNvPr id="18" name="TextBox 17"/>
          <p:cNvSpPr txBox="1"/>
          <p:nvPr/>
        </p:nvSpPr>
        <p:spPr>
          <a:xfrm>
            <a:off x="502920" y="3502152"/>
            <a:ext cx="3794760" cy="292608"/>
          </a:xfrm>
          <a:prstGeom prst="rect">
            <a:avLst/>
          </a:prstGeom>
          <a:noFill/>
        </p:spPr>
        <p:txBody>
          <a:bodyPr wrap="square" anchor="t" lIns="54864" rIns="54864" tIns="36576" bIns="36576">
            <a:spAutoFit/>
          </a:bodyPr>
          <a:lstStyle/>
          <a:p>
            <a:pPr algn="l"/>
            <a:r>
              <a:rPr sz="1150" b="1" i="0">
                <a:solidFill>
                  <a:srgbClr val="1B4332"/>
                </a:solidFill>
                <a:latin typeface="Calibri"/>
              </a:rPr>
              <a:t>SingStat Census + URA Master Plan</a:t>
            </a:r>
          </a:p>
        </p:txBody>
      </p:sp>
      <p:sp>
        <p:nvSpPr>
          <p:cNvPr id="19" name="TextBox 18"/>
          <p:cNvSpPr txBox="1"/>
          <p:nvPr/>
        </p:nvSpPr>
        <p:spPr>
          <a:xfrm>
            <a:off x="502920" y="3758184"/>
            <a:ext cx="3794760" cy="228600"/>
          </a:xfrm>
          <a:prstGeom prst="rect">
            <a:avLst/>
          </a:prstGeom>
          <a:noFill/>
        </p:spPr>
        <p:txBody>
          <a:bodyPr wrap="square" anchor="t" lIns="54864" rIns="54864" tIns="36576" bIns="36576">
            <a:spAutoFit/>
          </a:bodyPr>
          <a:lstStyle/>
          <a:p>
            <a:pPr algn="l"/>
            <a:r>
              <a:rPr sz="850" b="0" i="1">
                <a:solidFill>
                  <a:srgbClr val="6B7A7A"/>
                </a:solidFill>
                <a:latin typeface="Calibri"/>
              </a:rPr>
              <a:t>Census 2020  ·  URA Master Plan 2019 GeoJSON</a:t>
            </a:r>
          </a:p>
        </p:txBody>
      </p:sp>
      <p:sp>
        <p:nvSpPr>
          <p:cNvPr id="20" name="TextBox 19"/>
          <p:cNvSpPr txBox="1"/>
          <p:nvPr/>
        </p:nvSpPr>
        <p:spPr>
          <a:xfrm>
            <a:off x="502920" y="3995928"/>
            <a:ext cx="3794760" cy="777240"/>
          </a:xfrm>
          <a:prstGeom prst="rect">
            <a:avLst/>
          </a:prstGeom>
          <a:noFill/>
        </p:spPr>
        <p:txBody>
          <a:bodyPr wrap="square" anchor="t" lIns="54864" rIns="54864" tIns="36576" bIns="36576">
            <a:spAutoFit/>
          </a:bodyPr>
          <a:lstStyle/>
          <a:p>
            <a:pPr algn="l">
              <a:spcAft>
                <a:spcPts val="200"/>
              </a:spcAft>
            </a:pPr>
            <a:r>
              <a:rPr sz="850" b="0" i="0">
                <a:solidFill>
                  <a:srgbClr val="2D3A3A"/>
                </a:solidFill>
                <a:latin typeface="Calibri"/>
              </a:rPr>
              <a:t>•  Subzone-level population, age, comorbidity proxies</a:t>
            </a:r>
          </a:p>
          <a:p>
            <a:pPr algn="l">
              <a:spcAft>
                <a:spcPts val="200"/>
              </a:spcAft>
            </a:pPr>
            <a:r>
              <a:rPr sz="850" b="0" i="0">
                <a:solidFill>
                  <a:srgbClr val="2D3A3A"/>
                </a:solidFill>
                <a:latin typeface="Calibri"/>
              </a:rPr>
              <a:t>•  Vulnerability index (% elderly + chronic) for tactical layer</a:t>
            </a:r>
          </a:p>
          <a:p>
            <a:pPr algn="l">
              <a:spcAft>
                <a:spcPts val="200"/>
              </a:spcAft>
            </a:pPr>
            <a:r>
              <a:rPr sz="850" b="0" i="0">
                <a:solidFill>
                  <a:srgbClr val="2D3A3A"/>
                </a:solidFill>
                <a:latin typeface="Calibri"/>
              </a:rPr>
              <a:t>•  URA polygons → spatial join target for label derivation</a:t>
            </a:r>
          </a:p>
        </p:txBody>
      </p:sp>
      <p:sp>
        <p:nvSpPr>
          <p:cNvPr id="21" name="Rectangle 20"/>
          <p:cNvSpPr/>
          <p:nvPr/>
        </p:nvSpPr>
        <p:spPr>
          <a:xfrm>
            <a:off x="4709160" y="3154680"/>
            <a:ext cx="4069080" cy="1691640"/>
          </a:xfrm>
          <a:prstGeom prst="rect">
            <a:avLst/>
          </a:prstGeom>
          <a:solidFill>
            <a:srgbClr val="FFFFFF"/>
          </a:solidFill>
          <a:ln w="9525">
            <a:solidFill>
              <a:srgbClr val="C9D3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709160" y="3154680"/>
            <a:ext cx="4069080" cy="274320"/>
          </a:xfrm>
          <a:prstGeom prst="rect">
            <a:avLst/>
          </a:prstGeom>
          <a:solidFill>
            <a:srgbClr val="B08D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l"/>
            <a:r>
              <a:rPr sz="900" b="1" i="0">
                <a:solidFill>
                  <a:srgbClr val="FFFFFF"/>
                </a:solidFill>
                <a:latin typeface="Calibri"/>
              </a:rPr>
              <a:t>LABEL</a:t>
            </a:r>
          </a:p>
        </p:txBody>
      </p:sp>
      <p:sp>
        <p:nvSpPr>
          <p:cNvPr id="23" name="TextBox 22"/>
          <p:cNvSpPr txBox="1"/>
          <p:nvPr/>
        </p:nvSpPr>
        <p:spPr>
          <a:xfrm>
            <a:off x="4846320" y="3502152"/>
            <a:ext cx="3794760" cy="292608"/>
          </a:xfrm>
          <a:prstGeom prst="rect">
            <a:avLst/>
          </a:prstGeom>
          <a:noFill/>
        </p:spPr>
        <p:txBody>
          <a:bodyPr wrap="square" anchor="t" lIns="54864" rIns="54864" tIns="36576" bIns="36576">
            <a:spAutoFit/>
          </a:bodyPr>
          <a:lstStyle/>
          <a:p>
            <a:pPr algn="l"/>
            <a:r>
              <a:rPr sz="1150" b="1" i="0">
                <a:solidFill>
                  <a:srgbClr val="1B4332"/>
                </a:solidFill>
                <a:latin typeface="Calibri"/>
              </a:rPr>
              <a:t>Spatial Join → Binary Label</a:t>
            </a:r>
          </a:p>
        </p:txBody>
      </p:sp>
      <p:sp>
        <p:nvSpPr>
          <p:cNvPr id="24" name="TextBox 23"/>
          <p:cNvSpPr txBox="1"/>
          <p:nvPr/>
        </p:nvSpPr>
        <p:spPr>
          <a:xfrm>
            <a:off x="4846320" y="3758184"/>
            <a:ext cx="3794760" cy="228600"/>
          </a:xfrm>
          <a:prstGeom prst="rect">
            <a:avLst/>
          </a:prstGeom>
          <a:noFill/>
        </p:spPr>
        <p:txBody>
          <a:bodyPr wrap="square" anchor="t" lIns="54864" rIns="54864" tIns="36576" bIns="36576">
            <a:spAutoFit/>
          </a:bodyPr>
          <a:lstStyle/>
          <a:p>
            <a:pPr algn="l"/>
            <a:r>
              <a:rPr sz="850" b="0" i="1">
                <a:solidFill>
                  <a:srgbClr val="6B7A7A"/>
                </a:solidFill>
                <a:latin typeface="Calibri"/>
              </a:rPr>
              <a:t>Derived from anchor  ·  fully transparent process</a:t>
            </a:r>
          </a:p>
        </p:txBody>
      </p:sp>
      <p:sp>
        <p:nvSpPr>
          <p:cNvPr id="25" name="TextBox 24"/>
          <p:cNvSpPr txBox="1"/>
          <p:nvPr/>
        </p:nvSpPr>
        <p:spPr>
          <a:xfrm>
            <a:off x="4846320" y="3995928"/>
            <a:ext cx="3794760" cy="777240"/>
          </a:xfrm>
          <a:prstGeom prst="rect">
            <a:avLst/>
          </a:prstGeom>
          <a:noFill/>
        </p:spPr>
        <p:txBody>
          <a:bodyPr wrap="square" anchor="t" lIns="54864" rIns="54864" tIns="36576" bIns="36576">
            <a:spAutoFit/>
          </a:bodyPr>
          <a:lstStyle/>
          <a:p>
            <a:pPr algn="l">
              <a:spcAft>
                <a:spcPts val="200"/>
              </a:spcAft>
            </a:pPr>
            <a:r>
              <a:rPr sz="850" b="0" i="0">
                <a:solidFill>
                  <a:srgbClr val="2D3A3A"/>
                </a:solidFill>
                <a:latin typeface="Calibri"/>
              </a:rPr>
              <a:t>•  URA subzones intersected with SGCharts cluster polygons</a:t>
            </a:r>
          </a:p>
          <a:p>
            <a:pPr algn="l">
              <a:spcAft>
                <a:spcPts val="200"/>
              </a:spcAft>
            </a:pPr>
            <a:r>
              <a:rPr sz="850" b="0" i="0">
                <a:solidFill>
                  <a:srgbClr val="2D3A3A"/>
                </a:solidFill>
                <a:latin typeface="Calibri"/>
              </a:rPr>
              <a:t>•  Label = 1 if active cluster in subzone in next 14 days</a:t>
            </a:r>
          </a:p>
          <a:p>
            <a:pPr algn="l">
              <a:spcAft>
                <a:spcPts val="200"/>
              </a:spcAft>
            </a:pPr>
            <a:r>
              <a:rPr sz="850" b="0" i="0">
                <a:solidFill>
                  <a:srgbClr val="2D3A3A"/>
                </a:solidFill>
                <a:latin typeface="Calibri"/>
              </a:rPr>
              <a:t>•  No synthetic data — every label traces to real cluster</a:t>
            </a:r>
          </a:p>
        </p:txBody>
      </p:sp>
      <p:sp>
        <p:nvSpPr>
          <p:cNvPr id="26" name="Rectangle 25"/>
          <p:cNvSpPr/>
          <p:nvPr/>
        </p:nvSpPr>
        <p:spPr>
          <a:xfrm>
            <a:off x="365760" y="4736592"/>
            <a:ext cx="8412480" cy="347472"/>
          </a:xfrm>
          <a:prstGeom prst="rect">
            <a:avLst/>
          </a:prstGeom>
          <a:solidFill>
            <a:srgbClr val="B84B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000" b="1" i="0">
                <a:solidFill>
                  <a:srgbClr val="FFFFFF"/>
                </a:solidFill>
                <a:latin typeface="Calibri"/>
              </a:rPr>
              <a:t>+ simulated  confirmed_cases  event stream feeds the real-time path — Postgres INSERT triggers LISTEN/NOTIFY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7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20040"/>
            <a:ext cx="365760" cy="320040"/>
          </a:xfrm>
          <a:prstGeom prst="rect">
            <a:avLst/>
          </a:prstGeom>
          <a:solidFill>
            <a:srgbClr val="1B43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100" b="1" i="0">
                <a:solidFill>
                  <a:srgbClr val="FFFFFF"/>
                </a:solidFill>
                <a:latin typeface="Calibri"/>
              </a:rPr>
              <a:t>03</a:t>
            </a:r>
          </a:p>
        </p:txBody>
      </p:sp>
      <p:sp>
        <p:nvSpPr>
          <p:cNvPr id="4" name="TextBox 3"/>
          <p:cNvSpPr txBox="1"/>
          <p:nvPr/>
        </p:nvSpPr>
        <p:spPr>
          <a:xfrm>
            <a:off x="822960" y="365760"/>
            <a:ext cx="6400800" cy="274320"/>
          </a:xfrm>
          <a:prstGeom prst="rect">
            <a:avLst/>
          </a:prstGeom>
          <a:noFill/>
        </p:spPr>
        <p:txBody>
          <a:bodyPr wrap="square" anchor="t" lIns="54864" rIns="54864" tIns="36576" bIns="36576">
            <a:spAutoFit/>
          </a:bodyPr>
          <a:lstStyle/>
          <a:p>
            <a:pPr algn="l"/>
            <a:r>
              <a:rPr sz="900" b="0" i="0">
                <a:solidFill>
                  <a:srgbClr val="40916C"/>
                </a:solidFill>
                <a:latin typeface="Calibri"/>
              </a:rPr>
              <a:t>CS611 MLE — Group Project   |   Users &amp; System Use</a:t>
            </a:r>
          </a:p>
        </p:txBody>
      </p:sp>
      <p:sp>
        <p:nvSpPr>
          <p:cNvPr id="5" name="TextBox 4"/>
          <p:cNvSpPr txBox="1"/>
          <p:nvPr/>
        </p:nvSpPr>
        <p:spPr>
          <a:xfrm>
            <a:off x="365760" y="713232"/>
            <a:ext cx="8229600" cy="548640"/>
          </a:xfrm>
          <a:prstGeom prst="rect">
            <a:avLst/>
          </a:prstGeom>
          <a:noFill/>
        </p:spPr>
        <p:txBody>
          <a:bodyPr wrap="square" anchor="t" lIns="54864" rIns="54864" tIns="36576" bIns="36576">
            <a:spAutoFit/>
          </a:bodyPr>
          <a:lstStyle/>
          <a:p>
            <a:pPr algn="l"/>
            <a:r>
              <a:rPr sz="2600" b="1" i="0">
                <a:solidFill>
                  <a:srgbClr val="1B4332"/>
                </a:solidFill>
                <a:latin typeface="Georgia"/>
              </a:rPr>
              <a:t>Users and how they consume the system</a:t>
            </a:r>
          </a:p>
        </p:txBody>
      </p:sp>
      <p:sp>
        <p:nvSpPr>
          <p:cNvPr id="6" name="Rectangle 5"/>
          <p:cNvSpPr/>
          <p:nvPr/>
        </p:nvSpPr>
        <p:spPr>
          <a:xfrm>
            <a:off x="365760" y="1325880"/>
            <a:ext cx="4069080" cy="1691640"/>
          </a:xfrm>
          <a:prstGeom prst="rect">
            <a:avLst/>
          </a:prstGeom>
          <a:solidFill>
            <a:srgbClr val="FFFFFF"/>
          </a:solidFill>
          <a:ln w="9525">
            <a:solidFill>
              <a:srgbClr val="C9D3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325880"/>
            <a:ext cx="73152" cy="1691640"/>
          </a:xfrm>
          <a:prstGeom prst="rect">
            <a:avLst/>
          </a:prstGeom>
          <a:solidFill>
            <a:srgbClr val="1B4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435607"/>
            <a:ext cx="3749040" cy="292608"/>
          </a:xfrm>
          <a:prstGeom prst="rect">
            <a:avLst/>
          </a:prstGeom>
          <a:noFill/>
        </p:spPr>
        <p:txBody>
          <a:bodyPr wrap="square" anchor="t" lIns="54864" rIns="54864" tIns="36576" bIns="36576">
            <a:spAutoFit/>
          </a:bodyPr>
          <a:lstStyle/>
          <a:p>
            <a:pPr algn="l"/>
            <a:r>
              <a:rPr sz="1200" b="1" i="0">
                <a:solidFill>
                  <a:srgbClr val="1B4332"/>
                </a:solidFill>
                <a:latin typeface="Calibri"/>
              </a:rPr>
              <a:t>NEA Operations Team</a:t>
            </a:r>
          </a:p>
        </p:txBody>
      </p:sp>
      <p:sp>
        <p:nvSpPr>
          <p:cNvPr id="9" name="TextBox 8"/>
          <p:cNvSpPr txBox="1"/>
          <p:nvPr/>
        </p:nvSpPr>
        <p:spPr>
          <a:xfrm>
            <a:off x="566928" y="1691640"/>
            <a:ext cx="3749040" cy="201168"/>
          </a:xfrm>
          <a:prstGeom prst="rect">
            <a:avLst/>
          </a:prstGeom>
          <a:noFill/>
        </p:spPr>
        <p:txBody>
          <a:bodyPr wrap="square" anchor="t" lIns="54864" rIns="54864" tIns="36576" bIns="36576">
            <a:spAutoFit/>
          </a:bodyPr>
          <a:lstStyle/>
          <a:p>
            <a:pPr algn="l"/>
            <a:r>
              <a:rPr sz="800" b="1" i="0">
                <a:solidFill>
                  <a:srgbClr val="1B4332"/>
                </a:solidFill>
                <a:latin typeface="Calibri"/>
              </a:rPr>
              <a:t>STRATEGIC LOOP  ·  PRIMARY USER</a:t>
            </a:r>
          </a:p>
        </p:txBody>
      </p:sp>
      <p:sp>
        <p:nvSpPr>
          <p:cNvPr id="10" name="TextBox 9"/>
          <p:cNvSpPr txBox="1"/>
          <p:nvPr/>
        </p:nvSpPr>
        <p:spPr>
          <a:xfrm>
            <a:off x="566928" y="1984248"/>
            <a:ext cx="822960" cy="228600"/>
          </a:xfrm>
          <a:prstGeom prst="rect">
            <a:avLst/>
          </a:prstGeom>
          <a:noFill/>
        </p:spPr>
        <p:txBody>
          <a:bodyPr wrap="square" anchor="t" lIns="54864" rIns="54864" tIns="36576" bIns="36576">
            <a:spAutoFit/>
          </a:bodyPr>
          <a:lstStyle/>
          <a:p>
            <a:pPr algn="l"/>
            <a:r>
              <a:rPr sz="800" b="1" i="0">
                <a:solidFill>
                  <a:srgbClr val="6B7A7A"/>
                </a:solidFill>
                <a:latin typeface="Calibri"/>
              </a:rPr>
              <a:t>When</a:t>
            </a:r>
          </a:p>
        </p:txBody>
      </p:sp>
      <p:sp>
        <p:nvSpPr>
          <p:cNvPr id="11" name="TextBox 10"/>
          <p:cNvSpPr txBox="1"/>
          <p:nvPr/>
        </p:nvSpPr>
        <p:spPr>
          <a:xfrm>
            <a:off x="1325880" y="1984248"/>
            <a:ext cx="2971800" cy="365760"/>
          </a:xfrm>
          <a:prstGeom prst="rect">
            <a:avLst/>
          </a:prstGeom>
          <a:noFill/>
        </p:spPr>
        <p:txBody>
          <a:bodyPr wrap="square" anchor="t" lIns="54864" rIns="54864" tIns="36576" bIns="36576">
            <a:spAutoFit/>
          </a:bodyPr>
          <a:lstStyle/>
          <a:p>
            <a:pPr algn="l"/>
            <a:r>
              <a:rPr sz="900" b="0" i="0">
                <a:solidFill>
                  <a:srgbClr val="2D3A3A"/>
                </a:solidFill>
                <a:latin typeface="Calibri"/>
              </a:rPr>
              <a:t>Weekly — every Monday morning</a:t>
            </a:r>
          </a:p>
        </p:txBody>
      </p:sp>
      <p:sp>
        <p:nvSpPr>
          <p:cNvPr id="12" name="TextBox 11"/>
          <p:cNvSpPr txBox="1"/>
          <p:nvPr/>
        </p:nvSpPr>
        <p:spPr>
          <a:xfrm>
            <a:off x="566928" y="2313432"/>
            <a:ext cx="822960" cy="228600"/>
          </a:xfrm>
          <a:prstGeom prst="rect">
            <a:avLst/>
          </a:prstGeom>
          <a:noFill/>
        </p:spPr>
        <p:txBody>
          <a:bodyPr wrap="square" anchor="t" lIns="54864" rIns="54864" tIns="36576" bIns="36576">
            <a:spAutoFit/>
          </a:bodyPr>
          <a:lstStyle/>
          <a:p>
            <a:pPr algn="l"/>
            <a:r>
              <a:rPr sz="800" b="1" i="0">
                <a:solidFill>
                  <a:srgbClr val="6B7A7A"/>
                </a:solidFill>
                <a:latin typeface="Calibri"/>
              </a:rPr>
              <a:t>Receives</a:t>
            </a:r>
          </a:p>
        </p:txBody>
      </p:sp>
      <p:sp>
        <p:nvSpPr>
          <p:cNvPr id="13" name="TextBox 12"/>
          <p:cNvSpPr txBox="1"/>
          <p:nvPr/>
        </p:nvSpPr>
        <p:spPr>
          <a:xfrm>
            <a:off x="1325880" y="2313432"/>
            <a:ext cx="2971800" cy="365760"/>
          </a:xfrm>
          <a:prstGeom prst="rect">
            <a:avLst/>
          </a:prstGeom>
          <a:noFill/>
        </p:spPr>
        <p:txBody>
          <a:bodyPr wrap="square" anchor="t" lIns="54864" rIns="54864" tIns="36576" bIns="36576">
            <a:spAutoFit/>
          </a:bodyPr>
          <a:lstStyle/>
          <a:p>
            <a:pPr algn="l"/>
            <a:r>
              <a:rPr sz="900" b="0" i="0">
                <a:solidFill>
                  <a:srgbClr val="2D3A3A"/>
                </a:solidFill>
                <a:latin typeface="Calibri"/>
              </a:rPr>
              <a:t>Risk map: 330 subzones colour-coded Low/Med/High</a:t>
            </a:r>
          </a:p>
        </p:txBody>
      </p:sp>
      <p:sp>
        <p:nvSpPr>
          <p:cNvPr id="14" name="TextBox 13"/>
          <p:cNvSpPr txBox="1"/>
          <p:nvPr/>
        </p:nvSpPr>
        <p:spPr>
          <a:xfrm>
            <a:off x="566928" y="2642615"/>
            <a:ext cx="822960" cy="228600"/>
          </a:xfrm>
          <a:prstGeom prst="rect">
            <a:avLst/>
          </a:prstGeom>
          <a:noFill/>
        </p:spPr>
        <p:txBody>
          <a:bodyPr wrap="square" anchor="t" lIns="54864" rIns="54864" tIns="36576" bIns="36576">
            <a:spAutoFit/>
          </a:bodyPr>
          <a:lstStyle/>
          <a:p>
            <a:pPr algn="l"/>
            <a:r>
              <a:rPr sz="800" b="1" i="0">
                <a:solidFill>
                  <a:srgbClr val="6B7A7A"/>
                </a:solidFill>
                <a:latin typeface="Calibri"/>
              </a:rPr>
              <a:t>Action</a:t>
            </a:r>
          </a:p>
        </p:txBody>
      </p:sp>
      <p:sp>
        <p:nvSpPr>
          <p:cNvPr id="15" name="TextBox 14"/>
          <p:cNvSpPr txBox="1"/>
          <p:nvPr/>
        </p:nvSpPr>
        <p:spPr>
          <a:xfrm>
            <a:off x="1325880" y="2642615"/>
            <a:ext cx="2971800" cy="365760"/>
          </a:xfrm>
          <a:prstGeom prst="rect">
            <a:avLst/>
          </a:prstGeom>
          <a:noFill/>
        </p:spPr>
        <p:txBody>
          <a:bodyPr wrap="square" anchor="t" lIns="54864" rIns="54864" tIns="36576" bIns="36576">
            <a:spAutoFit/>
          </a:bodyPr>
          <a:lstStyle/>
          <a:p>
            <a:pPr algn="l"/>
            <a:r>
              <a:rPr sz="900" b="0" i="0">
                <a:solidFill>
                  <a:srgbClr val="2D3A3A"/>
                </a:solidFill>
                <a:latin typeface="Calibri"/>
              </a:rPr>
              <a:t>Pre-deploy fogging teams to High-risk subzones</a:t>
            </a:r>
          </a:p>
        </p:txBody>
      </p:sp>
      <p:sp>
        <p:nvSpPr>
          <p:cNvPr id="16" name="Rectangle 15"/>
          <p:cNvSpPr/>
          <p:nvPr/>
        </p:nvSpPr>
        <p:spPr>
          <a:xfrm>
            <a:off x="4709160" y="1325880"/>
            <a:ext cx="4069080" cy="1691640"/>
          </a:xfrm>
          <a:prstGeom prst="rect">
            <a:avLst/>
          </a:prstGeom>
          <a:solidFill>
            <a:srgbClr val="FFFFFF"/>
          </a:solidFill>
          <a:ln w="9525">
            <a:solidFill>
              <a:srgbClr val="C9D3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709160" y="1325880"/>
            <a:ext cx="73152" cy="1691640"/>
          </a:xfrm>
          <a:prstGeom prst="rect">
            <a:avLst/>
          </a:prstGeom>
          <a:solidFill>
            <a:srgbClr val="4091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10328" y="1435607"/>
            <a:ext cx="3749040" cy="292608"/>
          </a:xfrm>
          <a:prstGeom prst="rect">
            <a:avLst/>
          </a:prstGeom>
          <a:noFill/>
        </p:spPr>
        <p:txBody>
          <a:bodyPr wrap="square" anchor="t" lIns="54864" rIns="54864" tIns="36576" bIns="36576">
            <a:spAutoFit/>
          </a:bodyPr>
          <a:lstStyle/>
          <a:p>
            <a:pPr algn="l"/>
            <a:r>
              <a:rPr sz="1200" b="1" i="0">
                <a:solidFill>
                  <a:srgbClr val="1B4332"/>
                </a:solidFill>
                <a:latin typeface="Calibri"/>
              </a:rPr>
              <a:t>Pest Control Operators</a:t>
            </a:r>
          </a:p>
        </p:txBody>
      </p:sp>
      <p:sp>
        <p:nvSpPr>
          <p:cNvPr id="19" name="TextBox 18"/>
          <p:cNvSpPr txBox="1"/>
          <p:nvPr/>
        </p:nvSpPr>
        <p:spPr>
          <a:xfrm>
            <a:off x="4910328" y="1691640"/>
            <a:ext cx="3749040" cy="201168"/>
          </a:xfrm>
          <a:prstGeom prst="rect">
            <a:avLst/>
          </a:prstGeom>
          <a:noFill/>
        </p:spPr>
        <p:txBody>
          <a:bodyPr wrap="square" anchor="t" lIns="54864" rIns="54864" tIns="36576" bIns="36576">
            <a:spAutoFit/>
          </a:bodyPr>
          <a:lstStyle/>
          <a:p>
            <a:pPr algn="l"/>
            <a:r>
              <a:rPr sz="800" b="1" i="0">
                <a:solidFill>
                  <a:srgbClr val="40916C"/>
                </a:solidFill>
                <a:latin typeface="Calibri"/>
              </a:rPr>
              <a:t>STRATEGIC LOOP  ·  SECONDARY USER</a:t>
            </a:r>
          </a:p>
        </p:txBody>
      </p:sp>
      <p:sp>
        <p:nvSpPr>
          <p:cNvPr id="20" name="TextBox 19"/>
          <p:cNvSpPr txBox="1"/>
          <p:nvPr/>
        </p:nvSpPr>
        <p:spPr>
          <a:xfrm>
            <a:off x="4910328" y="1984248"/>
            <a:ext cx="822960" cy="228600"/>
          </a:xfrm>
          <a:prstGeom prst="rect">
            <a:avLst/>
          </a:prstGeom>
          <a:noFill/>
        </p:spPr>
        <p:txBody>
          <a:bodyPr wrap="square" anchor="t" lIns="54864" rIns="54864" tIns="36576" bIns="36576">
            <a:spAutoFit/>
          </a:bodyPr>
          <a:lstStyle/>
          <a:p>
            <a:pPr algn="l"/>
            <a:r>
              <a:rPr sz="800" b="1" i="0">
                <a:solidFill>
                  <a:srgbClr val="6B7A7A"/>
                </a:solidFill>
                <a:latin typeface="Calibri"/>
              </a:rPr>
              <a:t>When</a:t>
            </a:r>
          </a:p>
        </p:txBody>
      </p:sp>
      <p:sp>
        <p:nvSpPr>
          <p:cNvPr id="21" name="TextBox 20"/>
          <p:cNvSpPr txBox="1"/>
          <p:nvPr/>
        </p:nvSpPr>
        <p:spPr>
          <a:xfrm>
            <a:off x="5669280" y="1984248"/>
            <a:ext cx="2971800" cy="365760"/>
          </a:xfrm>
          <a:prstGeom prst="rect">
            <a:avLst/>
          </a:prstGeom>
          <a:noFill/>
        </p:spPr>
        <p:txBody>
          <a:bodyPr wrap="square" anchor="t" lIns="54864" rIns="54864" tIns="36576" bIns="36576">
            <a:spAutoFit/>
          </a:bodyPr>
          <a:lstStyle/>
          <a:p>
            <a:pPr algn="l"/>
            <a:r>
              <a:rPr sz="900" b="0" i="0">
                <a:solidFill>
                  <a:srgbClr val="2D3A3A"/>
                </a:solidFill>
                <a:latin typeface="Calibri"/>
              </a:rPr>
              <a:t>Weekly — before scheduling fogging rounds</a:t>
            </a:r>
          </a:p>
        </p:txBody>
      </p:sp>
      <p:sp>
        <p:nvSpPr>
          <p:cNvPr id="22" name="TextBox 21"/>
          <p:cNvSpPr txBox="1"/>
          <p:nvPr/>
        </p:nvSpPr>
        <p:spPr>
          <a:xfrm>
            <a:off x="4910328" y="2313432"/>
            <a:ext cx="822960" cy="228600"/>
          </a:xfrm>
          <a:prstGeom prst="rect">
            <a:avLst/>
          </a:prstGeom>
          <a:noFill/>
        </p:spPr>
        <p:txBody>
          <a:bodyPr wrap="square" anchor="t" lIns="54864" rIns="54864" tIns="36576" bIns="36576">
            <a:spAutoFit/>
          </a:bodyPr>
          <a:lstStyle/>
          <a:p>
            <a:pPr algn="l"/>
            <a:r>
              <a:rPr sz="800" b="1" i="0">
                <a:solidFill>
                  <a:srgbClr val="6B7A7A"/>
                </a:solidFill>
                <a:latin typeface="Calibri"/>
              </a:rPr>
              <a:t>Receives</a:t>
            </a:r>
          </a:p>
        </p:txBody>
      </p:sp>
      <p:sp>
        <p:nvSpPr>
          <p:cNvPr id="23" name="TextBox 22"/>
          <p:cNvSpPr txBox="1"/>
          <p:nvPr/>
        </p:nvSpPr>
        <p:spPr>
          <a:xfrm>
            <a:off x="5669280" y="2313432"/>
            <a:ext cx="2971800" cy="365760"/>
          </a:xfrm>
          <a:prstGeom prst="rect">
            <a:avLst/>
          </a:prstGeom>
          <a:noFill/>
        </p:spPr>
        <p:txBody>
          <a:bodyPr wrap="square" anchor="t" lIns="54864" rIns="54864" tIns="36576" bIns="36576">
            <a:spAutoFit/>
          </a:bodyPr>
          <a:lstStyle/>
          <a:p>
            <a:pPr algn="l"/>
            <a:r>
              <a:rPr sz="900" b="0" i="0">
                <a:solidFill>
                  <a:srgbClr val="2D3A3A"/>
                </a:solidFill>
                <a:latin typeface="Calibri"/>
              </a:rPr>
              <a:t>Ranked list of high-risk subzones with confidence</a:t>
            </a:r>
          </a:p>
        </p:txBody>
      </p:sp>
      <p:sp>
        <p:nvSpPr>
          <p:cNvPr id="24" name="TextBox 23"/>
          <p:cNvSpPr txBox="1"/>
          <p:nvPr/>
        </p:nvSpPr>
        <p:spPr>
          <a:xfrm>
            <a:off x="4910328" y="2642615"/>
            <a:ext cx="822960" cy="228600"/>
          </a:xfrm>
          <a:prstGeom prst="rect">
            <a:avLst/>
          </a:prstGeom>
          <a:noFill/>
        </p:spPr>
        <p:txBody>
          <a:bodyPr wrap="square" anchor="t" lIns="54864" rIns="54864" tIns="36576" bIns="36576">
            <a:spAutoFit/>
          </a:bodyPr>
          <a:lstStyle/>
          <a:p>
            <a:pPr algn="l"/>
            <a:r>
              <a:rPr sz="800" b="1" i="0">
                <a:solidFill>
                  <a:srgbClr val="6B7A7A"/>
                </a:solidFill>
                <a:latin typeface="Calibri"/>
              </a:rPr>
              <a:t>Action</a:t>
            </a:r>
          </a:p>
        </p:txBody>
      </p:sp>
      <p:sp>
        <p:nvSpPr>
          <p:cNvPr id="25" name="TextBox 24"/>
          <p:cNvSpPr txBox="1"/>
          <p:nvPr/>
        </p:nvSpPr>
        <p:spPr>
          <a:xfrm>
            <a:off x="5669280" y="2642615"/>
            <a:ext cx="2971800" cy="365760"/>
          </a:xfrm>
          <a:prstGeom prst="rect">
            <a:avLst/>
          </a:prstGeom>
          <a:noFill/>
        </p:spPr>
        <p:txBody>
          <a:bodyPr wrap="square" anchor="t" lIns="54864" rIns="54864" tIns="36576" bIns="36576">
            <a:spAutoFit/>
          </a:bodyPr>
          <a:lstStyle/>
          <a:p>
            <a:pPr algn="l"/>
            <a:r>
              <a:rPr sz="900" b="0" i="0">
                <a:solidFill>
                  <a:srgbClr val="2D3A3A"/>
                </a:solidFill>
                <a:latin typeface="Calibri"/>
              </a:rPr>
              <a:t>Prioritise contracts, allocate crews to predicted hotspots</a:t>
            </a:r>
          </a:p>
        </p:txBody>
      </p:sp>
      <p:sp>
        <p:nvSpPr>
          <p:cNvPr id="26" name="Rectangle 25"/>
          <p:cNvSpPr/>
          <p:nvPr/>
        </p:nvSpPr>
        <p:spPr>
          <a:xfrm>
            <a:off x="365760" y="3108960"/>
            <a:ext cx="4069080" cy="1691640"/>
          </a:xfrm>
          <a:prstGeom prst="rect">
            <a:avLst/>
          </a:prstGeom>
          <a:solidFill>
            <a:srgbClr val="FFFFFF"/>
          </a:solidFill>
          <a:ln w="9525">
            <a:solidFill>
              <a:srgbClr val="C9D3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65760" y="3108960"/>
            <a:ext cx="73152" cy="1691640"/>
          </a:xfrm>
          <a:prstGeom prst="rect">
            <a:avLst/>
          </a:prstGeom>
          <a:solidFill>
            <a:srgbClr val="B84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3218688"/>
            <a:ext cx="3749040" cy="292608"/>
          </a:xfrm>
          <a:prstGeom prst="rect">
            <a:avLst/>
          </a:prstGeom>
          <a:noFill/>
        </p:spPr>
        <p:txBody>
          <a:bodyPr wrap="square" anchor="t" lIns="54864" rIns="54864" tIns="36576" bIns="36576">
            <a:spAutoFit/>
          </a:bodyPr>
          <a:lstStyle/>
          <a:p>
            <a:pPr algn="l"/>
            <a:r>
              <a:rPr sz="1200" b="1" i="0">
                <a:solidFill>
                  <a:srgbClr val="1B4332"/>
                </a:solidFill>
                <a:latin typeface="Calibri"/>
              </a:rPr>
              <a:t>CDC Officer at MOH</a:t>
            </a:r>
          </a:p>
        </p:txBody>
      </p:sp>
      <p:sp>
        <p:nvSpPr>
          <p:cNvPr id="29" name="TextBox 28"/>
          <p:cNvSpPr txBox="1"/>
          <p:nvPr/>
        </p:nvSpPr>
        <p:spPr>
          <a:xfrm>
            <a:off x="566928" y="3474720"/>
            <a:ext cx="3749040" cy="201168"/>
          </a:xfrm>
          <a:prstGeom prst="rect">
            <a:avLst/>
          </a:prstGeom>
          <a:noFill/>
        </p:spPr>
        <p:txBody>
          <a:bodyPr wrap="square" anchor="t" lIns="54864" rIns="54864" tIns="36576" bIns="36576">
            <a:spAutoFit/>
          </a:bodyPr>
          <a:lstStyle/>
          <a:p>
            <a:pPr algn="l"/>
            <a:r>
              <a:rPr sz="800" b="1" i="0">
                <a:solidFill>
                  <a:srgbClr val="B84B3C"/>
                </a:solidFill>
                <a:latin typeface="Calibri"/>
              </a:rPr>
              <a:t>TACTICAL LOOP  ·  NEW USER</a:t>
            </a:r>
          </a:p>
        </p:txBody>
      </p:sp>
      <p:sp>
        <p:nvSpPr>
          <p:cNvPr id="30" name="TextBox 29"/>
          <p:cNvSpPr txBox="1"/>
          <p:nvPr/>
        </p:nvSpPr>
        <p:spPr>
          <a:xfrm>
            <a:off x="566928" y="3767328"/>
            <a:ext cx="822960" cy="228600"/>
          </a:xfrm>
          <a:prstGeom prst="rect">
            <a:avLst/>
          </a:prstGeom>
          <a:noFill/>
        </p:spPr>
        <p:txBody>
          <a:bodyPr wrap="square" anchor="t" lIns="54864" rIns="54864" tIns="36576" bIns="36576">
            <a:spAutoFit/>
          </a:bodyPr>
          <a:lstStyle/>
          <a:p>
            <a:pPr algn="l"/>
            <a:r>
              <a:rPr sz="800" b="1" i="0">
                <a:solidFill>
                  <a:srgbClr val="6B7A7A"/>
                </a:solidFill>
                <a:latin typeface="Calibri"/>
              </a:rPr>
              <a:t>When</a:t>
            </a:r>
          </a:p>
        </p:txBody>
      </p:sp>
      <p:sp>
        <p:nvSpPr>
          <p:cNvPr id="31" name="TextBox 30"/>
          <p:cNvSpPr txBox="1"/>
          <p:nvPr/>
        </p:nvSpPr>
        <p:spPr>
          <a:xfrm>
            <a:off x="1325880" y="3767328"/>
            <a:ext cx="2971800" cy="365760"/>
          </a:xfrm>
          <a:prstGeom prst="rect">
            <a:avLst/>
          </a:prstGeom>
          <a:noFill/>
        </p:spPr>
        <p:txBody>
          <a:bodyPr wrap="square" anchor="t" lIns="54864" rIns="54864" tIns="36576" bIns="36576">
            <a:spAutoFit/>
          </a:bodyPr>
          <a:lstStyle/>
          <a:p>
            <a:pPr algn="l"/>
            <a:r>
              <a:rPr sz="900" b="0" i="0">
                <a:solidFill>
                  <a:srgbClr val="2D3A3A"/>
                </a:solidFill>
                <a:latin typeface="Calibri"/>
              </a:rPr>
              <a:t>Event-driven — per confirmed case notification</a:t>
            </a:r>
          </a:p>
        </p:txBody>
      </p:sp>
      <p:sp>
        <p:nvSpPr>
          <p:cNvPr id="32" name="TextBox 31"/>
          <p:cNvSpPr txBox="1"/>
          <p:nvPr/>
        </p:nvSpPr>
        <p:spPr>
          <a:xfrm>
            <a:off x="566928" y="4096512"/>
            <a:ext cx="822960" cy="228600"/>
          </a:xfrm>
          <a:prstGeom prst="rect">
            <a:avLst/>
          </a:prstGeom>
          <a:noFill/>
        </p:spPr>
        <p:txBody>
          <a:bodyPr wrap="square" anchor="t" lIns="54864" rIns="54864" tIns="36576" bIns="36576">
            <a:spAutoFit/>
          </a:bodyPr>
          <a:lstStyle/>
          <a:p>
            <a:pPr algn="l"/>
            <a:r>
              <a:rPr sz="800" b="1" i="0">
                <a:solidFill>
                  <a:srgbClr val="6B7A7A"/>
                </a:solidFill>
                <a:latin typeface="Calibri"/>
              </a:rPr>
              <a:t>Receives</a:t>
            </a:r>
          </a:p>
        </p:txBody>
      </p:sp>
      <p:sp>
        <p:nvSpPr>
          <p:cNvPr id="33" name="TextBox 32"/>
          <p:cNvSpPr txBox="1"/>
          <p:nvPr/>
        </p:nvSpPr>
        <p:spPr>
          <a:xfrm>
            <a:off x="1325880" y="4096512"/>
            <a:ext cx="2971800" cy="365760"/>
          </a:xfrm>
          <a:prstGeom prst="rect">
            <a:avLst/>
          </a:prstGeom>
          <a:noFill/>
        </p:spPr>
        <p:txBody>
          <a:bodyPr wrap="square" anchor="t" lIns="54864" rIns="54864" tIns="36576" bIns="36576">
            <a:spAutoFit/>
          </a:bodyPr>
          <a:lstStyle/>
          <a:p>
            <a:pPr algn="l"/>
            <a:r>
              <a:rPr sz="900" b="0" i="0">
                <a:solidFill>
                  <a:srgbClr val="2D3A3A"/>
                </a:solidFill>
                <a:latin typeface="Calibri"/>
              </a:rPr>
              <a:t>Real-time alert: score, vulnerability features, 200m radius</a:t>
            </a:r>
          </a:p>
        </p:txBody>
      </p:sp>
      <p:sp>
        <p:nvSpPr>
          <p:cNvPr id="34" name="TextBox 33"/>
          <p:cNvSpPr txBox="1"/>
          <p:nvPr/>
        </p:nvSpPr>
        <p:spPr>
          <a:xfrm>
            <a:off x="566928" y="4425696"/>
            <a:ext cx="822960" cy="228600"/>
          </a:xfrm>
          <a:prstGeom prst="rect">
            <a:avLst/>
          </a:prstGeom>
          <a:noFill/>
        </p:spPr>
        <p:txBody>
          <a:bodyPr wrap="square" anchor="t" lIns="54864" rIns="54864" tIns="36576" bIns="36576">
            <a:spAutoFit/>
          </a:bodyPr>
          <a:lstStyle/>
          <a:p>
            <a:pPr algn="l"/>
            <a:r>
              <a:rPr sz="800" b="1" i="0">
                <a:solidFill>
                  <a:srgbClr val="6B7A7A"/>
                </a:solidFill>
                <a:latin typeface="Calibri"/>
              </a:rPr>
              <a:t>Action</a:t>
            </a:r>
          </a:p>
        </p:txBody>
      </p:sp>
      <p:sp>
        <p:nvSpPr>
          <p:cNvPr id="35" name="TextBox 34"/>
          <p:cNvSpPr txBox="1"/>
          <p:nvPr/>
        </p:nvSpPr>
        <p:spPr>
          <a:xfrm>
            <a:off x="1325880" y="4425696"/>
            <a:ext cx="2971800" cy="365760"/>
          </a:xfrm>
          <a:prstGeom prst="rect">
            <a:avLst/>
          </a:prstGeom>
          <a:noFill/>
        </p:spPr>
        <p:txBody>
          <a:bodyPr wrap="square" anchor="t" lIns="54864" rIns="54864" tIns="36576" bIns="36576">
            <a:spAutoFit/>
          </a:bodyPr>
          <a:lstStyle/>
          <a:p>
            <a:pPr algn="l"/>
            <a:r>
              <a:rPr sz="900" b="0" i="0">
                <a:solidFill>
                  <a:srgbClr val="2D3A3A"/>
                </a:solidFill>
                <a:latin typeface="Calibri"/>
              </a:rPr>
              <a:t>Triage: home visit, advisory, testing van dispatch</a:t>
            </a:r>
          </a:p>
        </p:txBody>
      </p:sp>
      <p:sp>
        <p:nvSpPr>
          <p:cNvPr id="36" name="Rectangle 35"/>
          <p:cNvSpPr/>
          <p:nvPr/>
        </p:nvSpPr>
        <p:spPr>
          <a:xfrm>
            <a:off x="4709160" y="3108960"/>
            <a:ext cx="4069080" cy="1691640"/>
          </a:xfrm>
          <a:prstGeom prst="rect">
            <a:avLst/>
          </a:prstGeom>
          <a:solidFill>
            <a:srgbClr val="FFFFFF"/>
          </a:solidFill>
          <a:ln w="9525">
            <a:solidFill>
              <a:srgbClr val="C9D3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709160" y="3108960"/>
            <a:ext cx="73152" cy="1691640"/>
          </a:xfrm>
          <a:prstGeom prst="rect">
            <a:avLst/>
          </a:prstGeom>
          <a:solidFill>
            <a:srgbClr val="C9A1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910328" y="3218688"/>
            <a:ext cx="3749040" cy="292608"/>
          </a:xfrm>
          <a:prstGeom prst="rect">
            <a:avLst/>
          </a:prstGeom>
          <a:noFill/>
        </p:spPr>
        <p:txBody>
          <a:bodyPr wrap="square" anchor="t" lIns="54864" rIns="54864" tIns="36576" bIns="36576">
            <a:spAutoFit/>
          </a:bodyPr>
          <a:lstStyle/>
          <a:p>
            <a:pPr algn="l"/>
            <a:r>
              <a:rPr sz="1200" b="1" i="0">
                <a:solidFill>
                  <a:srgbClr val="1B4332"/>
                </a:solidFill>
                <a:latin typeface="Calibri"/>
              </a:rPr>
              <a:t>Internal Data / Ops Team</a:t>
            </a:r>
          </a:p>
        </p:txBody>
      </p:sp>
      <p:sp>
        <p:nvSpPr>
          <p:cNvPr id="39" name="TextBox 38"/>
          <p:cNvSpPr txBox="1"/>
          <p:nvPr/>
        </p:nvSpPr>
        <p:spPr>
          <a:xfrm>
            <a:off x="4910328" y="3474720"/>
            <a:ext cx="3749040" cy="201168"/>
          </a:xfrm>
          <a:prstGeom prst="rect">
            <a:avLst/>
          </a:prstGeom>
          <a:noFill/>
        </p:spPr>
        <p:txBody>
          <a:bodyPr wrap="square" anchor="t" lIns="54864" rIns="54864" tIns="36576" bIns="36576">
            <a:spAutoFit/>
          </a:bodyPr>
          <a:lstStyle/>
          <a:p>
            <a:pPr algn="l"/>
            <a:r>
              <a:rPr sz="800" b="1" i="0">
                <a:solidFill>
                  <a:srgbClr val="C9A146"/>
                </a:solidFill>
                <a:latin typeface="Calibri"/>
              </a:rPr>
              <a:t>INTERNAL  ·  TOOLING ONLY</a:t>
            </a:r>
          </a:p>
        </p:txBody>
      </p:sp>
      <p:sp>
        <p:nvSpPr>
          <p:cNvPr id="40" name="TextBox 39"/>
          <p:cNvSpPr txBox="1"/>
          <p:nvPr/>
        </p:nvSpPr>
        <p:spPr>
          <a:xfrm>
            <a:off x="4910328" y="3767328"/>
            <a:ext cx="822960" cy="228600"/>
          </a:xfrm>
          <a:prstGeom prst="rect">
            <a:avLst/>
          </a:prstGeom>
          <a:noFill/>
        </p:spPr>
        <p:txBody>
          <a:bodyPr wrap="square" anchor="t" lIns="54864" rIns="54864" tIns="36576" bIns="36576">
            <a:spAutoFit/>
          </a:bodyPr>
          <a:lstStyle/>
          <a:p>
            <a:pPr algn="l"/>
            <a:r>
              <a:rPr sz="800" b="1" i="0">
                <a:solidFill>
                  <a:srgbClr val="6B7A7A"/>
                </a:solidFill>
                <a:latin typeface="Calibri"/>
              </a:rPr>
              <a:t>When</a:t>
            </a:r>
          </a:p>
        </p:txBody>
      </p:sp>
      <p:sp>
        <p:nvSpPr>
          <p:cNvPr id="41" name="TextBox 40"/>
          <p:cNvSpPr txBox="1"/>
          <p:nvPr/>
        </p:nvSpPr>
        <p:spPr>
          <a:xfrm>
            <a:off x="5669280" y="3767328"/>
            <a:ext cx="2971800" cy="365760"/>
          </a:xfrm>
          <a:prstGeom prst="rect">
            <a:avLst/>
          </a:prstGeom>
          <a:noFill/>
        </p:spPr>
        <p:txBody>
          <a:bodyPr wrap="square" anchor="t" lIns="54864" rIns="54864" tIns="36576" bIns="36576">
            <a:spAutoFit/>
          </a:bodyPr>
          <a:lstStyle/>
          <a:p>
            <a:pPr algn="l"/>
            <a:r>
              <a:rPr sz="900" b="0" i="0">
                <a:solidFill>
                  <a:srgbClr val="2D3A3A"/>
                </a:solidFill>
                <a:latin typeface="Calibri"/>
              </a:rPr>
              <a:t>Ongoing — weekly monitoring + drift alerts</a:t>
            </a:r>
          </a:p>
        </p:txBody>
      </p:sp>
      <p:sp>
        <p:nvSpPr>
          <p:cNvPr id="42" name="TextBox 41"/>
          <p:cNvSpPr txBox="1"/>
          <p:nvPr/>
        </p:nvSpPr>
        <p:spPr>
          <a:xfrm>
            <a:off x="4910328" y="4096512"/>
            <a:ext cx="822960" cy="228600"/>
          </a:xfrm>
          <a:prstGeom prst="rect">
            <a:avLst/>
          </a:prstGeom>
          <a:noFill/>
        </p:spPr>
        <p:txBody>
          <a:bodyPr wrap="square" anchor="t" lIns="54864" rIns="54864" tIns="36576" bIns="36576">
            <a:spAutoFit/>
          </a:bodyPr>
          <a:lstStyle/>
          <a:p>
            <a:pPr algn="l"/>
            <a:r>
              <a:rPr sz="800" b="1" i="0">
                <a:solidFill>
                  <a:srgbClr val="6B7A7A"/>
                </a:solidFill>
                <a:latin typeface="Calibri"/>
              </a:rPr>
              <a:t>Receives</a:t>
            </a:r>
          </a:p>
        </p:txBody>
      </p:sp>
      <p:sp>
        <p:nvSpPr>
          <p:cNvPr id="43" name="TextBox 42"/>
          <p:cNvSpPr txBox="1"/>
          <p:nvPr/>
        </p:nvSpPr>
        <p:spPr>
          <a:xfrm>
            <a:off x="5669280" y="4096512"/>
            <a:ext cx="2971800" cy="365760"/>
          </a:xfrm>
          <a:prstGeom prst="rect">
            <a:avLst/>
          </a:prstGeom>
          <a:noFill/>
        </p:spPr>
        <p:txBody>
          <a:bodyPr wrap="square" anchor="t" lIns="54864" rIns="54864" tIns="36576" bIns="36576">
            <a:spAutoFit/>
          </a:bodyPr>
          <a:lstStyle/>
          <a:p>
            <a:pPr algn="l"/>
            <a:r>
              <a:rPr sz="900" b="0" i="0">
                <a:solidFill>
                  <a:srgbClr val="2D3A3A"/>
                </a:solidFill>
                <a:latin typeface="Calibri"/>
              </a:rPr>
              <a:t>Model performance dashboard: precision, recall, drift</a:t>
            </a:r>
          </a:p>
        </p:txBody>
      </p:sp>
      <p:sp>
        <p:nvSpPr>
          <p:cNvPr id="44" name="TextBox 43"/>
          <p:cNvSpPr txBox="1"/>
          <p:nvPr/>
        </p:nvSpPr>
        <p:spPr>
          <a:xfrm>
            <a:off x="4910328" y="4425696"/>
            <a:ext cx="822960" cy="228600"/>
          </a:xfrm>
          <a:prstGeom prst="rect">
            <a:avLst/>
          </a:prstGeom>
          <a:noFill/>
        </p:spPr>
        <p:txBody>
          <a:bodyPr wrap="square" anchor="t" lIns="54864" rIns="54864" tIns="36576" bIns="36576">
            <a:spAutoFit/>
          </a:bodyPr>
          <a:lstStyle/>
          <a:p>
            <a:pPr algn="l"/>
            <a:r>
              <a:rPr sz="800" b="1" i="0">
                <a:solidFill>
                  <a:srgbClr val="6B7A7A"/>
                </a:solidFill>
                <a:latin typeface="Calibri"/>
              </a:rPr>
              <a:t>Action</a:t>
            </a:r>
          </a:p>
        </p:txBody>
      </p:sp>
      <p:sp>
        <p:nvSpPr>
          <p:cNvPr id="45" name="TextBox 44"/>
          <p:cNvSpPr txBox="1"/>
          <p:nvPr/>
        </p:nvSpPr>
        <p:spPr>
          <a:xfrm>
            <a:off x="5669280" y="4425696"/>
            <a:ext cx="2971800" cy="365760"/>
          </a:xfrm>
          <a:prstGeom prst="rect">
            <a:avLst/>
          </a:prstGeom>
          <a:noFill/>
        </p:spPr>
        <p:txBody>
          <a:bodyPr wrap="square" anchor="t" lIns="54864" rIns="54864" tIns="36576" bIns="36576">
            <a:spAutoFit/>
          </a:bodyPr>
          <a:lstStyle/>
          <a:p>
            <a:pPr algn="l"/>
            <a:r>
              <a:rPr sz="900" b="0" i="0">
                <a:solidFill>
                  <a:srgbClr val="2D3A3A"/>
                </a:solidFill>
                <a:latin typeface="Calibri"/>
              </a:rPr>
              <a:t>Review pipeline health; trigger retraining when Gini drops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7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20040"/>
            <a:ext cx="365760" cy="320040"/>
          </a:xfrm>
          <a:prstGeom prst="rect">
            <a:avLst/>
          </a:prstGeom>
          <a:solidFill>
            <a:srgbClr val="1B43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100" b="1" i="0">
                <a:solidFill>
                  <a:srgbClr val="FFFFFF"/>
                </a:solidFill>
                <a:latin typeface="Calibri"/>
              </a:rPr>
              <a:t>04</a:t>
            </a:r>
          </a:p>
        </p:txBody>
      </p:sp>
      <p:sp>
        <p:nvSpPr>
          <p:cNvPr id="4" name="TextBox 3"/>
          <p:cNvSpPr txBox="1"/>
          <p:nvPr/>
        </p:nvSpPr>
        <p:spPr>
          <a:xfrm>
            <a:off x="822960" y="365760"/>
            <a:ext cx="6400800" cy="274320"/>
          </a:xfrm>
          <a:prstGeom prst="rect">
            <a:avLst/>
          </a:prstGeom>
          <a:noFill/>
        </p:spPr>
        <p:txBody>
          <a:bodyPr wrap="square" anchor="t" lIns="54864" rIns="54864" tIns="36576" bIns="36576">
            <a:spAutoFit/>
          </a:bodyPr>
          <a:lstStyle/>
          <a:p>
            <a:pPr algn="l"/>
            <a:r>
              <a:rPr sz="900" b="0" i="0">
                <a:solidFill>
                  <a:srgbClr val="40916C"/>
                </a:solidFill>
                <a:latin typeface="Calibri"/>
              </a:rPr>
              <a:t>CS611 MLE — Group Project   |   Architecture — Macro View</a:t>
            </a:r>
          </a:p>
        </p:txBody>
      </p:sp>
      <p:sp>
        <p:nvSpPr>
          <p:cNvPr id="5" name="TextBox 4"/>
          <p:cNvSpPr txBox="1"/>
          <p:nvPr/>
        </p:nvSpPr>
        <p:spPr>
          <a:xfrm>
            <a:off x="365760" y="713232"/>
            <a:ext cx="8229600" cy="548640"/>
          </a:xfrm>
          <a:prstGeom prst="rect">
            <a:avLst/>
          </a:prstGeom>
          <a:noFill/>
        </p:spPr>
        <p:txBody>
          <a:bodyPr wrap="square" anchor="t" lIns="54864" rIns="54864" tIns="36576" bIns="36576">
            <a:spAutoFit/>
          </a:bodyPr>
          <a:lstStyle/>
          <a:p>
            <a:pPr algn="l"/>
            <a:r>
              <a:rPr sz="2600" b="1" i="0">
                <a:solidFill>
                  <a:srgbClr val="1B4332"/>
                </a:solidFill>
                <a:latin typeface="Georgia"/>
              </a:rPr>
              <a:t>One model, two inference loops</a:t>
            </a:r>
          </a:p>
        </p:txBody>
      </p:sp>
      <p:sp>
        <p:nvSpPr>
          <p:cNvPr id="6" name="TextBox 5"/>
          <p:cNvSpPr txBox="1"/>
          <p:nvPr/>
        </p:nvSpPr>
        <p:spPr>
          <a:xfrm>
            <a:off x="365760" y="1280160"/>
            <a:ext cx="8412480" cy="274320"/>
          </a:xfrm>
          <a:prstGeom prst="rect">
            <a:avLst/>
          </a:prstGeom>
          <a:noFill/>
        </p:spPr>
        <p:txBody>
          <a:bodyPr wrap="square" anchor="t" lIns="54864" rIns="54864" tIns="36576" bIns="36576">
            <a:spAutoFit/>
          </a:bodyPr>
          <a:lstStyle/>
          <a:p>
            <a:pPr algn="l"/>
            <a:r>
              <a:rPr sz="1000" b="0" i="1">
                <a:solidFill>
                  <a:srgbClr val="4A5A5A"/>
                </a:solidFill>
                <a:latin typeface="Calibri"/>
              </a:rPr>
              <a:t>Shared predictive logic; different feature freshness, different decision thresholds, different downstream actions.</a:t>
            </a:r>
          </a:p>
        </p:txBody>
      </p:sp>
      <p:sp>
        <p:nvSpPr>
          <p:cNvPr id="7" name="Rectangle 6"/>
          <p:cNvSpPr/>
          <p:nvPr/>
        </p:nvSpPr>
        <p:spPr>
          <a:xfrm>
            <a:off x="365760" y="1691640"/>
            <a:ext cx="2286000" cy="274320"/>
          </a:xfrm>
          <a:prstGeom prst="rect">
            <a:avLst/>
          </a:prstGeom>
          <a:solidFill>
            <a:srgbClr val="6B7A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950" b="1" i="0">
                <a:solidFill>
                  <a:srgbClr val="FFFFFF"/>
                </a:solidFill>
                <a:latin typeface="Calibri"/>
              </a:rPr>
              <a:t>WHAT WE KNOW</a:t>
            </a:r>
          </a:p>
        </p:txBody>
      </p:sp>
      <p:sp>
        <p:nvSpPr>
          <p:cNvPr id="8" name="Rectangle 7"/>
          <p:cNvSpPr/>
          <p:nvPr/>
        </p:nvSpPr>
        <p:spPr>
          <a:xfrm>
            <a:off x="2834640" y="1691640"/>
            <a:ext cx="2468880" cy="274320"/>
          </a:xfrm>
          <a:prstGeom prst="rect">
            <a:avLst/>
          </a:prstGeom>
          <a:solidFill>
            <a:srgbClr val="1B43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950" b="1" i="0">
                <a:solidFill>
                  <a:srgbClr val="FFFFFF"/>
                </a:solidFill>
                <a:latin typeface="Calibri"/>
              </a:rPr>
              <a:t>WHAT WE PREDICT</a:t>
            </a:r>
          </a:p>
        </p:txBody>
      </p:sp>
      <p:sp>
        <p:nvSpPr>
          <p:cNvPr id="9" name="Rectangle 8"/>
          <p:cNvSpPr/>
          <p:nvPr/>
        </p:nvSpPr>
        <p:spPr>
          <a:xfrm>
            <a:off x="5486400" y="1691640"/>
            <a:ext cx="3291840" cy="274320"/>
          </a:xfrm>
          <a:prstGeom prst="rect">
            <a:avLst/>
          </a:prstGeom>
          <a:solidFill>
            <a:srgbClr val="1B43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950" b="1" i="0">
                <a:solidFill>
                  <a:srgbClr val="FFFFFF"/>
                </a:solidFill>
                <a:latin typeface="Calibri"/>
              </a:rPr>
              <a:t>WHAT WE DO</a:t>
            </a:r>
          </a:p>
        </p:txBody>
      </p:sp>
      <p:sp>
        <p:nvSpPr>
          <p:cNvPr id="10" name="Rectangle 9"/>
          <p:cNvSpPr/>
          <p:nvPr/>
        </p:nvSpPr>
        <p:spPr>
          <a:xfrm>
            <a:off x="457200" y="2148840"/>
            <a:ext cx="2103120" cy="411480"/>
          </a:xfrm>
          <a:prstGeom prst="rect">
            <a:avLst/>
          </a:prstGeom>
          <a:solidFill>
            <a:srgbClr val="FFFFFF"/>
          </a:solidFill>
          <a:ln w="9525">
            <a:solidFill>
              <a:srgbClr val="40916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148840"/>
            <a:ext cx="2103120" cy="411480"/>
          </a:xfrm>
          <a:prstGeom prst="rect">
            <a:avLst/>
          </a:prstGeom>
          <a:noFill/>
        </p:spPr>
        <p:txBody>
          <a:bodyPr wrap="square" anchor="ctr" lIns="54864" rIns="54864" tIns="36576" bIns="36576">
            <a:spAutoFit/>
          </a:bodyPr>
          <a:lstStyle/>
          <a:p>
            <a:pPr algn="ctr"/>
            <a:r>
              <a:rPr sz="950" b="1" i="0">
                <a:solidFill>
                  <a:srgbClr val="1B4332"/>
                </a:solidFill>
                <a:latin typeface="Calibri"/>
              </a:rPr>
              <a:t>Cluster history</a:t>
            </a:r>
          </a:p>
        </p:txBody>
      </p:sp>
      <p:sp>
        <p:nvSpPr>
          <p:cNvPr id="12" name="Rectangle 11"/>
          <p:cNvSpPr/>
          <p:nvPr/>
        </p:nvSpPr>
        <p:spPr>
          <a:xfrm>
            <a:off x="457200" y="2633472"/>
            <a:ext cx="2103120" cy="411480"/>
          </a:xfrm>
          <a:prstGeom prst="rect">
            <a:avLst/>
          </a:prstGeom>
          <a:solidFill>
            <a:srgbClr val="FFFFFF"/>
          </a:solidFill>
          <a:ln w="9525">
            <a:solidFill>
              <a:srgbClr val="40916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633472"/>
            <a:ext cx="2103120" cy="411480"/>
          </a:xfrm>
          <a:prstGeom prst="rect">
            <a:avLst/>
          </a:prstGeom>
          <a:noFill/>
        </p:spPr>
        <p:txBody>
          <a:bodyPr wrap="square" anchor="ctr" lIns="54864" rIns="54864" tIns="36576" bIns="36576">
            <a:spAutoFit/>
          </a:bodyPr>
          <a:lstStyle/>
          <a:p>
            <a:pPr algn="ctr"/>
            <a:r>
              <a:rPr sz="950" b="1" i="0">
                <a:solidFill>
                  <a:srgbClr val="1B4332"/>
                </a:solidFill>
                <a:latin typeface="Calibri"/>
              </a:rPr>
              <a:t>Weather</a:t>
            </a:r>
          </a:p>
        </p:txBody>
      </p:sp>
      <p:sp>
        <p:nvSpPr>
          <p:cNvPr id="14" name="Rectangle 13"/>
          <p:cNvSpPr/>
          <p:nvPr/>
        </p:nvSpPr>
        <p:spPr>
          <a:xfrm>
            <a:off x="457200" y="3118104"/>
            <a:ext cx="2103120" cy="411480"/>
          </a:xfrm>
          <a:prstGeom prst="rect">
            <a:avLst/>
          </a:prstGeom>
          <a:solidFill>
            <a:srgbClr val="FFFFFF"/>
          </a:solidFill>
          <a:ln w="9525">
            <a:solidFill>
              <a:srgbClr val="40916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3118104"/>
            <a:ext cx="2103120" cy="411480"/>
          </a:xfrm>
          <a:prstGeom prst="rect">
            <a:avLst/>
          </a:prstGeom>
          <a:noFill/>
        </p:spPr>
        <p:txBody>
          <a:bodyPr wrap="square" anchor="ctr" lIns="54864" rIns="54864" tIns="36576" bIns="36576">
            <a:spAutoFit/>
          </a:bodyPr>
          <a:lstStyle/>
          <a:p>
            <a:pPr algn="ctr"/>
            <a:r>
              <a:rPr sz="950" b="1" i="0">
                <a:solidFill>
                  <a:srgbClr val="1B4332"/>
                </a:solidFill>
                <a:latin typeface="Calibri"/>
              </a:rPr>
              <a:t>Demographics</a:t>
            </a:r>
          </a:p>
        </p:txBody>
      </p:sp>
      <p:sp>
        <p:nvSpPr>
          <p:cNvPr id="16" name="Rectangle 15"/>
          <p:cNvSpPr/>
          <p:nvPr/>
        </p:nvSpPr>
        <p:spPr>
          <a:xfrm>
            <a:off x="457200" y="3602736"/>
            <a:ext cx="2103120" cy="411480"/>
          </a:xfrm>
          <a:prstGeom prst="rect">
            <a:avLst/>
          </a:prstGeom>
          <a:solidFill>
            <a:srgbClr val="FFFFFF"/>
          </a:solidFill>
          <a:ln w="9525">
            <a:solidFill>
              <a:srgbClr val="40916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3602736"/>
            <a:ext cx="2103120" cy="411480"/>
          </a:xfrm>
          <a:prstGeom prst="rect">
            <a:avLst/>
          </a:prstGeom>
          <a:noFill/>
        </p:spPr>
        <p:txBody>
          <a:bodyPr wrap="square" anchor="ctr" lIns="54864" rIns="54864" tIns="36576" bIns="36576">
            <a:spAutoFit/>
          </a:bodyPr>
          <a:lstStyle/>
          <a:p>
            <a:pPr algn="ctr"/>
            <a:r>
              <a:rPr sz="950" b="1" i="0">
                <a:solidFill>
                  <a:srgbClr val="1B4332"/>
                </a:solidFill>
                <a:latin typeface="Calibri"/>
              </a:rPr>
              <a:t>Geography</a:t>
            </a:r>
          </a:p>
        </p:txBody>
      </p:sp>
      <p:sp>
        <p:nvSpPr>
          <p:cNvPr id="18" name="Rectangle 17"/>
          <p:cNvSpPr/>
          <p:nvPr/>
        </p:nvSpPr>
        <p:spPr>
          <a:xfrm>
            <a:off x="457200" y="4087368"/>
            <a:ext cx="2103120" cy="411480"/>
          </a:xfrm>
          <a:prstGeom prst="rect">
            <a:avLst/>
          </a:prstGeom>
          <a:solidFill>
            <a:srgbClr val="E8C8C0"/>
          </a:solidFill>
          <a:ln w="9525">
            <a:solidFill>
              <a:srgbClr val="B84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4087368"/>
            <a:ext cx="2103120" cy="411480"/>
          </a:xfrm>
          <a:prstGeom prst="rect">
            <a:avLst/>
          </a:prstGeom>
          <a:noFill/>
        </p:spPr>
        <p:txBody>
          <a:bodyPr wrap="square" anchor="ctr" lIns="54864" rIns="54864" tIns="36576" bIns="36576">
            <a:spAutoFit/>
          </a:bodyPr>
          <a:lstStyle/>
          <a:p>
            <a:pPr algn="ctr"/>
            <a:r>
              <a:rPr sz="950" b="1" i="0">
                <a:solidFill>
                  <a:srgbClr val="B84B3C"/>
                </a:solidFill>
                <a:latin typeface="Calibri"/>
              </a:rPr>
              <a:t>Confirmed cases  (live stream)</a:t>
            </a:r>
          </a:p>
        </p:txBody>
      </p:sp>
      <p:sp>
        <p:nvSpPr>
          <p:cNvPr id="20" name="TextBox 19"/>
          <p:cNvSpPr txBox="1"/>
          <p:nvPr/>
        </p:nvSpPr>
        <p:spPr>
          <a:xfrm>
            <a:off x="2834640" y="2240280"/>
            <a:ext cx="2468880" cy="274320"/>
          </a:xfrm>
          <a:prstGeom prst="rect">
            <a:avLst/>
          </a:prstGeom>
          <a:noFill/>
        </p:spPr>
        <p:txBody>
          <a:bodyPr wrap="square" anchor="t" lIns="54864" rIns="54864" tIns="36576" bIns="36576">
            <a:spAutoFit/>
          </a:bodyPr>
          <a:lstStyle/>
          <a:p>
            <a:pPr algn="ctr"/>
            <a:r>
              <a:rPr sz="900" b="0" i="1">
                <a:solidFill>
                  <a:srgbClr val="6B7A7A"/>
                </a:solidFill>
                <a:latin typeface="Calibri"/>
              </a:rPr>
              <a:t>Feature engineering</a:t>
            </a:r>
          </a:p>
        </p:txBody>
      </p:sp>
      <p:sp>
        <p:nvSpPr>
          <p:cNvPr id="21" name="Rounded Rectangle 20"/>
          <p:cNvSpPr/>
          <p:nvPr/>
        </p:nvSpPr>
        <p:spPr>
          <a:xfrm>
            <a:off x="2926080" y="2697480"/>
            <a:ext cx="2286000" cy="1280160"/>
          </a:xfrm>
          <a:prstGeom prst="roundRect">
            <a:avLst/>
          </a:prstGeom>
          <a:solidFill>
            <a:srgbClr val="1B43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400" b="1" i="0">
                <a:solidFill>
                  <a:srgbClr val="FFFFFF"/>
                </a:solidFill>
                <a:latin typeface="Georgia"/>
              </a:rPr>
              <a:t>Cluster Formation Model</a:t>
            </a:r>
          </a:p>
          <a:p>
            <a:pPr algn="l"/>
            <a:r>
              <a:rPr sz="600" b="0" i="0">
                <a:solidFill>
                  <a:srgbClr val="2D3A3A"/>
                </a:solidFill>
                <a:latin typeface="Calibri"/>
              </a:rPr>
              <a:t/>
            </a:r>
          </a:p>
          <a:p>
            <a:pPr algn="ctr"/>
            <a:r>
              <a:rPr sz="900" b="0" i="1">
                <a:solidFill>
                  <a:srgbClr val="95D5B2"/>
                </a:solidFill>
                <a:latin typeface="Calibri"/>
              </a:rPr>
              <a:t>P(active cluster in subzone S</a:t>
            </a:r>
          </a:p>
          <a:p>
            <a:pPr algn="ctr"/>
            <a:r>
              <a:rPr sz="900" b="0" i="1">
                <a:solidFill>
                  <a:srgbClr val="95D5B2"/>
                </a:solidFill>
                <a:latin typeface="Calibri"/>
              </a:rPr>
              <a:t>over next 14 days)</a:t>
            </a:r>
          </a:p>
        </p:txBody>
      </p:sp>
      <p:sp>
        <p:nvSpPr>
          <p:cNvPr id="22" name="TextBox 21"/>
          <p:cNvSpPr txBox="1"/>
          <p:nvPr/>
        </p:nvSpPr>
        <p:spPr>
          <a:xfrm>
            <a:off x="2834640" y="4023360"/>
            <a:ext cx="2468880" cy="411480"/>
          </a:xfrm>
          <a:prstGeom prst="rect">
            <a:avLst/>
          </a:prstGeom>
          <a:noFill/>
        </p:spPr>
        <p:txBody>
          <a:bodyPr wrap="square" anchor="t" lIns="54864" rIns="54864" tIns="36576" bIns="36576">
            <a:spAutoFit/>
          </a:bodyPr>
          <a:lstStyle/>
          <a:p>
            <a:pPr algn="ctr"/>
            <a:r>
              <a:rPr sz="900" b="1" i="0">
                <a:solidFill>
                  <a:srgbClr val="1B4332"/>
                </a:solidFill>
                <a:latin typeface="Calibri"/>
              </a:rPr>
              <a:t>One trained artifact —</a:t>
            </a:r>
          </a:p>
          <a:p>
            <a:pPr algn="ctr"/>
            <a:r>
              <a:rPr sz="900" b="1" i="0">
                <a:solidFill>
                  <a:srgbClr val="1B4332"/>
                </a:solidFill>
                <a:latin typeface="Calibri"/>
              </a:rPr>
              <a:t>served two ways</a:t>
            </a:r>
          </a:p>
        </p:txBody>
      </p:sp>
      <p:sp>
        <p:nvSpPr>
          <p:cNvPr id="23" name="Rounded Rectangle 22"/>
          <p:cNvSpPr/>
          <p:nvPr/>
        </p:nvSpPr>
        <p:spPr>
          <a:xfrm>
            <a:off x="5577840" y="2194560"/>
            <a:ext cx="3154680" cy="1005840"/>
          </a:xfrm>
          <a:prstGeom prst="roundRect">
            <a:avLst/>
          </a:prstGeom>
          <a:solidFill>
            <a:srgbClr val="FFFFFF"/>
          </a:solidFill>
          <a:ln w="19050">
            <a:solidFill>
              <a:srgbClr val="1B43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15000" y="2267712"/>
            <a:ext cx="2880360" cy="228600"/>
          </a:xfrm>
          <a:prstGeom prst="rect">
            <a:avLst/>
          </a:prstGeom>
          <a:noFill/>
        </p:spPr>
        <p:txBody>
          <a:bodyPr wrap="square" anchor="t" lIns="54864" rIns="54864" tIns="36576" bIns="36576">
            <a:spAutoFit/>
          </a:bodyPr>
          <a:lstStyle/>
          <a:p>
            <a:pPr algn="l"/>
            <a:r>
              <a:rPr sz="850" b="1" i="0">
                <a:solidFill>
                  <a:srgbClr val="1B4332"/>
                </a:solidFill>
                <a:latin typeface="Calibri"/>
              </a:rPr>
              <a:t>STRATEGIC LOOP   ·   WEEKLY BATCH</a:t>
            </a:r>
          </a:p>
        </p:txBody>
      </p:sp>
      <p:sp>
        <p:nvSpPr>
          <p:cNvPr id="25" name="TextBox 24"/>
          <p:cNvSpPr txBox="1"/>
          <p:nvPr/>
        </p:nvSpPr>
        <p:spPr>
          <a:xfrm>
            <a:off x="5715000" y="2487168"/>
            <a:ext cx="2880360" cy="320040"/>
          </a:xfrm>
          <a:prstGeom prst="rect">
            <a:avLst/>
          </a:prstGeom>
          <a:noFill/>
        </p:spPr>
        <p:txBody>
          <a:bodyPr wrap="square" anchor="t" lIns="54864" rIns="54864" tIns="36576" bIns="36576">
            <a:spAutoFit/>
          </a:bodyPr>
          <a:lstStyle/>
          <a:p>
            <a:pPr algn="l"/>
            <a:r>
              <a:rPr sz="1150" b="1" i="0">
                <a:solidFill>
                  <a:srgbClr val="1B4332"/>
                </a:solidFill>
                <a:latin typeface="Calibri"/>
              </a:rPr>
              <a:t>Risk map → fogging deployment plan</a:t>
            </a:r>
          </a:p>
        </p:txBody>
      </p:sp>
      <p:sp>
        <p:nvSpPr>
          <p:cNvPr id="26" name="TextBox 25"/>
          <p:cNvSpPr txBox="1"/>
          <p:nvPr/>
        </p:nvSpPr>
        <p:spPr>
          <a:xfrm>
            <a:off x="5715000" y="2816352"/>
            <a:ext cx="2880360" cy="320040"/>
          </a:xfrm>
          <a:prstGeom prst="rect">
            <a:avLst/>
          </a:prstGeom>
          <a:noFill/>
        </p:spPr>
        <p:txBody>
          <a:bodyPr wrap="square" anchor="t" lIns="54864" rIns="54864" tIns="36576" bIns="36576">
            <a:spAutoFit/>
          </a:bodyPr>
          <a:lstStyle/>
          <a:p>
            <a:pPr algn="l"/>
            <a:r>
              <a:rPr sz="950" b="0" i="0">
                <a:solidFill>
                  <a:srgbClr val="4A5A5A"/>
                </a:solidFill>
                <a:latin typeface="Calibri"/>
              </a:rPr>
              <a:t>→ NEA Ops + Pest Control</a:t>
            </a:r>
          </a:p>
        </p:txBody>
      </p:sp>
      <p:sp>
        <p:nvSpPr>
          <p:cNvPr id="27" name="Rounded Rectangle 26"/>
          <p:cNvSpPr/>
          <p:nvPr/>
        </p:nvSpPr>
        <p:spPr>
          <a:xfrm>
            <a:off x="5577840" y="3429000"/>
            <a:ext cx="3154680" cy="1005840"/>
          </a:xfrm>
          <a:prstGeom prst="roundRect">
            <a:avLst/>
          </a:prstGeom>
          <a:solidFill>
            <a:srgbClr val="FFFFFF"/>
          </a:solidFill>
          <a:ln w="19050">
            <a:solidFill>
              <a:srgbClr val="B84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715000" y="3502152"/>
            <a:ext cx="2880360" cy="228600"/>
          </a:xfrm>
          <a:prstGeom prst="rect">
            <a:avLst/>
          </a:prstGeom>
          <a:noFill/>
        </p:spPr>
        <p:txBody>
          <a:bodyPr wrap="square" anchor="t" lIns="54864" rIns="54864" tIns="36576" bIns="36576">
            <a:spAutoFit/>
          </a:bodyPr>
          <a:lstStyle/>
          <a:p>
            <a:pPr algn="l"/>
            <a:r>
              <a:rPr sz="850" b="1" i="0">
                <a:solidFill>
                  <a:srgbClr val="B84B3C"/>
                </a:solidFill>
                <a:latin typeface="Calibri"/>
              </a:rPr>
              <a:t>TACTICAL LOOP   ·   EVENT-DRIVEN</a:t>
            </a:r>
          </a:p>
        </p:txBody>
      </p:sp>
      <p:sp>
        <p:nvSpPr>
          <p:cNvPr id="29" name="TextBox 28"/>
          <p:cNvSpPr txBox="1"/>
          <p:nvPr/>
        </p:nvSpPr>
        <p:spPr>
          <a:xfrm>
            <a:off x="5715000" y="3721608"/>
            <a:ext cx="2880360" cy="320040"/>
          </a:xfrm>
          <a:prstGeom prst="rect">
            <a:avLst/>
          </a:prstGeom>
          <a:noFill/>
        </p:spPr>
        <p:txBody>
          <a:bodyPr wrap="square" anchor="t" lIns="54864" rIns="54864" tIns="36576" bIns="36576">
            <a:spAutoFit/>
          </a:bodyPr>
          <a:lstStyle/>
          <a:p>
            <a:pPr algn="l"/>
            <a:r>
              <a:rPr sz="1150" b="1" i="0">
                <a:solidFill>
                  <a:srgbClr val="B84B3C"/>
                </a:solidFill>
                <a:latin typeface="Calibri"/>
              </a:rPr>
              <a:t>Per-case alert → clinical triage</a:t>
            </a:r>
          </a:p>
        </p:txBody>
      </p:sp>
      <p:sp>
        <p:nvSpPr>
          <p:cNvPr id="30" name="TextBox 29"/>
          <p:cNvSpPr txBox="1"/>
          <p:nvPr/>
        </p:nvSpPr>
        <p:spPr>
          <a:xfrm>
            <a:off x="5715000" y="4050791"/>
            <a:ext cx="2880360" cy="320040"/>
          </a:xfrm>
          <a:prstGeom prst="rect">
            <a:avLst/>
          </a:prstGeom>
          <a:noFill/>
        </p:spPr>
        <p:txBody>
          <a:bodyPr wrap="square" anchor="t" lIns="54864" rIns="54864" tIns="36576" bIns="36576">
            <a:spAutoFit/>
          </a:bodyPr>
          <a:lstStyle/>
          <a:p>
            <a:pPr algn="l"/>
            <a:r>
              <a:rPr sz="950" b="0" i="0">
                <a:solidFill>
                  <a:srgbClr val="4A5A5A"/>
                </a:solidFill>
                <a:latin typeface="Calibri"/>
              </a:rPr>
              <a:t>→ CDC Officer at MOH</a:t>
            </a:r>
          </a:p>
        </p:txBody>
      </p:sp>
      <p:cxnSp>
        <p:nvCxnSpPr>
          <p:cNvPr id="31" name="Connector 30"/>
          <p:cNvCxnSpPr/>
          <p:nvPr/>
        </p:nvCxnSpPr>
        <p:spPr>
          <a:xfrm>
            <a:off x="2560320" y="3337560"/>
            <a:ext cx="365760" cy="0"/>
          </a:xfrm>
          <a:prstGeom prst="line">
            <a:avLst/>
          </a:prstGeom>
          <a:ln w="19050">
            <a:solidFill>
              <a:srgbClr val="40916C"/>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5212080" y="2697480"/>
            <a:ext cx="365760" cy="411480"/>
          </a:xfrm>
          <a:prstGeom prst="line">
            <a:avLst/>
          </a:prstGeom>
          <a:ln w="19050">
            <a:solidFill>
              <a:srgbClr val="1B4332"/>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212080" y="3566160"/>
            <a:ext cx="365760" cy="365760"/>
          </a:xfrm>
          <a:prstGeom prst="line">
            <a:avLst/>
          </a:prstGeom>
          <a:ln w="19050">
            <a:solidFill>
              <a:srgbClr val="B84B3C"/>
            </a:solidFill>
            <a:tailEnd type="triangle" w="med" h="med"/>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365760" y="4663440"/>
            <a:ext cx="8412480" cy="365760"/>
          </a:xfrm>
          <a:prstGeom prst="rect">
            <a:avLst/>
          </a:prstGeom>
          <a:solidFill>
            <a:srgbClr val="1B43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050" b="1" i="1">
                <a:solidFill>
                  <a:srgbClr val="FFFFFF"/>
                </a:solidFill>
                <a:latin typeface="Calibri"/>
              </a:rPr>
              <a:t>Same predictive logic. Different freshness contracts. Different thresholds. Different actions.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B4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82880" y="137160"/>
            <a:ext cx="2240280" cy="320040"/>
          </a:xfrm>
          <a:prstGeom prst="rect">
            <a:avLst/>
          </a:prstGeom>
          <a:solidFill>
            <a:srgbClr val="40916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950" b="1" i="0">
                <a:solidFill>
                  <a:srgbClr val="FFFFFF"/>
                </a:solidFill>
                <a:latin typeface="Calibri"/>
              </a:rPr>
              <a:t>PROCESS DATA</a:t>
            </a:r>
          </a:p>
        </p:txBody>
      </p:sp>
      <p:sp>
        <p:nvSpPr>
          <p:cNvPr id="4" name="Rectangle 3"/>
          <p:cNvSpPr/>
          <p:nvPr/>
        </p:nvSpPr>
        <p:spPr>
          <a:xfrm>
            <a:off x="2468880" y="137160"/>
            <a:ext cx="1828800" cy="320040"/>
          </a:xfrm>
          <a:prstGeom prst="rect">
            <a:avLst/>
          </a:prstGeom>
          <a:solidFill>
            <a:srgbClr val="40916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950" b="1" i="0">
                <a:solidFill>
                  <a:srgbClr val="FFFFFF"/>
                </a:solidFill>
                <a:latin typeface="Calibri"/>
              </a:rPr>
              <a:t>DEVELOP MODEL</a:t>
            </a:r>
          </a:p>
        </p:txBody>
      </p:sp>
      <p:sp>
        <p:nvSpPr>
          <p:cNvPr id="5" name="Rectangle 4"/>
          <p:cNvSpPr/>
          <p:nvPr/>
        </p:nvSpPr>
        <p:spPr>
          <a:xfrm>
            <a:off x="4343400" y="137160"/>
            <a:ext cx="3337560" cy="320040"/>
          </a:xfrm>
          <a:prstGeom prst="rect">
            <a:avLst/>
          </a:prstGeom>
          <a:solidFill>
            <a:srgbClr val="40916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950" b="1" i="0">
                <a:solidFill>
                  <a:srgbClr val="FFFFFF"/>
                </a:solidFill>
                <a:latin typeface="Calibri"/>
              </a:rPr>
              <a:t>DEPLOY</a:t>
            </a:r>
          </a:p>
        </p:txBody>
      </p:sp>
      <p:sp>
        <p:nvSpPr>
          <p:cNvPr id="6" name="Rectangle 5"/>
          <p:cNvSpPr/>
          <p:nvPr/>
        </p:nvSpPr>
        <p:spPr>
          <a:xfrm>
            <a:off x="7726679" y="137160"/>
            <a:ext cx="1280160" cy="320040"/>
          </a:xfrm>
          <a:prstGeom prst="rect">
            <a:avLst/>
          </a:prstGeom>
          <a:solidFill>
            <a:srgbClr val="40916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950" b="1" i="0">
                <a:solidFill>
                  <a:srgbClr val="FFFFFF"/>
                </a:solidFill>
                <a:latin typeface="Calibri"/>
              </a:rPr>
              <a:t>MONITOR &amp; RETRAIN</a:t>
            </a:r>
          </a:p>
        </p:txBody>
      </p:sp>
      <p:sp>
        <p:nvSpPr>
          <p:cNvPr id="7" name="TextBox 6"/>
          <p:cNvSpPr txBox="1"/>
          <p:nvPr/>
        </p:nvSpPr>
        <p:spPr>
          <a:xfrm>
            <a:off x="6858000" y="4892040"/>
            <a:ext cx="2194560" cy="228600"/>
          </a:xfrm>
          <a:prstGeom prst="rect">
            <a:avLst/>
          </a:prstGeom>
          <a:noFill/>
        </p:spPr>
        <p:txBody>
          <a:bodyPr wrap="square" anchor="t" lIns="54864" rIns="54864" tIns="36576" bIns="36576">
            <a:spAutoFit/>
          </a:bodyPr>
          <a:lstStyle/>
          <a:p>
            <a:pPr algn="r"/>
            <a:r>
              <a:rPr sz="1000" b="0" i="1">
                <a:solidFill>
                  <a:srgbClr val="95D5B2"/>
                </a:solidFill>
                <a:latin typeface="Georgia"/>
              </a:rPr>
              <a:t>Architecture — Detail</a:t>
            </a:r>
          </a:p>
        </p:txBody>
      </p:sp>
      <p:sp>
        <p:nvSpPr>
          <p:cNvPr id="8" name="TextBox 7"/>
          <p:cNvSpPr txBox="1"/>
          <p:nvPr/>
        </p:nvSpPr>
        <p:spPr>
          <a:xfrm>
            <a:off x="182880" y="4892040"/>
            <a:ext cx="5486400" cy="228600"/>
          </a:xfrm>
          <a:prstGeom prst="rect">
            <a:avLst/>
          </a:prstGeom>
          <a:noFill/>
        </p:spPr>
        <p:txBody>
          <a:bodyPr wrap="square" anchor="t" lIns="54864" rIns="54864" tIns="36576" bIns="36576">
            <a:spAutoFit/>
          </a:bodyPr>
          <a:lstStyle/>
          <a:p>
            <a:pPr algn="l"/>
            <a:r>
              <a:rPr sz="800" b="0" i="0">
                <a:solidFill>
                  <a:srgbClr val="95D5B2"/>
                </a:solidFill>
                <a:latin typeface="Calibri"/>
              </a:rPr>
              <a:t>CS611 MLE — Group Project   |   05</a:t>
            </a:r>
          </a:p>
        </p:txBody>
      </p:sp>
      <p:sp>
        <p:nvSpPr>
          <p:cNvPr id="9" name="Rectangle 8"/>
          <p:cNvSpPr/>
          <p:nvPr/>
        </p:nvSpPr>
        <p:spPr>
          <a:xfrm>
            <a:off x="182880" y="640080"/>
            <a:ext cx="2240280" cy="777240"/>
          </a:xfrm>
          <a:prstGeom prst="rect">
            <a:avLst/>
          </a:prstGeom>
          <a:solidFill>
            <a:srgbClr val="2D6A4F"/>
          </a:solidFill>
          <a:ln w="6350">
            <a:solidFill>
              <a:srgbClr val="95D5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 y="658368"/>
            <a:ext cx="2148840" cy="201168"/>
          </a:xfrm>
          <a:prstGeom prst="rect">
            <a:avLst/>
          </a:prstGeom>
          <a:noFill/>
        </p:spPr>
        <p:txBody>
          <a:bodyPr wrap="square" anchor="t" lIns="54864" rIns="54864" tIns="36576" bIns="36576">
            <a:spAutoFit/>
          </a:bodyPr>
          <a:lstStyle/>
          <a:p>
            <a:pPr algn="ctr"/>
            <a:r>
              <a:rPr sz="750" b="1" i="0">
                <a:solidFill>
                  <a:srgbClr val="95D5B2"/>
                </a:solidFill>
                <a:latin typeface="Calibri"/>
              </a:rPr>
              <a:t>DATA SOURCES</a:t>
            </a:r>
          </a:p>
        </p:txBody>
      </p:sp>
      <p:sp>
        <p:nvSpPr>
          <p:cNvPr id="11" name="TextBox 10"/>
          <p:cNvSpPr txBox="1"/>
          <p:nvPr/>
        </p:nvSpPr>
        <p:spPr>
          <a:xfrm>
            <a:off x="274320" y="868680"/>
            <a:ext cx="982980" cy="228600"/>
          </a:xfrm>
          <a:prstGeom prst="rect">
            <a:avLst/>
          </a:prstGeom>
          <a:noFill/>
        </p:spPr>
        <p:txBody>
          <a:bodyPr wrap="square" anchor="t" lIns="54864" rIns="54864" tIns="36576" bIns="36576">
            <a:spAutoFit/>
          </a:bodyPr>
          <a:lstStyle/>
          <a:p>
            <a:pPr algn="ctr"/>
            <a:r>
              <a:rPr sz="800" b="0" i="0">
                <a:solidFill>
                  <a:srgbClr val="FFFFFF"/>
                </a:solidFill>
                <a:latin typeface="Calibri"/>
              </a:rPr>
              <a:t>SGCharts</a:t>
            </a:r>
          </a:p>
        </p:txBody>
      </p:sp>
      <p:sp>
        <p:nvSpPr>
          <p:cNvPr id="12" name="TextBox 11"/>
          <p:cNvSpPr txBox="1"/>
          <p:nvPr/>
        </p:nvSpPr>
        <p:spPr>
          <a:xfrm>
            <a:off x="1303020" y="868680"/>
            <a:ext cx="982980" cy="228600"/>
          </a:xfrm>
          <a:prstGeom prst="rect">
            <a:avLst/>
          </a:prstGeom>
          <a:noFill/>
        </p:spPr>
        <p:txBody>
          <a:bodyPr wrap="square" anchor="t" lIns="54864" rIns="54864" tIns="36576" bIns="36576">
            <a:spAutoFit/>
          </a:bodyPr>
          <a:lstStyle/>
          <a:p>
            <a:pPr algn="ctr"/>
            <a:r>
              <a:rPr sz="800" b="0" i="0">
                <a:solidFill>
                  <a:srgbClr val="FFFFFF"/>
                </a:solidFill>
                <a:latin typeface="Calibri"/>
              </a:rPr>
              <a:t>MSS Weather</a:t>
            </a:r>
          </a:p>
        </p:txBody>
      </p:sp>
      <p:sp>
        <p:nvSpPr>
          <p:cNvPr id="13" name="TextBox 12"/>
          <p:cNvSpPr txBox="1"/>
          <p:nvPr/>
        </p:nvSpPr>
        <p:spPr>
          <a:xfrm>
            <a:off x="274320" y="1124712"/>
            <a:ext cx="982980" cy="228600"/>
          </a:xfrm>
          <a:prstGeom prst="rect">
            <a:avLst/>
          </a:prstGeom>
          <a:noFill/>
        </p:spPr>
        <p:txBody>
          <a:bodyPr wrap="square" anchor="t" lIns="54864" rIns="54864" tIns="36576" bIns="36576">
            <a:spAutoFit/>
          </a:bodyPr>
          <a:lstStyle/>
          <a:p>
            <a:pPr algn="ctr"/>
            <a:r>
              <a:rPr sz="800" b="0" i="0">
                <a:solidFill>
                  <a:srgbClr val="FFFFFF"/>
                </a:solidFill>
                <a:latin typeface="Calibri"/>
              </a:rPr>
              <a:t>SingStat</a:t>
            </a:r>
          </a:p>
        </p:txBody>
      </p:sp>
      <p:sp>
        <p:nvSpPr>
          <p:cNvPr id="14" name="TextBox 13"/>
          <p:cNvSpPr txBox="1"/>
          <p:nvPr/>
        </p:nvSpPr>
        <p:spPr>
          <a:xfrm>
            <a:off x="1303020" y="1124712"/>
            <a:ext cx="982980" cy="228600"/>
          </a:xfrm>
          <a:prstGeom prst="rect">
            <a:avLst/>
          </a:prstGeom>
          <a:noFill/>
        </p:spPr>
        <p:txBody>
          <a:bodyPr wrap="square" anchor="t" lIns="54864" rIns="54864" tIns="36576" bIns="36576">
            <a:spAutoFit/>
          </a:bodyPr>
          <a:lstStyle/>
          <a:p>
            <a:pPr algn="ctr"/>
            <a:r>
              <a:rPr sz="800" b="0" i="0">
                <a:solidFill>
                  <a:srgbClr val="FFFFFF"/>
                </a:solidFill>
                <a:latin typeface="Calibri"/>
              </a:rPr>
              <a:t>URA GeoJSON</a:t>
            </a:r>
          </a:p>
        </p:txBody>
      </p:sp>
      <p:sp>
        <p:nvSpPr>
          <p:cNvPr id="15" name="Rectangle 14"/>
          <p:cNvSpPr/>
          <p:nvPr/>
        </p:nvSpPr>
        <p:spPr>
          <a:xfrm>
            <a:off x="182880" y="1554480"/>
            <a:ext cx="2240280" cy="502920"/>
          </a:xfrm>
          <a:prstGeom prst="rect">
            <a:avLst/>
          </a:prstGeom>
          <a:solidFill>
            <a:srgbClr val="B08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1581912"/>
            <a:ext cx="2057400" cy="201168"/>
          </a:xfrm>
          <a:prstGeom prst="rect">
            <a:avLst/>
          </a:prstGeom>
          <a:noFill/>
        </p:spPr>
        <p:txBody>
          <a:bodyPr wrap="square" anchor="t" lIns="54864" rIns="54864" tIns="36576" bIns="36576">
            <a:spAutoFit/>
          </a:bodyPr>
          <a:lstStyle/>
          <a:p>
            <a:pPr algn="l"/>
            <a:r>
              <a:rPr sz="850" b="1" i="0">
                <a:solidFill>
                  <a:srgbClr val="FFFFFF"/>
                </a:solidFill>
                <a:latin typeface="Calibri"/>
              </a:rPr>
              <a:t>BRONZE  ·  Raw Ingest</a:t>
            </a:r>
          </a:p>
        </p:txBody>
      </p:sp>
      <p:sp>
        <p:nvSpPr>
          <p:cNvPr id="17" name="TextBox 16"/>
          <p:cNvSpPr txBox="1"/>
          <p:nvPr/>
        </p:nvSpPr>
        <p:spPr>
          <a:xfrm>
            <a:off x="274320" y="1773936"/>
            <a:ext cx="2057400" cy="274320"/>
          </a:xfrm>
          <a:prstGeom prst="rect">
            <a:avLst/>
          </a:prstGeom>
          <a:noFill/>
        </p:spPr>
        <p:txBody>
          <a:bodyPr wrap="square" anchor="t" lIns="54864" rIns="54864" tIns="36576" bIns="36576">
            <a:spAutoFit/>
          </a:bodyPr>
          <a:lstStyle/>
          <a:p>
            <a:pPr algn="l"/>
            <a:r>
              <a:rPr sz="700" b="0" i="1">
                <a:solidFill>
                  <a:srgbClr val="FFFFFF"/>
                </a:solidFill>
                <a:latin typeface="Calibri"/>
              </a:rPr>
              <a:t>raw_clusters · raw_weather · raw_population  (Postgres)</a:t>
            </a:r>
          </a:p>
        </p:txBody>
      </p:sp>
      <p:sp>
        <p:nvSpPr>
          <p:cNvPr id="18" name="Rectangle 17"/>
          <p:cNvSpPr/>
          <p:nvPr/>
        </p:nvSpPr>
        <p:spPr>
          <a:xfrm>
            <a:off x="182880" y="2148840"/>
            <a:ext cx="2240280" cy="502920"/>
          </a:xfrm>
          <a:prstGeom prst="rect">
            <a:avLst/>
          </a:prstGeom>
          <a:solidFill>
            <a:srgbClr val="8E99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4320" y="2176272"/>
            <a:ext cx="2057400" cy="201168"/>
          </a:xfrm>
          <a:prstGeom prst="rect">
            <a:avLst/>
          </a:prstGeom>
          <a:noFill/>
        </p:spPr>
        <p:txBody>
          <a:bodyPr wrap="square" anchor="t" lIns="54864" rIns="54864" tIns="36576" bIns="36576">
            <a:spAutoFit/>
          </a:bodyPr>
          <a:lstStyle/>
          <a:p>
            <a:pPr algn="l"/>
            <a:r>
              <a:rPr sz="850" b="1" i="0">
                <a:solidFill>
                  <a:srgbClr val="FFFFFF"/>
                </a:solidFill>
                <a:latin typeface="Calibri"/>
              </a:rPr>
              <a:t>SILVER  ·  Cleaned + Joined</a:t>
            </a:r>
          </a:p>
        </p:txBody>
      </p:sp>
      <p:sp>
        <p:nvSpPr>
          <p:cNvPr id="20" name="TextBox 19"/>
          <p:cNvSpPr txBox="1"/>
          <p:nvPr/>
        </p:nvSpPr>
        <p:spPr>
          <a:xfrm>
            <a:off x="274320" y="2368296"/>
            <a:ext cx="2057400" cy="274320"/>
          </a:xfrm>
          <a:prstGeom prst="rect">
            <a:avLst/>
          </a:prstGeom>
          <a:noFill/>
        </p:spPr>
        <p:txBody>
          <a:bodyPr wrap="square" anchor="t" lIns="54864" rIns="54864" tIns="36576" bIns="36576">
            <a:spAutoFit/>
          </a:bodyPr>
          <a:lstStyle/>
          <a:p>
            <a:pPr algn="l"/>
            <a:r>
              <a:rPr sz="700" b="0" i="1">
                <a:solidFill>
                  <a:srgbClr val="FFFFFF"/>
                </a:solidFill>
                <a:latin typeface="Calibri"/>
              </a:rPr>
              <a:t>schema enforced · nulls handled · joined on date+subzone</a:t>
            </a:r>
          </a:p>
        </p:txBody>
      </p:sp>
      <p:sp>
        <p:nvSpPr>
          <p:cNvPr id="21" name="Rectangle 20"/>
          <p:cNvSpPr/>
          <p:nvPr/>
        </p:nvSpPr>
        <p:spPr>
          <a:xfrm>
            <a:off x="182880" y="2743200"/>
            <a:ext cx="2240280" cy="502920"/>
          </a:xfrm>
          <a:prstGeom prst="rect">
            <a:avLst/>
          </a:prstGeom>
          <a:solidFill>
            <a:srgbClr val="C9A1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4320" y="2770632"/>
            <a:ext cx="2057400" cy="201168"/>
          </a:xfrm>
          <a:prstGeom prst="rect">
            <a:avLst/>
          </a:prstGeom>
          <a:noFill/>
        </p:spPr>
        <p:txBody>
          <a:bodyPr wrap="square" anchor="t" lIns="54864" rIns="54864" tIns="36576" bIns="36576">
            <a:spAutoFit/>
          </a:bodyPr>
          <a:lstStyle/>
          <a:p>
            <a:pPr algn="l"/>
            <a:r>
              <a:rPr sz="850" b="1" i="0">
                <a:solidFill>
                  <a:srgbClr val="FFFFFF"/>
                </a:solidFill>
                <a:latin typeface="Calibri"/>
              </a:rPr>
              <a:t>GOLD  ·  Offline Feature Store</a:t>
            </a:r>
          </a:p>
        </p:txBody>
      </p:sp>
      <p:sp>
        <p:nvSpPr>
          <p:cNvPr id="23" name="TextBox 22"/>
          <p:cNvSpPr txBox="1"/>
          <p:nvPr/>
        </p:nvSpPr>
        <p:spPr>
          <a:xfrm>
            <a:off x="274320" y="2962656"/>
            <a:ext cx="2057400" cy="274320"/>
          </a:xfrm>
          <a:prstGeom prst="rect">
            <a:avLst/>
          </a:prstGeom>
          <a:noFill/>
        </p:spPr>
        <p:txBody>
          <a:bodyPr wrap="square" anchor="t" lIns="54864" rIns="54864" tIns="36576" bIns="36576">
            <a:spAutoFit/>
          </a:bodyPr>
          <a:lstStyle/>
          <a:p>
            <a:pPr algn="l"/>
            <a:r>
              <a:rPr sz="700" b="0" i="1">
                <a:solidFill>
                  <a:srgbClr val="FFFFFF"/>
                </a:solidFill>
                <a:latin typeface="Calibri"/>
              </a:rPr>
              <a:t>lag features · spatial joins · ML-ready (Postgres + Parquet)</a:t>
            </a:r>
          </a:p>
        </p:txBody>
      </p:sp>
      <p:sp>
        <p:nvSpPr>
          <p:cNvPr id="24" name="Rectangle 23"/>
          <p:cNvSpPr/>
          <p:nvPr/>
        </p:nvSpPr>
        <p:spPr>
          <a:xfrm>
            <a:off x="182880" y="3383280"/>
            <a:ext cx="2240280" cy="548640"/>
          </a:xfrm>
          <a:prstGeom prst="rect">
            <a:avLst/>
          </a:prstGeom>
          <a:solidFill>
            <a:srgbClr val="B84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4320" y="3410712"/>
            <a:ext cx="2057400" cy="201168"/>
          </a:xfrm>
          <a:prstGeom prst="rect">
            <a:avLst/>
          </a:prstGeom>
          <a:noFill/>
        </p:spPr>
        <p:txBody>
          <a:bodyPr wrap="square" anchor="t" lIns="54864" rIns="54864" tIns="36576" bIns="36576">
            <a:spAutoFit/>
          </a:bodyPr>
          <a:lstStyle/>
          <a:p>
            <a:pPr algn="l"/>
            <a:r>
              <a:rPr sz="850" b="1" i="0">
                <a:solidFill>
                  <a:srgbClr val="FFFFFF"/>
                </a:solidFill>
                <a:latin typeface="Calibri"/>
              </a:rPr>
              <a:t>ONLINE STORE  ·  Redis</a:t>
            </a:r>
          </a:p>
        </p:txBody>
      </p:sp>
      <p:sp>
        <p:nvSpPr>
          <p:cNvPr id="26" name="TextBox 25"/>
          <p:cNvSpPr txBox="1"/>
          <p:nvPr/>
        </p:nvSpPr>
        <p:spPr>
          <a:xfrm>
            <a:off x="274320" y="3611880"/>
            <a:ext cx="2057400" cy="320040"/>
          </a:xfrm>
          <a:prstGeom prst="rect">
            <a:avLst/>
          </a:prstGeom>
          <a:noFill/>
        </p:spPr>
        <p:txBody>
          <a:bodyPr wrap="square" anchor="t" lIns="54864" rIns="54864" tIns="36576" bIns="36576">
            <a:spAutoFit/>
          </a:bodyPr>
          <a:lstStyle/>
          <a:p>
            <a:pPr algn="l"/>
            <a:r>
              <a:rPr sz="700" b="0" i="1">
                <a:solidFill>
                  <a:srgbClr val="FFFFFF"/>
                </a:solidFill>
                <a:latin typeface="Calibri"/>
              </a:rPr>
              <a:t>current_week_case_count · vulnerability_index</a:t>
            </a:r>
          </a:p>
          <a:p>
            <a:pPr algn="l"/>
            <a:r>
              <a:rPr sz="700" b="0" i="1">
                <a:solidFill>
                  <a:srgbClr val="E8C8C0"/>
                </a:solidFill>
                <a:latin typeface="Calibri"/>
              </a:rPr>
              <a:t>sub-ms row reads for real-time path</a:t>
            </a:r>
          </a:p>
        </p:txBody>
      </p:sp>
      <p:sp>
        <p:nvSpPr>
          <p:cNvPr id="27" name="TextBox 26"/>
          <p:cNvSpPr txBox="1"/>
          <p:nvPr/>
        </p:nvSpPr>
        <p:spPr>
          <a:xfrm>
            <a:off x="182880" y="4023360"/>
            <a:ext cx="2240280" cy="228600"/>
          </a:xfrm>
          <a:prstGeom prst="rect">
            <a:avLst/>
          </a:prstGeom>
          <a:noFill/>
        </p:spPr>
        <p:txBody>
          <a:bodyPr wrap="square" anchor="t" lIns="54864" rIns="54864" tIns="36576" bIns="36576">
            <a:spAutoFit/>
          </a:bodyPr>
          <a:lstStyle/>
          <a:p>
            <a:pPr algn="ctr"/>
            <a:r>
              <a:rPr sz="750" b="0" i="1">
                <a:solidFill>
                  <a:srgbClr val="95D5B2"/>
                </a:solidFill>
                <a:latin typeface="Calibri"/>
              </a:rPr>
              <a:t>⚙  Airflow — weekly ingest · preprocess · feature build</a:t>
            </a:r>
          </a:p>
        </p:txBody>
      </p:sp>
      <p:sp>
        <p:nvSpPr>
          <p:cNvPr id="28" name="Rectangle 27"/>
          <p:cNvSpPr/>
          <p:nvPr/>
        </p:nvSpPr>
        <p:spPr>
          <a:xfrm>
            <a:off x="2468880" y="640080"/>
            <a:ext cx="1828800" cy="1280160"/>
          </a:xfrm>
          <a:prstGeom prst="rect">
            <a:avLst/>
          </a:prstGeom>
          <a:solidFill>
            <a:srgbClr val="2D6A4F"/>
          </a:solidFill>
          <a:ln w="6350">
            <a:solidFill>
              <a:srgbClr val="95D5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560320" y="667512"/>
            <a:ext cx="1645920" cy="219456"/>
          </a:xfrm>
          <a:prstGeom prst="rect">
            <a:avLst/>
          </a:prstGeom>
          <a:noFill/>
        </p:spPr>
        <p:txBody>
          <a:bodyPr wrap="square" anchor="t" lIns="54864" rIns="54864" tIns="36576" bIns="36576">
            <a:spAutoFit/>
          </a:bodyPr>
          <a:lstStyle/>
          <a:p>
            <a:pPr algn="l"/>
            <a:r>
              <a:rPr sz="850" b="1" i="0">
                <a:solidFill>
                  <a:srgbClr val="95D5B2"/>
                </a:solidFill>
                <a:latin typeface="Calibri"/>
              </a:rPr>
              <a:t>TRAIN &amp; TUNE</a:t>
            </a:r>
          </a:p>
        </p:txBody>
      </p:sp>
      <p:sp>
        <p:nvSpPr>
          <p:cNvPr id="30" name="TextBox 29"/>
          <p:cNvSpPr txBox="1"/>
          <p:nvPr/>
        </p:nvSpPr>
        <p:spPr>
          <a:xfrm>
            <a:off x="2578608" y="886968"/>
            <a:ext cx="1609344" cy="192024"/>
          </a:xfrm>
          <a:prstGeom prst="rect">
            <a:avLst/>
          </a:prstGeom>
          <a:noFill/>
        </p:spPr>
        <p:txBody>
          <a:bodyPr wrap="square" anchor="t" lIns="54864" rIns="54864" tIns="36576" bIns="36576">
            <a:spAutoFit/>
          </a:bodyPr>
          <a:lstStyle/>
          <a:p>
            <a:pPr algn="l"/>
            <a:r>
              <a:rPr sz="750" b="0" i="0">
                <a:solidFill>
                  <a:srgbClr val="FFFFFF"/>
                </a:solidFill>
                <a:latin typeface="Calibri"/>
              </a:rPr>
              <a:t>• XGBoost + LightGBM</a:t>
            </a:r>
          </a:p>
        </p:txBody>
      </p:sp>
      <p:sp>
        <p:nvSpPr>
          <p:cNvPr id="31" name="TextBox 30"/>
          <p:cNvSpPr txBox="1"/>
          <p:nvPr/>
        </p:nvSpPr>
        <p:spPr>
          <a:xfrm>
            <a:off x="2578608" y="1078992"/>
            <a:ext cx="1609344" cy="192024"/>
          </a:xfrm>
          <a:prstGeom prst="rect">
            <a:avLst/>
          </a:prstGeom>
          <a:noFill/>
        </p:spPr>
        <p:txBody>
          <a:bodyPr wrap="square" anchor="t" lIns="54864" rIns="54864" tIns="36576" bIns="36576">
            <a:spAutoFit/>
          </a:bodyPr>
          <a:lstStyle/>
          <a:p>
            <a:pPr algn="l"/>
            <a:r>
              <a:rPr sz="750" b="0" i="0">
                <a:solidFill>
                  <a:srgbClr val="FFFFFF"/>
                </a:solidFill>
                <a:latin typeface="Calibri"/>
              </a:rPr>
              <a:t>• Optuna HPT</a:t>
            </a:r>
          </a:p>
        </p:txBody>
      </p:sp>
      <p:sp>
        <p:nvSpPr>
          <p:cNvPr id="32" name="TextBox 31"/>
          <p:cNvSpPr txBox="1"/>
          <p:nvPr/>
        </p:nvSpPr>
        <p:spPr>
          <a:xfrm>
            <a:off x="2578608" y="1271016"/>
            <a:ext cx="1609344" cy="192024"/>
          </a:xfrm>
          <a:prstGeom prst="rect">
            <a:avLst/>
          </a:prstGeom>
          <a:noFill/>
        </p:spPr>
        <p:txBody>
          <a:bodyPr wrap="square" anchor="t" lIns="54864" rIns="54864" tIns="36576" bIns="36576">
            <a:spAutoFit/>
          </a:bodyPr>
          <a:lstStyle/>
          <a:p>
            <a:pPr algn="l"/>
            <a:r>
              <a:rPr sz="750" b="0" i="0">
                <a:solidFill>
                  <a:srgbClr val="FFFFFF"/>
                </a:solidFill>
                <a:latin typeface="Calibri"/>
              </a:rPr>
              <a:t>• 5-fold time-series CV</a:t>
            </a:r>
          </a:p>
        </p:txBody>
      </p:sp>
      <p:sp>
        <p:nvSpPr>
          <p:cNvPr id="33" name="TextBox 32"/>
          <p:cNvSpPr txBox="1"/>
          <p:nvPr/>
        </p:nvSpPr>
        <p:spPr>
          <a:xfrm>
            <a:off x="2578608" y="1463040"/>
            <a:ext cx="1609344" cy="192024"/>
          </a:xfrm>
          <a:prstGeom prst="rect">
            <a:avLst/>
          </a:prstGeom>
          <a:noFill/>
        </p:spPr>
        <p:txBody>
          <a:bodyPr wrap="square" anchor="t" lIns="54864" rIns="54864" tIns="36576" bIns="36576">
            <a:spAutoFit/>
          </a:bodyPr>
          <a:lstStyle/>
          <a:p>
            <a:pPr algn="l"/>
            <a:r>
              <a:rPr sz="750" b="0" i="0">
                <a:solidFill>
                  <a:srgbClr val="FFFFFF"/>
                </a:solidFill>
                <a:latin typeface="Calibri"/>
              </a:rPr>
              <a:t>• SMOTE class balance</a:t>
            </a:r>
          </a:p>
        </p:txBody>
      </p:sp>
      <p:sp>
        <p:nvSpPr>
          <p:cNvPr id="34" name="TextBox 33"/>
          <p:cNvSpPr txBox="1"/>
          <p:nvPr/>
        </p:nvSpPr>
        <p:spPr>
          <a:xfrm>
            <a:off x="2578608" y="1655064"/>
            <a:ext cx="1609344" cy="192024"/>
          </a:xfrm>
          <a:prstGeom prst="rect">
            <a:avLst/>
          </a:prstGeom>
          <a:noFill/>
        </p:spPr>
        <p:txBody>
          <a:bodyPr wrap="square" anchor="t" lIns="54864" rIns="54864" tIns="36576" bIns="36576">
            <a:spAutoFit/>
          </a:bodyPr>
          <a:lstStyle/>
          <a:p>
            <a:pPr algn="l"/>
            <a:r>
              <a:rPr sz="750" b="0" i="0">
                <a:solidFill>
                  <a:srgbClr val="FFFFFF"/>
                </a:solidFill>
                <a:latin typeface="Calibri"/>
              </a:rPr>
              <a:t>• MLflow tracking</a:t>
            </a:r>
          </a:p>
        </p:txBody>
      </p:sp>
      <p:sp>
        <p:nvSpPr>
          <p:cNvPr id="35" name="Rectangle 34"/>
          <p:cNvSpPr/>
          <p:nvPr/>
        </p:nvSpPr>
        <p:spPr>
          <a:xfrm>
            <a:off x="2468880" y="2011680"/>
            <a:ext cx="1828800" cy="1097280"/>
          </a:xfrm>
          <a:prstGeom prst="rect">
            <a:avLst/>
          </a:prstGeom>
          <a:solidFill>
            <a:srgbClr val="2D6A4F"/>
          </a:solidFill>
          <a:ln w="6350">
            <a:solidFill>
              <a:srgbClr val="95D5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560320" y="2039112"/>
            <a:ext cx="1645920" cy="219456"/>
          </a:xfrm>
          <a:prstGeom prst="rect">
            <a:avLst/>
          </a:prstGeom>
          <a:noFill/>
        </p:spPr>
        <p:txBody>
          <a:bodyPr wrap="square" anchor="t" lIns="54864" rIns="54864" tIns="36576" bIns="36576">
            <a:spAutoFit/>
          </a:bodyPr>
          <a:lstStyle/>
          <a:p>
            <a:pPr algn="l"/>
            <a:r>
              <a:rPr sz="850" b="1" i="0">
                <a:solidFill>
                  <a:srgbClr val="95D5B2"/>
                </a:solidFill>
                <a:latin typeface="Calibri"/>
              </a:rPr>
              <a:t>EVALUATE</a:t>
            </a:r>
          </a:p>
        </p:txBody>
      </p:sp>
      <p:sp>
        <p:nvSpPr>
          <p:cNvPr id="37" name="TextBox 36"/>
          <p:cNvSpPr txBox="1"/>
          <p:nvPr/>
        </p:nvSpPr>
        <p:spPr>
          <a:xfrm>
            <a:off x="2578608" y="2258568"/>
            <a:ext cx="1609344" cy="192024"/>
          </a:xfrm>
          <a:prstGeom prst="rect">
            <a:avLst/>
          </a:prstGeom>
          <a:noFill/>
        </p:spPr>
        <p:txBody>
          <a:bodyPr wrap="square" anchor="t" lIns="54864" rIns="54864" tIns="36576" bIns="36576">
            <a:spAutoFit/>
          </a:bodyPr>
          <a:lstStyle/>
          <a:p>
            <a:pPr algn="l"/>
            <a:r>
              <a:rPr sz="750" b="0" i="0">
                <a:solidFill>
                  <a:srgbClr val="FFFFFF"/>
                </a:solidFill>
                <a:latin typeface="Calibri"/>
              </a:rPr>
              <a:t>• Precision / Recall</a:t>
            </a:r>
          </a:p>
        </p:txBody>
      </p:sp>
      <p:sp>
        <p:nvSpPr>
          <p:cNvPr id="38" name="TextBox 37"/>
          <p:cNvSpPr txBox="1"/>
          <p:nvPr/>
        </p:nvSpPr>
        <p:spPr>
          <a:xfrm>
            <a:off x="2578608" y="2450592"/>
            <a:ext cx="1609344" cy="192024"/>
          </a:xfrm>
          <a:prstGeom prst="rect">
            <a:avLst/>
          </a:prstGeom>
          <a:noFill/>
        </p:spPr>
        <p:txBody>
          <a:bodyPr wrap="square" anchor="t" lIns="54864" rIns="54864" tIns="36576" bIns="36576">
            <a:spAutoFit/>
          </a:bodyPr>
          <a:lstStyle/>
          <a:p>
            <a:pPr algn="l"/>
            <a:r>
              <a:rPr sz="750" b="0" i="0">
                <a:solidFill>
                  <a:srgbClr val="FFFFFF"/>
                </a:solidFill>
                <a:latin typeface="Calibri"/>
              </a:rPr>
              <a:t>• SHAP interpretability</a:t>
            </a:r>
          </a:p>
        </p:txBody>
      </p:sp>
      <p:sp>
        <p:nvSpPr>
          <p:cNvPr id="39" name="TextBox 38"/>
          <p:cNvSpPr txBox="1"/>
          <p:nvPr/>
        </p:nvSpPr>
        <p:spPr>
          <a:xfrm>
            <a:off x="2578608" y="2642616"/>
            <a:ext cx="1609344" cy="192024"/>
          </a:xfrm>
          <a:prstGeom prst="rect">
            <a:avLst/>
          </a:prstGeom>
          <a:noFill/>
        </p:spPr>
        <p:txBody>
          <a:bodyPr wrap="square" anchor="t" lIns="54864" rIns="54864" tIns="36576" bIns="36576">
            <a:spAutoFit/>
          </a:bodyPr>
          <a:lstStyle/>
          <a:p>
            <a:pPr algn="l"/>
            <a:r>
              <a:rPr sz="750" b="0" i="0">
                <a:solidFill>
                  <a:srgbClr val="FFFFFF"/>
                </a:solidFill>
                <a:latin typeface="Calibri"/>
              </a:rPr>
              <a:t>• Spatial accuracy</a:t>
            </a:r>
          </a:p>
        </p:txBody>
      </p:sp>
      <p:sp>
        <p:nvSpPr>
          <p:cNvPr id="40" name="TextBox 39"/>
          <p:cNvSpPr txBox="1"/>
          <p:nvPr/>
        </p:nvSpPr>
        <p:spPr>
          <a:xfrm>
            <a:off x="2578608" y="2834640"/>
            <a:ext cx="1609344" cy="192024"/>
          </a:xfrm>
          <a:prstGeom prst="rect">
            <a:avLst/>
          </a:prstGeom>
          <a:noFill/>
        </p:spPr>
        <p:txBody>
          <a:bodyPr wrap="square" anchor="t" lIns="54864" rIns="54864" tIns="36576" bIns="36576">
            <a:spAutoFit/>
          </a:bodyPr>
          <a:lstStyle/>
          <a:p>
            <a:pPr algn="l"/>
            <a:r>
              <a:rPr sz="750" b="0" i="0">
                <a:solidFill>
                  <a:srgbClr val="FFFFFF"/>
                </a:solidFill>
                <a:latin typeface="Calibri"/>
              </a:rPr>
              <a:t>• Promotion gate</a:t>
            </a:r>
          </a:p>
        </p:txBody>
      </p:sp>
      <p:sp>
        <p:nvSpPr>
          <p:cNvPr id="41" name="Rectangle 40"/>
          <p:cNvSpPr/>
          <p:nvPr/>
        </p:nvSpPr>
        <p:spPr>
          <a:xfrm>
            <a:off x="2468880" y="3200400"/>
            <a:ext cx="1828800" cy="777240"/>
          </a:xfrm>
          <a:prstGeom prst="rect">
            <a:avLst/>
          </a:prstGeom>
          <a:solidFill>
            <a:srgbClr val="C9A1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560320" y="3246120"/>
            <a:ext cx="1645920" cy="256032"/>
          </a:xfrm>
          <a:prstGeom prst="rect">
            <a:avLst/>
          </a:prstGeom>
          <a:noFill/>
        </p:spPr>
        <p:txBody>
          <a:bodyPr wrap="square" anchor="t" lIns="54864" rIns="54864" tIns="36576" bIns="36576">
            <a:spAutoFit/>
          </a:bodyPr>
          <a:lstStyle/>
          <a:p>
            <a:pPr algn="ctr"/>
            <a:r>
              <a:rPr sz="900" b="1" i="0">
                <a:solidFill>
                  <a:srgbClr val="FFFFFF"/>
                </a:solidFill>
                <a:latin typeface="Calibri"/>
              </a:rPr>
              <a:t>MODEL REGISTRY</a:t>
            </a:r>
          </a:p>
        </p:txBody>
      </p:sp>
      <p:sp>
        <p:nvSpPr>
          <p:cNvPr id="43" name="TextBox 42"/>
          <p:cNvSpPr txBox="1"/>
          <p:nvPr/>
        </p:nvSpPr>
        <p:spPr>
          <a:xfrm>
            <a:off x="2560320" y="3502152"/>
            <a:ext cx="1645920" cy="411480"/>
          </a:xfrm>
          <a:prstGeom prst="rect">
            <a:avLst/>
          </a:prstGeom>
          <a:noFill/>
        </p:spPr>
        <p:txBody>
          <a:bodyPr wrap="square" anchor="t" lIns="54864" rIns="54864" tIns="36576" bIns="36576">
            <a:spAutoFit/>
          </a:bodyPr>
          <a:lstStyle/>
          <a:p>
            <a:pPr algn="ctr"/>
            <a:r>
              <a:rPr sz="1100" b="1" i="0">
                <a:solidFill>
                  <a:srgbClr val="FFFFFF"/>
                </a:solidFill>
                <a:latin typeface="Calibri"/>
              </a:rPr>
              <a:t>MLflow</a:t>
            </a:r>
          </a:p>
          <a:p>
            <a:pPr algn="ctr"/>
            <a:r>
              <a:rPr sz="750" b="0" i="1">
                <a:solidFill>
                  <a:srgbClr val="FFFFFF"/>
                </a:solidFill>
                <a:latin typeface="Calibri"/>
              </a:rPr>
              <a:t>one artifact, two paths</a:t>
            </a:r>
          </a:p>
        </p:txBody>
      </p:sp>
      <p:sp>
        <p:nvSpPr>
          <p:cNvPr id="44" name="Rectangle 43"/>
          <p:cNvSpPr/>
          <p:nvPr/>
        </p:nvSpPr>
        <p:spPr>
          <a:xfrm>
            <a:off x="4343400" y="640080"/>
            <a:ext cx="3337560" cy="1691640"/>
          </a:xfrm>
          <a:prstGeom prst="rect">
            <a:avLst/>
          </a:prstGeom>
          <a:noFill/>
          <a:ln w="12700">
            <a:solidFill>
              <a:srgbClr val="95D5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343400" y="640080"/>
            <a:ext cx="3337560" cy="256032"/>
          </a:xfrm>
          <a:prstGeom prst="rect">
            <a:avLst/>
          </a:prstGeom>
          <a:solidFill>
            <a:srgbClr val="95D5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850" b="1" i="0">
                <a:solidFill>
                  <a:srgbClr val="1B4332"/>
                </a:solidFill>
                <a:latin typeface="Calibri"/>
              </a:rPr>
              <a:t>BATCH PATH  ·  weekly, scheduled</a:t>
            </a:r>
          </a:p>
        </p:txBody>
      </p:sp>
      <p:sp>
        <p:nvSpPr>
          <p:cNvPr id="46" name="Rounded Rectangle 45"/>
          <p:cNvSpPr/>
          <p:nvPr/>
        </p:nvSpPr>
        <p:spPr>
          <a:xfrm>
            <a:off x="4411980" y="960119"/>
            <a:ext cx="754380" cy="594360"/>
          </a:xfrm>
          <a:prstGeom prst="roundRect">
            <a:avLst/>
          </a:prstGeom>
          <a:solidFill>
            <a:srgbClr val="FFFFFF"/>
          </a:solidFill>
          <a:ln w="6350">
            <a:solidFill>
              <a:srgbClr val="1B43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448556" y="996695"/>
            <a:ext cx="681228" cy="521208"/>
          </a:xfrm>
          <a:prstGeom prst="rect">
            <a:avLst/>
          </a:prstGeom>
          <a:noFill/>
        </p:spPr>
        <p:txBody>
          <a:bodyPr wrap="square" anchor="ctr" lIns="54864" rIns="54864" tIns="36576" bIns="36576">
            <a:spAutoFit/>
          </a:bodyPr>
          <a:lstStyle/>
          <a:p>
            <a:pPr algn="ctr"/>
            <a:r>
              <a:rPr sz="750" b="1" i="0">
                <a:solidFill>
                  <a:srgbClr val="1B4332"/>
                </a:solidFill>
                <a:latin typeface="Calibri"/>
              </a:rPr>
              <a:t>Airflow trigger</a:t>
            </a:r>
          </a:p>
          <a:p>
            <a:pPr algn="ctr"/>
            <a:r>
              <a:rPr sz="650" b="0" i="1">
                <a:solidFill>
                  <a:srgbClr val="6B7A7A"/>
                </a:solidFill>
                <a:latin typeface="Calibri"/>
              </a:rPr>
              <a:t>Mon 06:00 SGT</a:t>
            </a:r>
          </a:p>
        </p:txBody>
      </p:sp>
      <p:cxnSp>
        <p:nvCxnSpPr>
          <p:cNvPr id="48" name="Connector 47"/>
          <p:cNvCxnSpPr/>
          <p:nvPr/>
        </p:nvCxnSpPr>
        <p:spPr>
          <a:xfrm>
            <a:off x="5166360" y="1252728"/>
            <a:ext cx="64008" cy="0"/>
          </a:xfrm>
          <a:prstGeom prst="line">
            <a:avLst/>
          </a:prstGeom>
          <a:ln w="15240">
            <a:solidFill>
              <a:srgbClr val="95D5B2"/>
            </a:solidFill>
            <a:tailEnd type="triangle" w="med" h="med"/>
          </a:ln>
        </p:spPr>
        <p:style>
          <a:lnRef idx="2">
            <a:schemeClr val="accent1"/>
          </a:lnRef>
          <a:fillRef idx="0">
            <a:schemeClr val="accent1"/>
          </a:fillRef>
          <a:effectRef idx="1">
            <a:schemeClr val="accent1"/>
          </a:effectRef>
          <a:fontRef idx="minor">
            <a:schemeClr val="tx1"/>
          </a:fontRef>
        </p:style>
      </p:cxnSp>
      <p:sp>
        <p:nvSpPr>
          <p:cNvPr id="49" name="Rounded Rectangle 48"/>
          <p:cNvSpPr/>
          <p:nvPr/>
        </p:nvSpPr>
        <p:spPr>
          <a:xfrm>
            <a:off x="5230368" y="960119"/>
            <a:ext cx="754380" cy="594360"/>
          </a:xfrm>
          <a:prstGeom prst="roundRect">
            <a:avLst/>
          </a:prstGeom>
          <a:solidFill>
            <a:srgbClr val="FFFFFF"/>
          </a:solidFill>
          <a:ln w="6350">
            <a:solidFill>
              <a:srgbClr val="1B43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266944" y="996695"/>
            <a:ext cx="681228" cy="521208"/>
          </a:xfrm>
          <a:prstGeom prst="rect">
            <a:avLst/>
          </a:prstGeom>
          <a:noFill/>
        </p:spPr>
        <p:txBody>
          <a:bodyPr wrap="square" anchor="ctr" lIns="54864" rIns="54864" tIns="36576" bIns="36576">
            <a:spAutoFit/>
          </a:bodyPr>
          <a:lstStyle/>
          <a:p>
            <a:pPr algn="ctr"/>
            <a:r>
              <a:rPr sz="750" b="1" i="0">
                <a:solidFill>
                  <a:srgbClr val="1B4332"/>
                </a:solidFill>
                <a:latin typeface="Calibri"/>
              </a:rPr>
              <a:t>Score 330 subzones</a:t>
            </a:r>
          </a:p>
          <a:p>
            <a:pPr algn="ctr"/>
            <a:r>
              <a:rPr sz="650" b="0" i="1">
                <a:solidFill>
                  <a:srgbClr val="6B7A7A"/>
                </a:solidFill>
                <a:latin typeface="Calibri"/>
              </a:rPr>
              <a:t>batch inference</a:t>
            </a:r>
          </a:p>
        </p:txBody>
      </p:sp>
      <p:cxnSp>
        <p:nvCxnSpPr>
          <p:cNvPr id="51" name="Connector 50"/>
          <p:cNvCxnSpPr/>
          <p:nvPr/>
        </p:nvCxnSpPr>
        <p:spPr>
          <a:xfrm>
            <a:off x="5984748" y="1252728"/>
            <a:ext cx="64008" cy="0"/>
          </a:xfrm>
          <a:prstGeom prst="line">
            <a:avLst/>
          </a:prstGeom>
          <a:ln w="15240">
            <a:solidFill>
              <a:srgbClr val="95D5B2"/>
            </a:solidFill>
            <a:tailEnd type="triangle" w="med" h="med"/>
          </a:ln>
        </p:spPr>
        <p:style>
          <a:lnRef idx="2">
            <a:schemeClr val="accent1"/>
          </a:lnRef>
          <a:fillRef idx="0">
            <a:schemeClr val="accent1"/>
          </a:fillRef>
          <a:effectRef idx="1">
            <a:schemeClr val="accent1"/>
          </a:effectRef>
          <a:fontRef idx="minor">
            <a:schemeClr val="tx1"/>
          </a:fontRef>
        </p:style>
      </p:cxnSp>
      <p:sp>
        <p:nvSpPr>
          <p:cNvPr id="52" name="Rounded Rectangle 51"/>
          <p:cNvSpPr/>
          <p:nvPr/>
        </p:nvSpPr>
        <p:spPr>
          <a:xfrm>
            <a:off x="6048756" y="960119"/>
            <a:ext cx="754380" cy="594360"/>
          </a:xfrm>
          <a:prstGeom prst="roundRect">
            <a:avLst/>
          </a:prstGeom>
          <a:solidFill>
            <a:srgbClr val="FFFFFF"/>
          </a:solidFill>
          <a:ln w="6350">
            <a:solidFill>
              <a:srgbClr val="1B43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085332" y="996695"/>
            <a:ext cx="681228" cy="521208"/>
          </a:xfrm>
          <a:prstGeom prst="rect">
            <a:avLst/>
          </a:prstGeom>
          <a:noFill/>
        </p:spPr>
        <p:txBody>
          <a:bodyPr wrap="square" anchor="ctr" lIns="54864" rIns="54864" tIns="36576" bIns="36576">
            <a:spAutoFit/>
          </a:bodyPr>
          <a:lstStyle/>
          <a:p>
            <a:pPr algn="ctr"/>
            <a:r>
              <a:rPr sz="750" b="1" i="0">
                <a:solidFill>
                  <a:srgbClr val="1B4332"/>
                </a:solidFill>
                <a:latin typeface="Calibri"/>
              </a:rPr>
              <a:t>risk_tier table</a:t>
            </a:r>
          </a:p>
          <a:p>
            <a:pPr algn="ctr"/>
            <a:r>
              <a:rPr sz="650" b="0" i="1">
                <a:solidFill>
                  <a:srgbClr val="6B7A7A"/>
                </a:solidFill>
                <a:latin typeface="Calibri"/>
              </a:rPr>
              <a:t>Postgres</a:t>
            </a:r>
          </a:p>
        </p:txBody>
      </p:sp>
      <p:cxnSp>
        <p:nvCxnSpPr>
          <p:cNvPr id="54" name="Connector 53"/>
          <p:cNvCxnSpPr/>
          <p:nvPr/>
        </p:nvCxnSpPr>
        <p:spPr>
          <a:xfrm>
            <a:off x="6803136" y="1252728"/>
            <a:ext cx="64008" cy="0"/>
          </a:xfrm>
          <a:prstGeom prst="line">
            <a:avLst/>
          </a:prstGeom>
          <a:ln w="15240">
            <a:solidFill>
              <a:srgbClr val="95D5B2"/>
            </a:solidFill>
            <a:tailEnd type="triangle" w="med" h="med"/>
          </a:ln>
        </p:spPr>
        <p:style>
          <a:lnRef idx="2">
            <a:schemeClr val="accent1"/>
          </a:lnRef>
          <a:fillRef idx="0">
            <a:schemeClr val="accent1"/>
          </a:fillRef>
          <a:effectRef idx="1">
            <a:schemeClr val="accent1"/>
          </a:effectRef>
          <a:fontRef idx="minor">
            <a:schemeClr val="tx1"/>
          </a:fontRef>
        </p:style>
      </p:cxnSp>
      <p:sp>
        <p:nvSpPr>
          <p:cNvPr id="55" name="Rounded Rectangle 54"/>
          <p:cNvSpPr/>
          <p:nvPr/>
        </p:nvSpPr>
        <p:spPr>
          <a:xfrm>
            <a:off x="6867144" y="960119"/>
            <a:ext cx="754380" cy="594360"/>
          </a:xfrm>
          <a:prstGeom prst="roundRect">
            <a:avLst/>
          </a:prstGeom>
          <a:solidFill>
            <a:srgbClr val="FFFFFF"/>
          </a:solidFill>
          <a:ln w="6350">
            <a:solidFill>
              <a:srgbClr val="1B43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903720" y="996695"/>
            <a:ext cx="681228" cy="521208"/>
          </a:xfrm>
          <a:prstGeom prst="rect">
            <a:avLst/>
          </a:prstGeom>
          <a:noFill/>
        </p:spPr>
        <p:txBody>
          <a:bodyPr wrap="square" anchor="ctr" lIns="54864" rIns="54864" tIns="36576" bIns="36576">
            <a:spAutoFit/>
          </a:bodyPr>
          <a:lstStyle/>
          <a:p>
            <a:pPr algn="ctr"/>
            <a:r>
              <a:rPr sz="750" b="1" i="0">
                <a:solidFill>
                  <a:srgbClr val="1B4332"/>
                </a:solidFill>
                <a:latin typeface="Calibri"/>
              </a:rPr>
              <a:t>NEA Dashboard</a:t>
            </a:r>
          </a:p>
          <a:p>
            <a:pPr algn="ctr"/>
            <a:r>
              <a:rPr sz="650" b="0" i="1">
                <a:solidFill>
                  <a:srgbClr val="6B7A7A"/>
                </a:solidFill>
                <a:latin typeface="Calibri"/>
              </a:rPr>
              <a:t>fogging map</a:t>
            </a:r>
          </a:p>
        </p:txBody>
      </p:sp>
      <p:sp>
        <p:nvSpPr>
          <p:cNvPr id="57" name="TextBox 56"/>
          <p:cNvSpPr txBox="1"/>
          <p:nvPr/>
        </p:nvSpPr>
        <p:spPr>
          <a:xfrm>
            <a:off x="4411980" y="1645920"/>
            <a:ext cx="3200400" cy="320040"/>
          </a:xfrm>
          <a:prstGeom prst="rect">
            <a:avLst/>
          </a:prstGeom>
          <a:noFill/>
        </p:spPr>
        <p:txBody>
          <a:bodyPr wrap="square" anchor="t" lIns="54864" rIns="54864" tIns="36576" bIns="36576">
            <a:spAutoFit/>
          </a:bodyPr>
          <a:lstStyle/>
          <a:p>
            <a:pPr algn="ctr"/>
            <a:r>
              <a:rPr sz="700" b="0" i="1">
                <a:solidFill>
                  <a:srgbClr val="95D5B2"/>
                </a:solidFill>
                <a:latin typeface="Calibri"/>
              </a:rPr>
              <a:t>Reads offline features from Gold  ·  pulls model from registry  ·  writes weekly risk tiers</a:t>
            </a:r>
          </a:p>
        </p:txBody>
      </p:sp>
      <p:sp>
        <p:nvSpPr>
          <p:cNvPr id="58" name="Rectangle 57"/>
          <p:cNvSpPr/>
          <p:nvPr/>
        </p:nvSpPr>
        <p:spPr>
          <a:xfrm>
            <a:off x="4343400" y="2423160"/>
            <a:ext cx="3337560" cy="1920240"/>
          </a:xfrm>
          <a:prstGeom prst="rect">
            <a:avLst/>
          </a:prstGeom>
          <a:noFill/>
          <a:ln w="12700">
            <a:solidFill>
              <a:srgbClr val="B84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4343400" y="2423160"/>
            <a:ext cx="3337560" cy="256032"/>
          </a:xfrm>
          <a:prstGeom prst="rect">
            <a:avLst/>
          </a:prstGeom>
          <a:solidFill>
            <a:srgbClr val="B84B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850" b="1" i="0">
                <a:solidFill>
                  <a:srgbClr val="FFFFFF"/>
                </a:solidFill>
                <a:latin typeface="Calibri"/>
              </a:rPr>
              <a:t>REAL-TIME PATH  ·  event-driven, sub-second</a:t>
            </a:r>
          </a:p>
        </p:txBody>
      </p:sp>
      <p:sp>
        <p:nvSpPr>
          <p:cNvPr id="60" name="Rounded Rectangle 59"/>
          <p:cNvSpPr/>
          <p:nvPr/>
        </p:nvSpPr>
        <p:spPr>
          <a:xfrm>
            <a:off x="4411980" y="2743200"/>
            <a:ext cx="496824" cy="640080"/>
          </a:xfrm>
          <a:prstGeom prst="roundRect">
            <a:avLst/>
          </a:prstGeom>
          <a:solidFill>
            <a:srgbClr val="FFFFFF"/>
          </a:solidFill>
          <a:ln w="6350">
            <a:solidFill>
              <a:srgbClr val="B84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448556" y="2779776"/>
            <a:ext cx="423672" cy="566928"/>
          </a:xfrm>
          <a:prstGeom prst="rect">
            <a:avLst/>
          </a:prstGeom>
          <a:noFill/>
        </p:spPr>
        <p:txBody>
          <a:bodyPr wrap="square" anchor="ctr" lIns="54864" rIns="54864" tIns="36576" bIns="36576">
            <a:spAutoFit/>
          </a:bodyPr>
          <a:lstStyle/>
          <a:p>
            <a:pPr algn="ctr"/>
            <a:r>
              <a:rPr sz="750" b="1" i="0">
                <a:solidFill>
                  <a:srgbClr val="B84B3C"/>
                </a:solidFill>
                <a:latin typeface="Calibri"/>
              </a:rPr>
              <a:t>Case INSERT</a:t>
            </a:r>
          </a:p>
          <a:p>
            <a:pPr algn="ctr"/>
            <a:r>
              <a:rPr sz="650" b="0" i="1">
                <a:solidFill>
                  <a:srgbClr val="6B7A7A"/>
                </a:solidFill>
                <a:latin typeface="Calibri"/>
              </a:rPr>
              <a:t>to Postgres</a:t>
            </a:r>
          </a:p>
        </p:txBody>
      </p:sp>
      <p:cxnSp>
        <p:nvCxnSpPr>
          <p:cNvPr id="62" name="Connector 61"/>
          <p:cNvCxnSpPr/>
          <p:nvPr/>
        </p:nvCxnSpPr>
        <p:spPr>
          <a:xfrm>
            <a:off x="4908804" y="3063239"/>
            <a:ext cx="45720" cy="0"/>
          </a:xfrm>
          <a:prstGeom prst="line">
            <a:avLst/>
          </a:prstGeom>
          <a:ln w="15240">
            <a:solidFill>
              <a:srgbClr val="B84B3C"/>
            </a:solidFill>
            <a:tailEnd type="triangle" w="med" h="med"/>
          </a:ln>
        </p:spPr>
        <p:style>
          <a:lnRef idx="2">
            <a:schemeClr val="accent1"/>
          </a:lnRef>
          <a:fillRef idx="0">
            <a:schemeClr val="accent1"/>
          </a:fillRef>
          <a:effectRef idx="1">
            <a:schemeClr val="accent1"/>
          </a:effectRef>
          <a:fontRef idx="minor">
            <a:schemeClr val="tx1"/>
          </a:fontRef>
        </p:style>
      </p:cxnSp>
      <p:sp>
        <p:nvSpPr>
          <p:cNvPr id="63" name="Rounded Rectangle 62"/>
          <p:cNvSpPr/>
          <p:nvPr/>
        </p:nvSpPr>
        <p:spPr>
          <a:xfrm>
            <a:off x="4954524" y="2743200"/>
            <a:ext cx="496824" cy="640080"/>
          </a:xfrm>
          <a:prstGeom prst="roundRect">
            <a:avLst/>
          </a:prstGeom>
          <a:solidFill>
            <a:srgbClr val="FFFFFF"/>
          </a:solidFill>
          <a:ln w="6350">
            <a:solidFill>
              <a:srgbClr val="B84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991100" y="2779776"/>
            <a:ext cx="423672" cy="566928"/>
          </a:xfrm>
          <a:prstGeom prst="rect">
            <a:avLst/>
          </a:prstGeom>
          <a:noFill/>
        </p:spPr>
        <p:txBody>
          <a:bodyPr wrap="square" anchor="ctr" lIns="54864" rIns="54864" tIns="36576" bIns="36576">
            <a:spAutoFit/>
          </a:bodyPr>
          <a:lstStyle/>
          <a:p>
            <a:pPr algn="ctr"/>
            <a:r>
              <a:rPr sz="750" b="1" i="0">
                <a:solidFill>
                  <a:srgbClr val="B84B3C"/>
                </a:solidFill>
                <a:latin typeface="Calibri"/>
              </a:rPr>
              <a:t>LISTEN / NOTIFY</a:t>
            </a:r>
          </a:p>
          <a:p>
            <a:pPr algn="ctr"/>
            <a:r>
              <a:rPr sz="650" b="0" i="1">
                <a:solidFill>
                  <a:srgbClr val="6B7A7A"/>
                </a:solidFill>
                <a:latin typeface="Calibri"/>
              </a:rPr>
              <a:t>event trigger</a:t>
            </a:r>
          </a:p>
        </p:txBody>
      </p:sp>
      <p:cxnSp>
        <p:nvCxnSpPr>
          <p:cNvPr id="65" name="Connector 64"/>
          <p:cNvCxnSpPr/>
          <p:nvPr/>
        </p:nvCxnSpPr>
        <p:spPr>
          <a:xfrm>
            <a:off x="5451348" y="3063239"/>
            <a:ext cx="45720" cy="0"/>
          </a:xfrm>
          <a:prstGeom prst="line">
            <a:avLst/>
          </a:prstGeom>
          <a:ln w="15240">
            <a:solidFill>
              <a:srgbClr val="B84B3C"/>
            </a:solidFill>
            <a:tailEnd type="triangle" w="med" h="med"/>
          </a:ln>
        </p:spPr>
        <p:style>
          <a:lnRef idx="2">
            <a:schemeClr val="accent1"/>
          </a:lnRef>
          <a:fillRef idx="0">
            <a:schemeClr val="accent1"/>
          </a:fillRef>
          <a:effectRef idx="1">
            <a:schemeClr val="accent1"/>
          </a:effectRef>
          <a:fontRef idx="minor">
            <a:schemeClr val="tx1"/>
          </a:fontRef>
        </p:style>
      </p:cxnSp>
      <p:sp>
        <p:nvSpPr>
          <p:cNvPr id="66" name="Rounded Rectangle 65"/>
          <p:cNvSpPr/>
          <p:nvPr/>
        </p:nvSpPr>
        <p:spPr>
          <a:xfrm>
            <a:off x="5497068" y="2743200"/>
            <a:ext cx="496824" cy="640080"/>
          </a:xfrm>
          <a:prstGeom prst="roundRect">
            <a:avLst/>
          </a:prstGeom>
          <a:solidFill>
            <a:srgbClr val="FFFFFF"/>
          </a:solidFill>
          <a:ln w="6350">
            <a:solidFill>
              <a:srgbClr val="B84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533644" y="2779776"/>
            <a:ext cx="423672" cy="566928"/>
          </a:xfrm>
          <a:prstGeom prst="rect">
            <a:avLst/>
          </a:prstGeom>
          <a:noFill/>
        </p:spPr>
        <p:txBody>
          <a:bodyPr wrap="square" anchor="ctr" lIns="54864" rIns="54864" tIns="36576" bIns="36576">
            <a:spAutoFit/>
          </a:bodyPr>
          <a:lstStyle/>
          <a:p>
            <a:pPr algn="ctr"/>
            <a:r>
              <a:rPr sz="750" b="1" i="0">
                <a:solidFill>
                  <a:srgbClr val="B84B3C"/>
                </a:solidFill>
                <a:latin typeface="Calibri"/>
              </a:rPr>
              <a:t>Listener +
FastAPI</a:t>
            </a:r>
          </a:p>
          <a:p>
            <a:pPr algn="ctr"/>
            <a:r>
              <a:rPr sz="650" b="0" i="1">
                <a:solidFill>
                  <a:srgbClr val="6B7A7A"/>
                </a:solidFill>
                <a:latin typeface="Calibri"/>
              </a:rPr>
              <a:t>Docker</a:t>
            </a:r>
          </a:p>
        </p:txBody>
      </p:sp>
      <p:cxnSp>
        <p:nvCxnSpPr>
          <p:cNvPr id="68" name="Connector 67"/>
          <p:cNvCxnSpPr/>
          <p:nvPr/>
        </p:nvCxnSpPr>
        <p:spPr>
          <a:xfrm>
            <a:off x="5993892" y="3063239"/>
            <a:ext cx="45720" cy="0"/>
          </a:xfrm>
          <a:prstGeom prst="line">
            <a:avLst/>
          </a:prstGeom>
          <a:ln w="15240">
            <a:solidFill>
              <a:srgbClr val="B84B3C"/>
            </a:solidFill>
            <a:tailEnd type="triangle" w="med" h="med"/>
          </a:ln>
        </p:spPr>
        <p:style>
          <a:lnRef idx="2">
            <a:schemeClr val="accent1"/>
          </a:lnRef>
          <a:fillRef idx="0">
            <a:schemeClr val="accent1"/>
          </a:fillRef>
          <a:effectRef idx="1">
            <a:schemeClr val="accent1"/>
          </a:effectRef>
          <a:fontRef idx="minor">
            <a:schemeClr val="tx1"/>
          </a:fontRef>
        </p:style>
      </p:cxnSp>
      <p:sp>
        <p:nvSpPr>
          <p:cNvPr id="69" name="Rounded Rectangle 68"/>
          <p:cNvSpPr/>
          <p:nvPr/>
        </p:nvSpPr>
        <p:spPr>
          <a:xfrm>
            <a:off x="6039612" y="2743200"/>
            <a:ext cx="496824" cy="640080"/>
          </a:xfrm>
          <a:prstGeom prst="roundRect">
            <a:avLst/>
          </a:prstGeom>
          <a:solidFill>
            <a:srgbClr val="FFFFFF"/>
          </a:solidFill>
          <a:ln w="6350">
            <a:solidFill>
              <a:srgbClr val="B84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076188" y="2779776"/>
            <a:ext cx="423672" cy="566928"/>
          </a:xfrm>
          <a:prstGeom prst="rect">
            <a:avLst/>
          </a:prstGeom>
          <a:noFill/>
        </p:spPr>
        <p:txBody>
          <a:bodyPr wrap="square" anchor="ctr" lIns="54864" rIns="54864" tIns="36576" bIns="36576">
            <a:spAutoFit/>
          </a:bodyPr>
          <a:lstStyle/>
          <a:p>
            <a:pPr algn="ctr"/>
            <a:r>
              <a:rPr sz="750" b="1" i="0">
                <a:solidFill>
                  <a:srgbClr val="B84B3C"/>
                </a:solidFill>
                <a:latin typeface="Calibri"/>
              </a:rPr>
              <a:t>Score subzone</a:t>
            </a:r>
          </a:p>
          <a:p>
            <a:pPr algn="ctr"/>
            <a:r>
              <a:rPr sz="650" b="0" i="1">
                <a:solidFill>
                  <a:srgbClr val="6B7A7A"/>
                </a:solidFill>
                <a:latin typeface="Calibri"/>
              </a:rPr>
              <a:t>online features</a:t>
            </a:r>
          </a:p>
        </p:txBody>
      </p:sp>
      <p:cxnSp>
        <p:nvCxnSpPr>
          <p:cNvPr id="71" name="Connector 70"/>
          <p:cNvCxnSpPr/>
          <p:nvPr/>
        </p:nvCxnSpPr>
        <p:spPr>
          <a:xfrm>
            <a:off x="6536436" y="3063239"/>
            <a:ext cx="45720" cy="0"/>
          </a:xfrm>
          <a:prstGeom prst="line">
            <a:avLst/>
          </a:prstGeom>
          <a:ln w="15240">
            <a:solidFill>
              <a:srgbClr val="B84B3C"/>
            </a:solidFill>
            <a:tailEnd type="triangle" w="med" h="med"/>
          </a:ln>
        </p:spPr>
        <p:style>
          <a:lnRef idx="2">
            <a:schemeClr val="accent1"/>
          </a:lnRef>
          <a:fillRef idx="0">
            <a:schemeClr val="accent1"/>
          </a:fillRef>
          <a:effectRef idx="1">
            <a:schemeClr val="accent1"/>
          </a:effectRef>
          <a:fontRef idx="minor">
            <a:schemeClr val="tx1"/>
          </a:fontRef>
        </p:style>
      </p:cxnSp>
      <p:sp>
        <p:nvSpPr>
          <p:cNvPr id="72" name="Rounded Rectangle 71"/>
          <p:cNvSpPr/>
          <p:nvPr/>
        </p:nvSpPr>
        <p:spPr>
          <a:xfrm>
            <a:off x="6582156" y="2743200"/>
            <a:ext cx="496824" cy="640080"/>
          </a:xfrm>
          <a:prstGeom prst="roundRect">
            <a:avLst/>
          </a:prstGeom>
          <a:solidFill>
            <a:srgbClr val="E8C8C0"/>
          </a:solidFill>
          <a:ln w="6350">
            <a:solidFill>
              <a:srgbClr val="B84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618732" y="2779776"/>
            <a:ext cx="423672" cy="566928"/>
          </a:xfrm>
          <a:prstGeom prst="rect">
            <a:avLst/>
          </a:prstGeom>
          <a:noFill/>
        </p:spPr>
        <p:txBody>
          <a:bodyPr wrap="square" anchor="ctr" lIns="54864" rIns="54864" tIns="36576" bIns="36576">
            <a:spAutoFit/>
          </a:bodyPr>
          <a:lstStyle/>
          <a:p>
            <a:pPr algn="ctr"/>
            <a:r>
              <a:rPr sz="750" b="1" i="0">
                <a:solidFill>
                  <a:srgbClr val="B84B3C"/>
                </a:solidFill>
                <a:latin typeface="Calibri"/>
              </a:rPr>
              <a:t>Alert rule</a:t>
            </a:r>
          </a:p>
          <a:p>
            <a:pPr algn="ctr"/>
            <a:r>
              <a:rPr sz="650" b="0" i="1">
                <a:solidFill>
                  <a:srgbClr val="6B7A7A"/>
                </a:solidFill>
                <a:latin typeface="Calibri"/>
              </a:rPr>
              <a:t>rule layer</a:t>
            </a:r>
          </a:p>
        </p:txBody>
      </p:sp>
      <p:cxnSp>
        <p:nvCxnSpPr>
          <p:cNvPr id="74" name="Connector 73"/>
          <p:cNvCxnSpPr/>
          <p:nvPr/>
        </p:nvCxnSpPr>
        <p:spPr>
          <a:xfrm>
            <a:off x="7078980" y="3063239"/>
            <a:ext cx="45720" cy="0"/>
          </a:xfrm>
          <a:prstGeom prst="line">
            <a:avLst/>
          </a:prstGeom>
          <a:ln w="15240">
            <a:solidFill>
              <a:srgbClr val="B84B3C"/>
            </a:solidFill>
            <a:tailEnd type="triangle" w="med" h="med"/>
          </a:ln>
        </p:spPr>
        <p:style>
          <a:lnRef idx="2">
            <a:schemeClr val="accent1"/>
          </a:lnRef>
          <a:fillRef idx="0">
            <a:schemeClr val="accent1"/>
          </a:fillRef>
          <a:effectRef idx="1">
            <a:schemeClr val="accent1"/>
          </a:effectRef>
          <a:fontRef idx="minor">
            <a:schemeClr val="tx1"/>
          </a:fontRef>
        </p:style>
      </p:cxnSp>
      <p:sp>
        <p:nvSpPr>
          <p:cNvPr id="75" name="Rounded Rectangle 74"/>
          <p:cNvSpPr/>
          <p:nvPr/>
        </p:nvSpPr>
        <p:spPr>
          <a:xfrm>
            <a:off x="7124700" y="2743200"/>
            <a:ext cx="496824" cy="640080"/>
          </a:xfrm>
          <a:prstGeom prst="roundRect">
            <a:avLst/>
          </a:prstGeom>
          <a:solidFill>
            <a:srgbClr val="FFFFFF"/>
          </a:solidFill>
          <a:ln w="6350">
            <a:solidFill>
              <a:srgbClr val="B84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7161276" y="2779776"/>
            <a:ext cx="423672" cy="566928"/>
          </a:xfrm>
          <a:prstGeom prst="rect">
            <a:avLst/>
          </a:prstGeom>
          <a:noFill/>
        </p:spPr>
        <p:txBody>
          <a:bodyPr wrap="square" anchor="ctr" lIns="54864" rIns="54864" tIns="36576" bIns="36576">
            <a:spAutoFit/>
          </a:bodyPr>
          <a:lstStyle/>
          <a:p>
            <a:pPr algn="ctr"/>
            <a:r>
              <a:rPr sz="750" b="1" i="0">
                <a:solidFill>
                  <a:srgbClr val="B84B3C"/>
                </a:solidFill>
                <a:latin typeface="Calibri"/>
              </a:rPr>
              <a:t>Alert written</a:t>
            </a:r>
          </a:p>
          <a:p>
            <a:pPr algn="ctr"/>
            <a:r>
              <a:rPr sz="650" b="0" i="1">
                <a:solidFill>
                  <a:srgbClr val="6B7A7A"/>
                </a:solidFill>
                <a:latin typeface="Calibri"/>
              </a:rPr>
              <a:t>→ CDC officer</a:t>
            </a:r>
          </a:p>
        </p:txBody>
      </p:sp>
      <p:sp>
        <p:nvSpPr>
          <p:cNvPr id="77" name="TextBox 76"/>
          <p:cNvSpPr txBox="1"/>
          <p:nvPr/>
        </p:nvSpPr>
        <p:spPr>
          <a:xfrm>
            <a:off x="4411980" y="3474720"/>
            <a:ext cx="3200400" cy="320040"/>
          </a:xfrm>
          <a:prstGeom prst="rect">
            <a:avLst/>
          </a:prstGeom>
          <a:noFill/>
        </p:spPr>
        <p:txBody>
          <a:bodyPr wrap="square" anchor="t" lIns="54864" rIns="54864" tIns="36576" bIns="36576">
            <a:spAutoFit/>
          </a:bodyPr>
          <a:lstStyle/>
          <a:p>
            <a:pPr algn="ctr"/>
            <a:r>
              <a:rPr sz="700" b="0" i="1">
                <a:solidFill>
                  <a:srgbClr val="E8C8C0"/>
                </a:solidFill>
                <a:latin typeface="Calibri"/>
              </a:rPr>
              <a:t>Triggered by new case → reads Redis online features → same MLflow artifact → applies rule → alert written</a:t>
            </a:r>
          </a:p>
        </p:txBody>
      </p:sp>
      <p:sp>
        <p:nvSpPr>
          <p:cNvPr id="78" name="TextBox 77"/>
          <p:cNvSpPr txBox="1"/>
          <p:nvPr/>
        </p:nvSpPr>
        <p:spPr>
          <a:xfrm>
            <a:off x="4411980" y="3794760"/>
            <a:ext cx="3200400" cy="411480"/>
          </a:xfrm>
          <a:prstGeom prst="rect">
            <a:avLst/>
          </a:prstGeom>
          <a:noFill/>
        </p:spPr>
        <p:txBody>
          <a:bodyPr wrap="square" anchor="t" lIns="54864" rIns="54864" tIns="36576" bIns="36576">
            <a:spAutoFit/>
          </a:bodyPr>
          <a:lstStyle/>
          <a:p>
            <a:pPr algn="ctr"/>
            <a:r>
              <a:rPr sz="750" b="1" i="0">
                <a:solidFill>
                  <a:srgbClr val="B84B3C"/>
                </a:solidFill>
                <a:latin typeface="Calibri"/>
              </a:rPr>
              <a:t>end-to-end target: &lt; 500 ms  ·  alert rule is transparent business logic, not a 2nd model</a:t>
            </a:r>
          </a:p>
        </p:txBody>
      </p:sp>
      <p:sp>
        <p:nvSpPr>
          <p:cNvPr id="79" name="Rectangle 78"/>
          <p:cNvSpPr/>
          <p:nvPr/>
        </p:nvSpPr>
        <p:spPr>
          <a:xfrm>
            <a:off x="7726679" y="640080"/>
            <a:ext cx="1280160" cy="1005840"/>
          </a:xfrm>
          <a:prstGeom prst="rect">
            <a:avLst/>
          </a:prstGeom>
          <a:solidFill>
            <a:srgbClr val="2D6A4F"/>
          </a:solidFill>
          <a:ln w="6350">
            <a:solidFill>
              <a:srgbClr val="95D5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7772400" y="667512"/>
            <a:ext cx="1188719" cy="201168"/>
          </a:xfrm>
          <a:prstGeom prst="rect">
            <a:avLst/>
          </a:prstGeom>
          <a:noFill/>
        </p:spPr>
        <p:txBody>
          <a:bodyPr wrap="square" anchor="t" lIns="54864" rIns="54864" tIns="36576" bIns="36576">
            <a:spAutoFit/>
          </a:bodyPr>
          <a:lstStyle/>
          <a:p>
            <a:pPr algn="l"/>
            <a:r>
              <a:rPr sz="800" b="1" i="0">
                <a:solidFill>
                  <a:srgbClr val="95D5B2"/>
                </a:solidFill>
                <a:latin typeface="Calibri"/>
              </a:rPr>
              <a:t>MONITOR</a:t>
            </a:r>
          </a:p>
        </p:txBody>
      </p:sp>
      <p:sp>
        <p:nvSpPr>
          <p:cNvPr id="81" name="TextBox 80"/>
          <p:cNvSpPr txBox="1"/>
          <p:nvPr/>
        </p:nvSpPr>
        <p:spPr>
          <a:xfrm>
            <a:off x="7799831" y="868680"/>
            <a:ext cx="1133856" cy="182880"/>
          </a:xfrm>
          <a:prstGeom prst="rect">
            <a:avLst/>
          </a:prstGeom>
          <a:noFill/>
        </p:spPr>
        <p:txBody>
          <a:bodyPr wrap="square" anchor="t" lIns="54864" rIns="54864" tIns="36576" bIns="36576">
            <a:spAutoFit/>
          </a:bodyPr>
          <a:lstStyle/>
          <a:p>
            <a:pPr algn="l"/>
            <a:r>
              <a:rPr sz="700" b="0" i="0">
                <a:solidFill>
                  <a:srgbClr val="FFFFFF"/>
                </a:solidFill>
                <a:latin typeface="Calibri"/>
              </a:rPr>
              <a:t>• Precision/Recall</a:t>
            </a:r>
          </a:p>
        </p:txBody>
      </p:sp>
      <p:sp>
        <p:nvSpPr>
          <p:cNvPr id="82" name="TextBox 81"/>
          <p:cNvSpPr txBox="1"/>
          <p:nvPr/>
        </p:nvSpPr>
        <p:spPr>
          <a:xfrm>
            <a:off x="7799831" y="1051560"/>
            <a:ext cx="1133856" cy="182880"/>
          </a:xfrm>
          <a:prstGeom prst="rect">
            <a:avLst/>
          </a:prstGeom>
          <a:noFill/>
        </p:spPr>
        <p:txBody>
          <a:bodyPr wrap="square" anchor="t" lIns="54864" rIns="54864" tIns="36576" bIns="36576">
            <a:spAutoFit/>
          </a:bodyPr>
          <a:lstStyle/>
          <a:p>
            <a:pPr algn="l"/>
            <a:r>
              <a:rPr sz="700" b="0" i="0">
                <a:solidFill>
                  <a:srgbClr val="FFFFFF"/>
                </a:solidFill>
                <a:latin typeface="Calibri"/>
              </a:rPr>
              <a:t>• Feature drift</a:t>
            </a:r>
          </a:p>
        </p:txBody>
      </p:sp>
      <p:sp>
        <p:nvSpPr>
          <p:cNvPr id="83" name="TextBox 82"/>
          <p:cNvSpPr txBox="1"/>
          <p:nvPr/>
        </p:nvSpPr>
        <p:spPr>
          <a:xfrm>
            <a:off x="7799831" y="1234440"/>
            <a:ext cx="1133856" cy="182880"/>
          </a:xfrm>
          <a:prstGeom prst="rect">
            <a:avLst/>
          </a:prstGeom>
          <a:noFill/>
        </p:spPr>
        <p:txBody>
          <a:bodyPr wrap="square" anchor="t" lIns="54864" rIns="54864" tIns="36576" bIns="36576">
            <a:spAutoFit/>
          </a:bodyPr>
          <a:lstStyle/>
          <a:p>
            <a:pPr algn="l"/>
            <a:r>
              <a:rPr sz="700" b="0" i="0">
                <a:solidFill>
                  <a:srgbClr val="FFFFFF"/>
                </a:solidFill>
                <a:latin typeface="Calibri"/>
              </a:rPr>
              <a:t>• Concept drift</a:t>
            </a:r>
          </a:p>
        </p:txBody>
      </p:sp>
      <p:sp>
        <p:nvSpPr>
          <p:cNvPr id="84" name="TextBox 83"/>
          <p:cNvSpPr txBox="1"/>
          <p:nvPr/>
        </p:nvSpPr>
        <p:spPr>
          <a:xfrm>
            <a:off x="7799831" y="1417320"/>
            <a:ext cx="1133856" cy="182880"/>
          </a:xfrm>
          <a:prstGeom prst="rect">
            <a:avLst/>
          </a:prstGeom>
          <a:noFill/>
        </p:spPr>
        <p:txBody>
          <a:bodyPr wrap="square" anchor="t" lIns="54864" rIns="54864" tIns="36576" bIns="36576">
            <a:spAutoFit/>
          </a:bodyPr>
          <a:lstStyle/>
          <a:p>
            <a:pPr algn="l"/>
            <a:r>
              <a:rPr sz="700" b="0" i="0">
                <a:solidFill>
                  <a:srgbClr val="FFFFFF"/>
                </a:solidFill>
                <a:latin typeface="Calibri"/>
              </a:rPr>
              <a:t>• Lineage</a:t>
            </a:r>
          </a:p>
        </p:txBody>
      </p:sp>
      <p:sp>
        <p:nvSpPr>
          <p:cNvPr id="85" name="Rectangle 84"/>
          <p:cNvSpPr/>
          <p:nvPr/>
        </p:nvSpPr>
        <p:spPr>
          <a:xfrm>
            <a:off x="7726679" y="1737360"/>
            <a:ext cx="1280160" cy="457200"/>
          </a:xfrm>
          <a:prstGeom prst="rect">
            <a:avLst/>
          </a:prstGeom>
          <a:solidFill>
            <a:srgbClr val="B84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7772400" y="1783080"/>
            <a:ext cx="1188719" cy="384048"/>
          </a:xfrm>
          <a:prstGeom prst="rect">
            <a:avLst/>
          </a:prstGeom>
          <a:noFill/>
        </p:spPr>
        <p:txBody>
          <a:bodyPr wrap="square" anchor="t" lIns="54864" rIns="54864" tIns="36576" bIns="36576">
            <a:spAutoFit/>
          </a:bodyPr>
          <a:lstStyle/>
          <a:p>
            <a:pPr algn="ctr"/>
            <a:r>
              <a:rPr sz="800" b="1" i="0">
                <a:solidFill>
                  <a:srgbClr val="FFFFFF"/>
                </a:solidFill>
                <a:latin typeface="Calibri"/>
              </a:rPr>
              <a:t>DRIFT ALARM</a:t>
            </a:r>
          </a:p>
          <a:p>
            <a:pPr algn="ctr"/>
            <a:r>
              <a:rPr sz="650" b="0" i="1">
                <a:solidFill>
                  <a:srgbClr val="E8C8C0"/>
                </a:solidFill>
                <a:latin typeface="Calibri"/>
              </a:rPr>
              <a:t>serotype / seasonal</a:t>
            </a:r>
          </a:p>
        </p:txBody>
      </p:sp>
      <p:sp>
        <p:nvSpPr>
          <p:cNvPr id="87" name="Rectangle 86"/>
          <p:cNvSpPr/>
          <p:nvPr/>
        </p:nvSpPr>
        <p:spPr>
          <a:xfrm>
            <a:off x="7726679" y="2286000"/>
            <a:ext cx="1280160" cy="457200"/>
          </a:xfrm>
          <a:prstGeom prst="rect">
            <a:avLst/>
          </a:prstGeom>
          <a:solidFill>
            <a:srgbClr val="C9A1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7772400" y="2331720"/>
            <a:ext cx="1188719" cy="384048"/>
          </a:xfrm>
          <a:prstGeom prst="rect">
            <a:avLst/>
          </a:prstGeom>
          <a:noFill/>
        </p:spPr>
        <p:txBody>
          <a:bodyPr wrap="square" anchor="t" lIns="54864" rIns="54864" tIns="36576" bIns="36576">
            <a:spAutoFit/>
          </a:bodyPr>
          <a:lstStyle/>
          <a:p>
            <a:pPr algn="ctr"/>
            <a:r>
              <a:rPr sz="800" b="1" i="0">
                <a:solidFill>
                  <a:srgbClr val="FFFFFF"/>
                </a:solidFill>
                <a:latin typeface="Calibri"/>
              </a:rPr>
              <a:t>RETRAIN</a:t>
            </a:r>
          </a:p>
          <a:p>
            <a:pPr algn="ctr"/>
            <a:r>
              <a:rPr sz="650" b="0" i="1">
                <a:solidFill>
                  <a:srgbClr val="FFFFFF"/>
                </a:solidFill>
                <a:latin typeface="Calibri"/>
              </a:rPr>
              <a:t>Airflow DAG</a:t>
            </a:r>
          </a:p>
        </p:txBody>
      </p:sp>
      <p:cxnSp>
        <p:nvCxnSpPr>
          <p:cNvPr id="89" name="Connector 88"/>
          <p:cNvCxnSpPr/>
          <p:nvPr/>
        </p:nvCxnSpPr>
        <p:spPr>
          <a:xfrm flipH="1" flipV="1">
            <a:off x="4297680" y="1280160"/>
            <a:ext cx="3428999" cy="1234440"/>
          </a:xfrm>
          <a:prstGeom prst="line">
            <a:avLst/>
          </a:prstGeom>
          <a:ln w="12700">
            <a:solidFill>
              <a:srgbClr val="C9A146"/>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2423160" y="1280160"/>
            <a:ext cx="45720" cy="1691640"/>
          </a:xfrm>
          <a:prstGeom prst="line">
            <a:avLst/>
          </a:prstGeom>
          <a:ln w="15240">
            <a:solidFill>
              <a:srgbClr val="C9A146"/>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2423160" y="1280160"/>
            <a:ext cx="1920240" cy="1691640"/>
          </a:xfrm>
          <a:prstGeom prst="line">
            <a:avLst/>
          </a:prstGeom>
          <a:ln w="15240">
            <a:solidFill>
              <a:srgbClr val="C9A146"/>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2423160" y="3246120"/>
            <a:ext cx="1920240" cy="411480"/>
          </a:xfrm>
          <a:prstGeom prst="line">
            <a:avLst/>
          </a:prstGeom>
          <a:ln w="19050">
            <a:solidFill>
              <a:srgbClr val="B84B3C"/>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4297680" y="1508760"/>
            <a:ext cx="45720" cy="2011680"/>
          </a:xfrm>
          <a:prstGeom prst="line">
            <a:avLst/>
          </a:prstGeom>
          <a:ln w="15240">
            <a:solidFill>
              <a:srgbClr val="C9A146"/>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4297680" y="3337560"/>
            <a:ext cx="45720" cy="274320"/>
          </a:xfrm>
          <a:prstGeom prst="line">
            <a:avLst/>
          </a:prstGeom>
          <a:ln w="15240">
            <a:solidFill>
              <a:srgbClr val="C9A146"/>
            </a:solidFill>
            <a:tailEnd type="triangle" w="med" h="med"/>
          </a:ln>
        </p:spPr>
        <p:style>
          <a:lnRef idx="2">
            <a:schemeClr val="accent1"/>
          </a:lnRef>
          <a:fillRef idx="0">
            <a:schemeClr val="accent1"/>
          </a:fillRef>
          <a:effectRef idx="1">
            <a:schemeClr val="accent1"/>
          </a:effectRef>
          <a:fontRef idx="minor">
            <a:schemeClr val="tx1"/>
          </a:fontRef>
        </p:style>
      </p:cxnSp>
      <p:sp>
        <p:nvSpPr>
          <p:cNvPr id="95" name="Rectangle 94"/>
          <p:cNvSpPr/>
          <p:nvPr/>
        </p:nvSpPr>
        <p:spPr>
          <a:xfrm>
            <a:off x="182880" y="4480560"/>
            <a:ext cx="8778240" cy="320040"/>
          </a:xfrm>
          <a:prstGeom prst="rect">
            <a:avLst/>
          </a:prstGeom>
          <a:solidFill>
            <a:srgbClr val="2D6A4F"/>
          </a:solidFill>
          <a:ln w="6350">
            <a:solidFill>
              <a:srgbClr val="95D5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228600" y="4498848"/>
            <a:ext cx="8686800" cy="292608"/>
          </a:xfrm>
          <a:prstGeom prst="rect">
            <a:avLst/>
          </a:prstGeom>
          <a:noFill/>
        </p:spPr>
        <p:txBody>
          <a:bodyPr wrap="square" anchor="t" lIns="54864" rIns="54864" tIns="36576" bIns="36576">
            <a:spAutoFit/>
          </a:bodyPr>
          <a:lstStyle/>
          <a:p>
            <a:pPr algn="ctr"/>
            <a:r>
              <a:rPr sz="900" b="1" i="0">
                <a:solidFill>
                  <a:srgbClr val="95D5B2"/>
                </a:solidFill>
                <a:latin typeface="Calibri"/>
              </a:rPr>
              <a:t>All components containerised via Docker + docker-compose   ·   runs fully locally   ·   no cloud spend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B4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20040"/>
            <a:ext cx="365760" cy="320040"/>
          </a:xfrm>
          <a:prstGeom prst="rect">
            <a:avLst/>
          </a:prstGeom>
          <a:solidFill>
            <a:srgbClr val="95D5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100" b="1" i="0">
                <a:solidFill>
                  <a:srgbClr val="1B4332"/>
                </a:solidFill>
                <a:latin typeface="Calibri"/>
              </a:rPr>
              <a:t>06</a:t>
            </a:r>
          </a:p>
        </p:txBody>
      </p:sp>
      <p:sp>
        <p:nvSpPr>
          <p:cNvPr id="4" name="TextBox 3"/>
          <p:cNvSpPr txBox="1"/>
          <p:nvPr/>
        </p:nvSpPr>
        <p:spPr>
          <a:xfrm>
            <a:off x="822960" y="365760"/>
            <a:ext cx="6400800" cy="274320"/>
          </a:xfrm>
          <a:prstGeom prst="rect">
            <a:avLst/>
          </a:prstGeom>
          <a:noFill/>
        </p:spPr>
        <p:txBody>
          <a:bodyPr wrap="square" anchor="t" lIns="54864" rIns="54864" tIns="36576" bIns="36576">
            <a:spAutoFit/>
          </a:bodyPr>
          <a:lstStyle/>
          <a:p>
            <a:pPr algn="l"/>
            <a:r>
              <a:rPr sz="900" b="0" i="0">
                <a:solidFill>
                  <a:srgbClr val="95D5B2"/>
                </a:solidFill>
                <a:latin typeface="Calibri"/>
              </a:rPr>
              <a:t>CS611 MLE — Group Project   |   Design Choices</a:t>
            </a:r>
          </a:p>
        </p:txBody>
      </p:sp>
      <p:sp>
        <p:nvSpPr>
          <p:cNvPr id="5" name="TextBox 4"/>
          <p:cNvSpPr txBox="1"/>
          <p:nvPr/>
        </p:nvSpPr>
        <p:spPr>
          <a:xfrm>
            <a:off x="365760" y="713232"/>
            <a:ext cx="8229600" cy="548640"/>
          </a:xfrm>
          <a:prstGeom prst="rect">
            <a:avLst/>
          </a:prstGeom>
          <a:noFill/>
        </p:spPr>
        <p:txBody>
          <a:bodyPr wrap="square" anchor="t" lIns="54864" rIns="54864" tIns="36576" bIns="36576">
            <a:spAutoFit/>
          </a:bodyPr>
          <a:lstStyle/>
          <a:p>
            <a:pPr algn="l"/>
            <a:r>
              <a:rPr sz="2400" b="1" i="0">
                <a:solidFill>
                  <a:srgbClr val="FFFFFF"/>
                </a:solidFill>
                <a:latin typeface="Georgia"/>
              </a:rPr>
              <a:t>Design choices &amp; what we decided</a:t>
            </a:r>
          </a:p>
        </p:txBody>
      </p:sp>
      <p:sp>
        <p:nvSpPr>
          <p:cNvPr id="6" name="Rectangle 5"/>
          <p:cNvSpPr/>
          <p:nvPr/>
        </p:nvSpPr>
        <p:spPr>
          <a:xfrm>
            <a:off x="365760" y="1417320"/>
            <a:ext cx="4069080" cy="310896"/>
          </a:xfrm>
          <a:prstGeom prst="rect">
            <a:avLst/>
          </a:prstGeom>
          <a:solidFill>
            <a:srgbClr val="40916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r>
              <a:rPr sz="950" b="1" i="0">
                <a:solidFill>
                  <a:srgbClr val="FFFFFF"/>
                </a:solidFill>
                <a:latin typeface="Calibri"/>
              </a:rPr>
              <a:t>DESIGN CHOICES   ·   RATIONALE</a:t>
            </a:r>
          </a:p>
        </p:txBody>
      </p:sp>
      <p:sp>
        <p:nvSpPr>
          <p:cNvPr id="7" name="Rectangle 6"/>
          <p:cNvSpPr/>
          <p:nvPr/>
        </p:nvSpPr>
        <p:spPr>
          <a:xfrm>
            <a:off x="4709160" y="1417320"/>
            <a:ext cx="4069080" cy="310896"/>
          </a:xfrm>
          <a:prstGeom prst="rect">
            <a:avLst/>
          </a:prstGeom>
          <a:solidFill>
            <a:srgbClr val="C9A1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r>
              <a:rPr sz="950" b="1" i="0">
                <a:solidFill>
                  <a:srgbClr val="FFFFFF"/>
                </a:solidFill>
                <a:latin typeface="Calibri"/>
              </a:rPr>
              <a:t>WHAT WE DECIDED SINCE PROPOSAL DRAFT</a:t>
            </a:r>
          </a:p>
        </p:txBody>
      </p:sp>
      <p:sp>
        <p:nvSpPr>
          <p:cNvPr id="8" name="Rectangle 7"/>
          <p:cNvSpPr/>
          <p:nvPr/>
        </p:nvSpPr>
        <p:spPr>
          <a:xfrm>
            <a:off x="365760" y="1828800"/>
            <a:ext cx="54864" cy="676656"/>
          </a:xfrm>
          <a:prstGeom prst="rect">
            <a:avLst/>
          </a:prstGeom>
          <a:solidFill>
            <a:srgbClr val="95D5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0352" y="1828800"/>
            <a:ext cx="3840480" cy="274320"/>
          </a:xfrm>
          <a:prstGeom prst="rect">
            <a:avLst/>
          </a:prstGeom>
          <a:noFill/>
        </p:spPr>
        <p:txBody>
          <a:bodyPr wrap="square" anchor="t" lIns="54864" rIns="54864" tIns="36576" bIns="36576">
            <a:spAutoFit/>
          </a:bodyPr>
          <a:lstStyle/>
          <a:p>
            <a:pPr algn="l"/>
            <a:r>
              <a:rPr sz="1050" b="1" i="0">
                <a:solidFill>
                  <a:srgbClr val="FFFFFF"/>
                </a:solidFill>
                <a:latin typeface="Calibri"/>
              </a:rPr>
              <a:t>Two-layer by design — batch + real-time</a:t>
            </a:r>
          </a:p>
        </p:txBody>
      </p:sp>
      <p:sp>
        <p:nvSpPr>
          <p:cNvPr id="10" name="TextBox 9"/>
          <p:cNvSpPr txBox="1"/>
          <p:nvPr/>
        </p:nvSpPr>
        <p:spPr>
          <a:xfrm>
            <a:off x="530352" y="2103120"/>
            <a:ext cx="3840480" cy="457200"/>
          </a:xfrm>
          <a:prstGeom prst="rect">
            <a:avLst/>
          </a:prstGeom>
          <a:noFill/>
        </p:spPr>
        <p:txBody>
          <a:bodyPr wrap="square" anchor="t" lIns="54864" rIns="54864" tIns="36576" bIns="36576">
            <a:spAutoFit/>
          </a:bodyPr>
          <a:lstStyle/>
          <a:p>
            <a:pPr algn="l"/>
            <a:r>
              <a:rPr sz="850" b="0" i="0">
                <a:solidFill>
                  <a:srgbClr val="95D5B2"/>
                </a:solidFill>
                <a:latin typeface="Calibri"/>
              </a:rPr>
              <a:t>Different operational loops, different cost functions. Same trained model, two inference paths.</a:t>
            </a:r>
          </a:p>
        </p:txBody>
      </p:sp>
      <p:sp>
        <p:nvSpPr>
          <p:cNvPr id="11" name="Rectangle 10"/>
          <p:cNvSpPr/>
          <p:nvPr/>
        </p:nvSpPr>
        <p:spPr>
          <a:xfrm>
            <a:off x="365760" y="2542032"/>
            <a:ext cx="54864" cy="676656"/>
          </a:xfrm>
          <a:prstGeom prst="rect">
            <a:avLst/>
          </a:prstGeom>
          <a:solidFill>
            <a:srgbClr val="95D5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0352" y="2542032"/>
            <a:ext cx="3840480" cy="274320"/>
          </a:xfrm>
          <a:prstGeom prst="rect">
            <a:avLst/>
          </a:prstGeom>
          <a:noFill/>
        </p:spPr>
        <p:txBody>
          <a:bodyPr wrap="square" anchor="t" lIns="54864" rIns="54864" tIns="36576" bIns="36576">
            <a:spAutoFit/>
          </a:bodyPr>
          <a:lstStyle/>
          <a:p>
            <a:pPr algn="l"/>
            <a:r>
              <a:rPr sz="1050" b="1" i="0">
                <a:solidFill>
                  <a:srgbClr val="FFFFFF"/>
                </a:solidFill>
                <a:latin typeface="Calibri"/>
              </a:rPr>
              <a:t>XGBoost / LightGBM, not deep learning</a:t>
            </a:r>
          </a:p>
        </p:txBody>
      </p:sp>
      <p:sp>
        <p:nvSpPr>
          <p:cNvPr id="13" name="TextBox 12"/>
          <p:cNvSpPr txBox="1"/>
          <p:nvPr/>
        </p:nvSpPr>
        <p:spPr>
          <a:xfrm>
            <a:off x="530352" y="2816352"/>
            <a:ext cx="3840480" cy="457200"/>
          </a:xfrm>
          <a:prstGeom prst="rect">
            <a:avLst/>
          </a:prstGeom>
          <a:noFill/>
        </p:spPr>
        <p:txBody>
          <a:bodyPr wrap="square" anchor="t" lIns="54864" rIns="54864" tIns="36576" bIns="36576">
            <a:spAutoFit/>
          </a:bodyPr>
          <a:lstStyle/>
          <a:p>
            <a:pPr algn="l"/>
            <a:r>
              <a:rPr sz="850" b="0" i="0">
                <a:solidFill>
                  <a:srgbClr val="95D5B2"/>
                </a:solidFill>
                <a:latin typeface="Calibri"/>
              </a:rPr>
              <a:t>Tabular spatial+temporal data. Interpretable via SHAP. Trains in minutes locally.</a:t>
            </a:r>
          </a:p>
        </p:txBody>
      </p:sp>
      <p:sp>
        <p:nvSpPr>
          <p:cNvPr id="14" name="Rectangle 13"/>
          <p:cNvSpPr/>
          <p:nvPr/>
        </p:nvSpPr>
        <p:spPr>
          <a:xfrm>
            <a:off x="365760" y="3255264"/>
            <a:ext cx="54864" cy="676656"/>
          </a:xfrm>
          <a:prstGeom prst="rect">
            <a:avLst/>
          </a:prstGeom>
          <a:solidFill>
            <a:srgbClr val="95D5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0352" y="3255264"/>
            <a:ext cx="3840480" cy="274320"/>
          </a:xfrm>
          <a:prstGeom prst="rect">
            <a:avLst/>
          </a:prstGeom>
          <a:noFill/>
        </p:spPr>
        <p:txBody>
          <a:bodyPr wrap="square" anchor="t" lIns="54864" rIns="54864" tIns="36576" bIns="36576">
            <a:spAutoFit/>
          </a:bodyPr>
          <a:lstStyle/>
          <a:p>
            <a:pPr algn="l"/>
            <a:r>
              <a:rPr sz="1050" b="1" i="0">
                <a:solidFill>
                  <a:srgbClr val="FFFFFF"/>
                </a:solidFill>
                <a:latin typeface="Calibri"/>
              </a:rPr>
              <a:t>Time-series sliding-window CV</a:t>
            </a:r>
          </a:p>
        </p:txBody>
      </p:sp>
      <p:sp>
        <p:nvSpPr>
          <p:cNvPr id="16" name="TextBox 15"/>
          <p:cNvSpPr txBox="1"/>
          <p:nvPr/>
        </p:nvSpPr>
        <p:spPr>
          <a:xfrm>
            <a:off x="530352" y="3529584"/>
            <a:ext cx="3840480" cy="457200"/>
          </a:xfrm>
          <a:prstGeom prst="rect">
            <a:avLst/>
          </a:prstGeom>
          <a:noFill/>
        </p:spPr>
        <p:txBody>
          <a:bodyPr wrap="square" anchor="t" lIns="54864" rIns="54864" tIns="36576" bIns="36576">
            <a:spAutoFit/>
          </a:bodyPr>
          <a:lstStyle/>
          <a:p>
            <a:pPr algn="l"/>
            <a:r>
              <a:rPr sz="850" b="0" i="0">
                <a:solidFill>
                  <a:srgbClr val="95D5B2"/>
                </a:solidFill>
                <a:latin typeface="Calibri"/>
              </a:rPr>
              <a:t>Standard k-fold leaks future cluster data — temporal CV is the only valid choice.</a:t>
            </a:r>
          </a:p>
        </p:txBody>
      </p:sp>
      <p:sp>
        <p:nvSpPr>
          <p:cNvPr id="17" name="Rectangle 16"/>
          <p:cNvSpPr/>
          <p:nvPr/>
        </p:nvSpPr>
        <p:spPr>
          <a:xfrm>
            <a:off x="365760" y="3968496"/>
            <a:ext cx="54864" cy="676656"/>
          </a:xfrm>
          <a:prstGeom prst="rect">
            <a:avLst/>
          </a:prstGeom>
          <a:solidFill>
            <a:srgbClr val="95D5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0352" y="3968496"/>
            <a:ext cx="3840480" cy="274320"/>
          </a:xfrm>
          <a:prstGeom prst="rect">
            <a:avLst/>
          </a:prstGeom>
          <a:noFill/>
        </p:spPr>
        <p:txBody>
          <a:bodyPr wrap="square" anchor="t" lIns="54864" rIns="54864" tIns="36576" bIns="36576">
            <a:spAutoFit/>
          </a:bodyPr>
          <a:lstStyle/>
          <a:p>
            <a:pPr algn="l"/>
            <a:r>
              <a:rPr sz="1050" b="1" i="0">
                <a:solidFill>
                  <a:srgbClr val="FFFFFF"/>
                </a:solidFill>
                <a:latin typeface="Calibri"/>
              </a:rPr>
              <a:t>Recall ≥ 0.70 on High-risk tier</a:t>
            </a:r>
          </a:p>
        </p:txBody>
      </p:sp>
      <p:sp>
        <p:nvSpPr>
          <p:cNvPr id="19" name="TextBox 18"/>
          <p:cNvSpPr txBox="1"/>
          <p:nvPr/>
        </p:nvSpPr>
        <p:spPr>
          <a:xfrm>
            <a:off x="530352" y="4242816"/>
            <a:ext cx="3840480" cy="457200"/>
          </a:xfrm>
          <a:prstGeom prst="rect">
            <a:avLst/>
          </a:prstGeom>
          <a:noFill/>
        </p:spPr>
        <p:txBody>
          <a:bodyPr wrap="square" anchor="t" lIns="54864" rIns="54864" tIns="36576" bIns="36576">
            <a:spAutoFit/>
          </a:bodyPr>
          <a:lstStyle/>
          <a:p>
            <a:pPr algn="l"/>
            <a:r>
              <a:rPr sz="850" b="0" i="0">
                <a:solidFill>
                  <a:srgbClr val="95D5B2"/>
                </a:solidFill>
                <a:latin typeface="Calibri"/>
              </a:rPr>
              <a:t>Asymmetric cost: false negative = missed outbreak. We optimise for the more expensive error.</a:t>
            </a:r>
          </a:p>
        </p:txBody>
      </p:sp>
      <p:sp>
        <p:nvSpPr>
          <p:cNvPr id="20" name="Rectangle 19"/>
          <p:cNvSpPr/>
          <p:nvPr/>
        </p:nvSpPr>
        <p:spPr>
          <a:xfrm>
            <a:off x="4709160" y="1828800"/>
            <a:ext cx="4069080" cy="676656"/>
          </a:xfrm>
          <a:prstGeom prst="rect">
            <a:avLst/>
          </a:prstGeom>
          <a:noFill/>
          <a:ln w="9525">
            <a:solidFill>
              <a:srgbClr val="C9A1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54880" y="1892807"/>
            <a:ext cx="274320" cy="274320"/>
          </a:xfrm>
          <a:prstGeom prst="rect">
            <a:avLst/>
          </a:prstGeom>
          <a:noFill/>
        </p:spPr>
        <p:txBody>
          <a:bodyPr wrap="square" anchor="t" lIns="54864" rIns="54864" tIns="36576" bIns="36576">
            <a:spAutoFit/>
          </a:bodyPr>
          <a:lstStyle/>
          <a:p>
            <a:pPr algn="ctr"/>
            <a:r>
              <a:rPr sz="1400" b="1" i="0">
                <a:solidFill>
                  <a:srgbClr val="C9A146"/>
                </a:solidFill>
                <a:latin typeface="Calibri"/>
              </a:rPr>
              <a:t>✓</a:t>
            </a:r>
          </a:p>
        </p:txBody>
      </p:sp>
      <p:sp>
        <p:nvSpPr>
          <p:cNvPr id="22" name="TextBox 21"/>
          <p:cNvSpPr txBox="1"/>
          <p:nvPr/>
        </p:nvSpPr>
        <p:spPr>
          <a:xfrm>
            <a:off x="5074920" y="1883664"/>
            <a:ext cx="3657600" cy="274320"/>
          </a:xfrm>
          <a:prstGeom prst="rect">
            <a:avLst/>
          </a:prstGeom>
          <a:noFill/>
        </p:spPr>
        <p:txBody>
          <a:bodyPr wrap="square" anchor="t" lIns="54864" rIns="54864" tIns="36576" bIns="36576">
            <a:spAutoFit/>
          </a:bodyPr>
          <a:lstStyle/>
          <a:p>
            <a:pPr algn="l"/>
            <a:r>
              <a:rPr sz="1050" b="1" i="0">
                <a:solidFill>
                  <a:srgbClr val="FFFFFF"/>
                </a:solidFill>
                <a:latin typeface="Calibri"/>
              </a:rPr>
              <a:t>Training window: 2013–2020</a:t>
            </a:r>
          </a:p>
        </p:txBody>
      </p:sp>
      <p:sp>
        <p:nvSpPr>
          <p:cNvPr id="23" name="TextBox 22"/>
          <p:cNvSpPr txBox="1"/>
          <p:nvPr/>
        </p:nvSpPr>
        <p:spPr>
          <a:xfrm>
            <a:off x="5074920" y="2157984"/>
            <a:ext cx="3657600" cy="457200"/>
          </a:xfrm>
          <a:prstGeom prst="rect">
            <a:avLst/>
          </a:prstGeom>
          <a:noFill/>
        </p:spPr>
        <p:txBody>
          <a:bodyPr wrap="square" anchor="t" lIns="54864" rIns="54864" tIns="36576" bIns="36576">
            <a:spAutoFit/>
          </a:bodyPr>
          <a:lstStyle/>
          <a:p>
            <a:pPr algn="l"/>
            <a:r>
              <a:rPr sz="850" b="0" i="0">
                <a:solidFill>
                  <a:srgbClr val="95D5B2"/>
                </a:solidFill>
                <a:latin typeface="Calibri"/>
              </a:rPr>
              <a:t>Use full SGCharts window. 2020 serotype shift (DENV-3, 35k+ cases) demonstrates concept drift in the report.</a:t>
            </a:r>
          </a:p>
        </p:txBody>
      </p:sp>
      <p:sp>
        <p:nvSpPr>
          <p:cNvPr id="24" name="Rectangle 23"/>
          <p:cNvSpPr/>
          <p:nvPr/>
        </p:nvSpPr>
        <p:spPr>
          <a:xfrm>
            <a:off x="4709160" y="2542032"/>
            <a:ext cx="4069080" cy="676656"/>
          </a:xfrm>
          <a:prstGeom prst="rect">
            <a:avLst/>
          </a:prstGeom>
          <a:noFill/>
          <a:ln w="9525">
            <a:solidFill>
              <a:srgbClr val="C9A1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54880" y="2606040"/>
            <a:ext cx="274320" cy="274320"/>
          </a:xfrm>
          <a:prstGeom prst="rect">
            <a:avLst/>
          </a:prstGeom>
          <a:noFill/>
        </p:spPr>
        <p:txBody>
          <a:bodyPr wrap="square" anchor="t" lIns="54864" rIns="54864" tIns="36576" bIns="36576">
            <a:spAutoFit/>
          </a:bodyPr>
          <a:lstStyle/>
          <a:p>
            <a:pPr algn="ctr"/>
            <a:r>
              <a:rPr sz="1400" b="1" i="0">
                <a:solidFill>
                  <a:srgbClr val="C9A146"/>
                </a:solidFill>
                <a:latin typeface="Calibri"/>
              </a:rPr>
              <a:t>✓</a:t>
            </a:r>
          </a:p>
        </p:txBody>
      </p:sp>
      <p:sp>
        <p:nvSpPr>
          <p:cNvPr id="26" name="TextBox 25"/>
          <p:cNvSpPr txBox="1"/>
          <p:nvPr/>
        </p:nvSpPr>
        <p:spPr>
          <a:xfrm>
            <a:off x="5074920" y="2596896"/>
            <a:ext cx="3657600" cy="274320"/>
          </a:xfrm>
          <a:prstGeom prst="rect">
            <a:avLst/>
          </a:prstGeom>
          <a:noFill/>
        </p:spPr>
        <p:txBody>
          <a:bodyPr wrap="square" anchor="t" lIns="54864" rIns="54864" tIns="36576" bIns="36576">
            <a:spAutoFit/>
          </a:bodyPr>
          <a:lstStyle/>
          <a:p>
            <a:pPr algn="l"/>
            <a:r>
              <a:rPr sz="1050" b="1" i="0">
                <a:solidFill>
                  <a:srgbClr val="FFFFFF"/>
                </a:solidFill>
                <a:latin typeface="Calibri"/>
              </a:rPr>
              <a:t>Subzone granularity: 330</a:t>
            </a:r>
          </a:p>
        </p:txBody>
      </p:sp>
      <p:sp>
        <p:nvSpPr>
          <p:cNvPr id="27" name="TextBox 26"/>
          <p:cNvSpPr txBox="1"/>
          <p:nvPr/>
        </p:nvSpPr>
        <p:spPr>
          <a:xfrm>
            <a:off x="5074920" y="2871216"/>
            <a:ext cx="3657600" cy="457200"/>
          </a:xfrm>
          <a:prstGeom prst="rect">
            <a:avLst/>
          </a:prstGeom>
          <a:noFill/>
        </p:spPr>
        <p:txBody>
          <a:bodyPr wrap="square" anchor="t" lIns="54864" rIns="54864" tIns="36576" bIns="36576">
            <a:spAutoFit/>
          </a:bodyPr>
          <a:lstStyle/>
          <a:p>
            <a:pPr algn="l"/>
            <a:r>
              <a:rPr sz="850" b="0" i="0">
                <a:solidFill>
                  <a:srgbClr val="95D5B2"/>
                </a:solidFill>
                <a:latin typeface="Calibri"/>
              </a:rPr>
              <a:t>Fine-grained for operational fogging. Planning areas (55) lose deployment precision.</a:t>
            </a:r>
          </a:p>
        </p:txBody>
      </p:sp>
      <p:sp>
        <p:nvSpPr>
          <p:cNvPr id="28" name="Rectangle 27"/>
          <p:cNvSpPr/>
          <p:nvPr/>
        </p:nvSpPr>
        <p:spPr>
          <a:xfrm>
            <a:off x="4709160" y="3255264"/>
            <a:ext cx="4069080" cy="676656"/>
          </a:xfrm>
          <a:prstGeom prst="rect">
            <a:avLst/>
          </a:prstGeom>
          <a:noFill/>
          <a:ln w="9525">
            <a:solidFill>
              <a:srgbClr val="C9A1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54880" y="3319272"/>
            <a:ext cx="274320" cy="274320"/>
          </a:xfrm>
          <a:prstGeom prst="rect">
            <a:avLst/>
          </a:prstGeom>
          <a:noFill/>
        </p:spPr>
        <p:txBody>
          <a:bodyPr wrap="square" anchor="t" lIns="54864" rIns="54864" tIns="36576" bIns="36576">
            <a:spAutoFit/>
          </a:bodyPr>
          <a:lstStyle/>
          <a:p>
            <a:pPr algn="ctr"/>
            <a:r>
              <a:rPr sz="1400" b="1" i="0">
                <a:solidFill>
                  <a:srgbClr val="C9A146"/>
                </a:solidFill>
                <a:latin typeface="Calibri"/>
              </a:rPr>
              <a:t>✓</a:t>
            </a:r>
          </a:p>
        </p:txBody>
      </p:sp>
      <p:sp>
        <p:nvSpPr>
          <p:cNvPr id="30" name="TextBox 29"/>
          <p:cNvSpPr txBox="1"/>
          <p:nvPr/>
        </p:nvSpPr>
        <p:spPr>
          <a:xfrm>
            <a:off x="5074920" y="3310128"/>
            <a:ext cx="3657600" cy="274320"/>
          </a:xfrm>
          <a:prstGeom prst="rect">
            <a:avLst/>
          </a:prstGeom>
          <a:noFill/>
        </p:spPr>
        <p:txBody>
          <a:bodyPr wrap="square" anchor="t" lIns="54864" rIns="54864" tIns="36576" bIns="36576">
            <a:spAutoFit/>
          </a:bodyPr>
          <a:lstStyle/>
          <a:p>
            <a:pPr algn="l"/>
            <a:r>
              <a:rPr sz="1050" b="1" i="0">
                <a:solidFill>
                  <a:srgbClr val="FFFFFF"/>
                </a:solidFill>
                <a:latin typeface="Calibri"/>
              </a:rPr>
              <a:t>Weather source: MSS, not NEA API</a:t>
            </a:r>
          </a:p>
        </p:txBody>
      </p:sp>
      <p:sp>
        <p:nvSpPr>
          <p:cNvPr id="31" name="TextBox 30"/>
          <p:cNvSpPr txBox="1"/>
          <p:nvPr/>
        </p:nvSpPr>
        <p:spPr>
          <a:xfrm>
            <a:off x="5074920" y="3584448"/>
            <a:ext cx="3657600" cy="457200"/>
          </a:xfrm>
          <a:prstGeom prst="rect">
            <a:avLst/>
          </a:prstGeom>
          <a:noFill/>
        </p:spPr>
        <p:txBody>
          <a:bodyPr wrap="square" anchor="t" lIns="54864" rIns="54864" tIns="36576" bIns="36576">
            <a:spAutoFit/>
          </a:bodyPr>
          <a:lstStyle/>
          <a:p>
            <a:pPr algn="l"/>
            <a:r>
              <a:rPr sz="850" b="0" i="0">
                <a:solidFill>
                  <a:srgbClr val="95D5B2"/>
                </a:solidFill>
                <a:latin typeface="Calibri"/>
              </a:rPr>
              <a:t>MSS station data extends usable window back to 2013. NEA API has Dec 2016 floor + 7-hr ingest.</a:t>
            </a:r>
          </a:p>
        </p:txBody>
      </p:sp>
      <p:sp>
        <p:nvSpPr>
          <p:cNvPr id="32" name="Rectangle 31"/>
          <p:cNvSpPr/>
          <p:nvPr/>
        </p:nvSpPr>
        <p:spPr>
          <a:xfrm>
            <a:off x="4709160" y="3968496"/>
            <a:ext cx="4069080" cy="676656"/>
          </a:xfrm>
          <a:prstGeom prst="rect">
            <a:avLst/>
          </a:prstGeom>
          <a:noFill/>
          <a:ln w="9525">
            <a:solidFill>
              <a:srgbClr val="C9A1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54880" y="4032504"/>
            <a:ext cx="274320" cy="274320"/>
          </a:xfrm>
          <a:prstGeom prst="rect">
            <a:avLst/>
          </a:prstGeom>
          <a:noFill/>
        </p:spPr>
        <p:txBody>
          <a:bodyPr wrap="square" anchor="t" lIns="54864" rIns="54864" tIns="36576" bIns="36576">
            <a:spAutoFit/>
          </a:bodyPr>
          <a:lstStyle/>
          <a:p>
            <a:pPr algn="ctr"/>
            <a:r>
              <a:rPr sz="1400" b="1" i="0">
                <a:solidFill>
                  <a:srgbClr val="C9A146"/>
                </a:solidFill>
                <a:latin typeface="Calibri"/>
              </a:rPr>
              <a:t>✓</a:t>
            </a:r>
          </a:p>
        </p:txBody>
      </p:sp>
      <p:sp>
        <p:nvSpPr>
          <p:cNvPr id="34" name="TextBox 33"/>
          <p:cNvSpPr txBox="1"/>
          <p:nvPr/>
        </p:nvSpPr>
        <p:spPr>
          <a:xfrm>
            <a:off x="5074920" y="4023359"/>
            <a:ext cx="3657600" cy="274320"/>
          </a:xfrm>
          <a:prstGeom prst="rect">
            <a:avLst/>
          </a:prstGeom>
          <a:noFill/>
        </p:spPr>
        <p:txBody>
          <a:bodyPr wrap="square" anchor="t" lIns="54864" rIns="54864" tIns="36576" bIns="36576">
            <a:spAutoFit/>
          </a:bodyPr>
          <a:lstStyle/>
          <a:p>
            <a:pPr algn="l"/>
            <a:r>
              <a:rPr sz="1050" b="1" i="0">
                <a:solidFill>
                  <a:srgbClr val="FFFFFF"/>
                </a:solidFill>
                <a:latin typeface="Calibri"/>
              </a:rPr>
              <a:t>Real-time alert is a rule, not a 2nd model</a:t>
            </a:r>
          </a:p>
        </p:txBody>
      </p:sp>
      <p:sp>
        <p:nvSpPr>
          <p:cNvPr id="35" name="TextBox 34"/>
          <p:cNvSpPr txBox="1"/>
          <p:nvPr/>
        </p:nvSpPr>
        <p:spPr>
          <a:xfrm>
            <a:off x="5074920" y="4297680"/>
            <a:ext cx="3657600" cy="457200"/>
          </a:xfrm>
          <a:prstGeom prst="rect">
            <a:avLst/>
          </a:prstGeom>
          <a:noFill/>
        </p:spPr>
        <p:txBody>
          <a:bodyPr wrap="square" anchor="t" lIns="54864" rIns="54864" tIns="36576" bIns="36576">
            <a:spAutoFit/>
          </a:bodyPr>
          <a:lstStyle/>
          <a:p>
            <a:pPr algn="l"/>
            <a:r>
              <a:rPr sz="850" b="0" i="0">
                <a:solidFill>
                  <a:srgbClr val="95D5B2"/>
                </a:solidFill>
                <a:latin typeface="Calibri"/>
              </a:rPr>
              <a:t>No outcome-level labels exist publicly. Score × vulnerability × count threshold — transparent and honest.</a:t>
            </a:r>
          </a:p>
        </p:txBody>
      </p:sp>
      <p:sp>
        <p:nvSpPr>
          <p:cNvPr id="36" name="TextBox 35"/>
          <p:cNvSpPr txBox="1"/>
          <p:nvPr/>
        </p:nvSpPr>
        <p:spPr>
          <a:xfrm>
            <a:off x="365760" y="4864608"/>
            <a:ext cx="8412480" cy="228600"/>
          </a:xfrm>
          <a:prstGeom prst="rect">
            <a:avLst/>
          </a:prstGeom>
          <a:noFill/>
        </p:spPr>
        <p:txBody>
          <a:bodyPr wrap="square" anchor="t" lIns="54864" rIns="54864" tIns="36576" bIns="36576">
            <a:spAutoFit/>
          </a:bodyPr>
          <a:lstStyle/>
          <a:p>
            <a:pPr algn="l"/>
            <a:r>
              <a:rPr sz="850" b="0" i="0">
                <a:solidFill>
                  <a:srgbClr val="95D5B2"/>
                </a:solidFill>
                <a:latin typeface="Calibri"/>
              </a:rPr>
              <a:t>CS611 MLE — Group Project   |   Design Choices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