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71" r:id="rId2"/>
    <p:sldId id="273" r:id="rId3"/>
    <p:sldId id="272" r:id="rId4"/>
    <p:sldId id="274" r:id="rId5"/>
  </p:sldIdLst>
  <p:sldSz cx="18288000" cy="10287000"/>
  <p:notesSz cx="6858000" cy="9144000"/>
  <p:embeddedFontLst>
    <p:embeddedFont>
      <p:font typeface="Agrandir Wide Bold" panose="020B0604020202020204" charset="0"/>
      <p:regular r:id="rId7"/>
    </p:embeddedFont>
    <p:embeddedFont>
      <p:font typeface="Nunito" pitchFamily="2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1C334E"/>
    <a:srgbClr val="595959"/>
    <a:srgbClr val="6B7A7A"/>
    <a:srgbClr val="303870"/>
    <a:srgbClr val="070B12"/>
    <a:srgbClr val="060B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77EA89B-39D3-67B7-F888-C19D2969C1AE}" v="1" dt="2026-05-19T10:08:40.2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1116" y="6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hana SARKAR" userId="S::ahana.s.2025@mitb.smu.edu.sg::a5fd6ee3-3711-4b27-80e9-5d31ab855a57" providerId="AD" clId="Web-{477EA89B-39D3-67B7-F888-C19D2969C1AE}"/>
    <pc:docChg chg="modSld">
      <pc:chgData name="Ahana SARKAR" userId="S::ahana.s.2025@mitb.smu.edu.sg::a5fd6ee3-3711-4b27-80e9-5d31ab855a57" providerId="AD" clId="Web-{477EA89B-39D3-67B7-F888-C19D2969C1AE}" dt="2026-05-19T10:08:40.262" v="0"/>
      <pc:docMkLst>
        <pc:docMk/>
      </pc:docMkLst>
      <pc:sldChg chg="delSp">
        <pc:chgData name="Ahana SARKAR" userId="S::ahana.s.2025@mitb.smu.edu.sg::a5fd6ee3-3711-4b27-80e9-5d31ab855a57" providerId="AD" clId="Web-{477EA89B-39D3-67B7-F888-C19D2969C1AE}" dt="2026-05-19T10:08:40.262" v="0"/>
        <pc:sldMkLst>
          <pc:docMk/>
          <pc:sldMk cId="0" sldId="256"/>
        </pc:sldMkLst>
        <pc:grpChg chg="del">
          <ac:chgData name="Ahana SARKAR" userId="S::ahana.s.2025@mitb.smu.edu.sg::a5fd6ee3-3711-4b27-80e9-5d31ab855a57" providerId="AD" clId="Web-{477EA89B-39D3-67B7-F888-C19D2969C1AE}" dt="2026-05-19T10:08:40.262" v="0"/>
          <ac:grpSpMkLst>
            <pc:docMk/>
            <pc:sldMk cId="0" sldId="256"/>
            <ac:grpSpMk id="6" creationId="{00000000-0000-0000-0000-000000000000}"/>
          </ac:grpSpMkLst>
        </pc:gr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8890B-EE20-402E-AF92-849A45331FE0}" type="datetimeFigureOut">
              <a:rPr lang="en-SG" smtClean="0"/>
              <a:t>20/5/2026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E0D83B-B30E-488C-8306-9E9C823F71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699180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13AF7A-98AE-940C-35A4-6F06F9F4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E1909F67-8179-DB0E-1B07-C0A2B1114FD3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2795E1CF-A16A-8B77-AE3A-CB1F4B008E75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1210E92-267F-7E47-780D-A839225ECD54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/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2A6B446-8E31-1744-CCFF-C046B81DAF2B}"/>
              </a:ext>
            </a:extLst>
          </p:cNvPr>
          <p:cNvSpPr txBox="1"/>
          <p:nvPr/>
        </p:nvSpPr>
        <p:spPr>
          <a:xfrm>
            <a:off x="152400" y="571500"/>
            <a:ext cx="16459200" cy="116339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sz="6600" b="1" dirty="0">
                <a:solidFill>
                  <a:srgbClr val="303870"/>
                </a:solidFill>
                <a:latin typeface="Agrandir Wide Bold"/>
              </a:rPr>
              <a:t>One model, two inference loops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25E8CE4-E89B-3B96-C248-7C34BDBAE716}"/>
              </a:ext>
            </a:extLst>
          </p:cNvPr>
          <p:cNvSpPr txBox="1"/>
          <p:nvPr/>
        </p:nvSpPr>
        <p:spPr>
          <a:xfrm>
            <a:off x="152400" y="1705355"/>
            <a:ext cx="16824960" cy="424732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l"/>
            <a:r>
              <a:rPr i="1" dirty="0">
                <a:solidFill>
                  <a:srgbClr val="6B7A7A"/>
                </a:solidFill>
                <a:latin typeface="Nunito" pitchFamily="2" charset="0"/>
              </a:rPr>
              <a:t>Shared predictive logic; different feature freshness, different decision thresholds, different downstream actions.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457973A7-CD43-A617-4E52-14643DAAE0F9}"/>
              </a:ext>
            </a:extLst>
          </p:cNvPr>
          <p:cNvSpPr/>
          <p:nvPr/>
        </p:nvSpPr>
        <p:spPr>
          <a:xfrm>
            <a:off x="152400" y="2528315"/>
            <a:ext cx="4572000" cy="548640"/>
          </a:xfrm>
          <a:prstGeom prst="roundRect">
            <a:avLst/>
          </a:prstGeom>
          <a:solidFill>
            <a:srgbClr val="6B7A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Nunito" pitchFamily="2" charset="0"/>
              </a:rPr>
              <a:t>WHAT WE KNOW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2F1B98-3BB3-40AB-3ADE-AFC083D8F12F}"/>
              </a:ext>
            </a:extLst>
          </p:cNvPr>
          <p:cNvSpPr/>
          <p:nvPr/>
        </p:nvSpPr>
        <p:spPr>
          <a:xfrm>
            <a:off x="5090160" y="2528315"/>
            <a:ext cx="4937760" cy="548640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Nunito" pitchFamily="2" charset="0"/>
              </a:rPr>
              <a:t>WHAT WE PREDICT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DBFC76A-FC4C-EDFB-B3C2-00EB1102B2BA}"/>
              </a:ext>
            </a:extLst>
          </p:cNvPr>
          <p:cNvSpPr/>
          <p:nvPr/>
        </p:nvSpPr>
        <p:spPr>
          <a:xfrm>
            <a:off x="10393680" y="2528315"/>
            <a:ext cx="6583680" cy="548640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>
                <a:solidFill>
                  <a:srgbClr val="FFFFFF"/>
                </a:solidFill>
                <a:latin typeface="Nunito" pitchFamily="2" charset="0"/>
              </a:rPr>
              <a:t>WHAT WE DO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8803E6F-953D-9C42-73CC-E2B1F7437DE1}"/>
              </a:ext>
            </a:extLst>
          </p:cNvPr>
          <p:cNvSpPr/>
          <p:nvPr/>
        </p:nvSpPr>
        <p:spPr>
          <a:xfrm>
            <a:off x="335280" y="3442715"/>
            <a:ext cx="4206240" cy="822960"/>
          </a:xfrm>
          <a:prstGeom prst="roundRect">
            <a:avLst>
              <a:gd name="adj" fmla="val 9260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Cluster history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2609C38-B938-D987-50E5-FA2473A565B1}"/>
              </a:ext>
            </a:extLst>
          </p:cNvPr>
          <p:cNvSpPr/>
          <p:nvPr/>
        </p:nvSpPr>
        <p:spPr>
          <a:xfrm>
            <a:off x="335280" y="4411979"/>
            <a:ext cx="4206240" cy="822960"/>
          </a:xfrm>
          <a:prstGeom prst="roundRect">
            <a:avLst>
              <a:gd name="adj" fmla="val 12037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Weather</a:t>
            </a:r>
            <a:endParaRPr lang="en-SG" b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9564E35-7C28-F64B-9026-D5EAF2F5EC68}"/>
              </a:ext>
            </a:extLst>
          </p:cNvPr>
          <p:cNvSpPr/>
          <p:nvPr/>
        </p:nvSpPr>
        <p:spPr>
          <a:xfrm>
            <a:off x="335280" y="5381243"/>
            <a:ext cx="4206240" cy="822960"/>
          </a:xfrm>
          <a:prstGeom prst="roundRect">
            <a:avLst>
              <a:gd name="adj" fmla="val 12037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Demographics</a:t>
            </a:r>
            <a:endParaRPr lang="en-SG" b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F0A2D315-2BE3-BF97-CE5D-4C5AAF07BF63}"/>
              </a:ext>
            </a:extLst>
          </p:cNvPr>
          <p:cNvSpPr/>
          <p:nvPr/>
        </p:nvSpPr>
        <p:spPr>
          <a:xfrm>
            <a:off x="335280" y="6350507"/>
            <a:ext cx="4206240" cy="822960"/>
          </a:xfrm>
          <a:prstGeom prst="roundRect">
            <a:avLst>
              <a:gd name="adj" fmla="val 12423"/>
            </a:avLst>
          </a:prstGeom>
          <a:solidFill>
            <a:srgbClr val="FFFFFF"/>
          </a:solidFill>
          <a:ln w="9525">
            <a:solidFill>
              <a:srgbClr val="060B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Geography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550E8F6E-AA74-EEC8-E300-A3FC959F45BB}"/>
              </a:ext>
            </a:extLst>
          </p:cNvPr>
          <p:cNvSpPr/>
          <p:nvPr/>
        </p:nvSpPr>
        <p:spPr>
          <a:xfrm>
            <a:off x="335280" y="7319771"/>
            <a:ext cx="4206240" cy="822960"/>
          </a:xfrm>
          <a:prstGeom prst="roundRect">
            <a:avLst/>
          </a:prstGeom>
          <a:solidFill>
            <a:srgbClr val="E8C8C0"/>
          </a:solidFill>
          <a:ln w="9525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b="1" dirty="0">
                <a:solidFill>
                  <a:srgbClr val="B84B3C"/>
                </a:solidFill>
                <a:latin typeface="Nunito" pitchFamily="2" charset="0"/>
              </a:rPr>
              <a:t>Confirmed cases  (live stream)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59FD7BB-6B86-C3DA-F8CF-A8FE84E658D6}"/>
              </a:ext>
            </a:extLst>
          </p:cNvPr>
          <p:cNvSpPr txBox="1"/>
          <p:nvPr/>
        </p:nvSpPr>
        <p:spPr>
          <a:xfrm>
            <a:off x="5090160" y="3625596"/>
            <a:ext cx="4937760" cy="393954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ctr"/>
            <a:r>
              <a:rPr sz="1600" i="1" dirty="0">
                <a:solidFill>
                  <a:srgbClr val="6B7A7A"/>
                </a:solidFill>
                <a:latin typeface="Nunito" pitchFamily="2" charset="0"/>
              </a:rPr>
              <a:t>Feature engineering</a:t>
            </a:r>
          </a:p>
        </p:txBody>
      </p:sp>
      <p:sp>
        <p:nvSpPr>
          <p:cNvPr id="28" name="Rounded Rectangle 20">
            <a:extLst>
              <a:ext uri="{FF2B5EF4-FFF2-40B4-BE49-F238E27FC236}">
                <a16:creationId xmlns:a16="http://schemas.microsoft.com/office/drawing/2014/main" id="{233E1147-F0E8-8896-9E53-77A9A31762FC}"/>
              </a:ext>
            </a:extLst>
          </p:cNvPr>
          <p:cNvSpPr/>
          <p:nvPr/>
        </p:nvSpPr>
        <p:spPr>
          <a:xfrm>
            <a:off x="5273040" y="4539995"/>
            <a:ext cx="4572000" cy="2560320"/>
          </a:xfrm>
          <a:prstGeom prst="roundRect">
            <a:avLst>
              <a:gd name="adj" fmla="val 5543"/>
            </a:avLst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400" b="1" dirty="0">
                <a:solidFill>
                  <a:srgbClr val="FFFFFF"/>
                </a:solidFill>
                <a:latin typeface="Nunito" pitchFamily="2" charset="0"/>
              </a:rPr>
              <a:t>Cluster Formation Model</a:t>
            </a:r>
          </a:p>
          <a:p>
            <a:pPr algn="l"/>
            <a:endParaRPr sz="2400" b="1" dirty="0">
              <a:solidFill>
                <a:srgbClr val="FFFFFF"/>
              </a:solidFill>
              <a:latin typeface="Nunito" pitchFamily="2" charset="0"/>
            </a:endParaRPr>
          </a:p>
          <a:p>
            <a:pPr algn="ctr"/>
            <a:r>
              <a:rPr sz="1600" i="1" dirty="0">
                <a:solidFill>
                  <a:schemeClr val="bg1">
                    <a:lumMod val="75000"/>
                  </a:schemeClr>
                </a:solidFill>
                <a:latin typeface="Nunito" pitchFamily="2" charset="0"/>
              </a:rPr>
              <a:t>P(active cluster in subzone S</a:t>
            </a:r>
          </a:p>
          <a:p>
            <a:pPr algn="ctr"/>
            <a:r>
              <a:rPr sz="1600" i="1" dirty="0">
                <a:solidFill>
                  <a:schemeClr val="bg1">
                    <a:lumMod val="75000"/>
                  </a:schemeClr>
                </a:solidFill>
                <a:latin typeface="Nunito" pitchFamily="2" charset="0"/>
              </a:rPr>
              <a:t>over next 14 days)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B376C62-EB0E-5A66-72E1-4902D6EE9FD8}"/>
              </a:ext>
            </a:extLst>
          </p:cNvPr>
          <p:cNvSpPr txBox="1"/>
          <p:nvPr/>
        </p:nvSpPr>
        <p:spPr>
          <a:xfrm>
            <a:off x="5090160" y="7191755"/>
            <a:ext cx="4937760" cy="640175"/>
          </a:xfrm>
          <a:prstGeom prst="rect">
            <a:avLst/>
          </a:prstGeom>
          <a:noFill/>
        </p:spPr>
        <p:txBody>
          <a:bodyPr wrap="square" lIns="109728" tIns="73152" rIns="109728" bIns="73152" anchor="t">
            <a:spAutoFit/>
          </a:bodyPr>
          <a:lstStyle/>
          <a:p>
            <a:pPr algn="ctr"/>
            <a:r>
              <a:rPr sz="1600" b="1" dirty="0">
                <a:solidFill>
                  <a:srgbClr val="6B7A7A"/>
                </a:solidFill>
                <a:latin typeface="Nunito" pitchFamily="2" charset="0"/>
              </a:rPr>
              <a:t>One trained artifact —</a:t>
            </a:r>
          </a:p>
          <a:p>
            <a:pPr algn="ctr"/>
            <a:r>
              <a:rPr sz="1600" b="1" dirty="0">
                <a:solidFill>
                  <a:srgbClr val="6B7A7A"/>
                </a:solidFill>
                <a:latin typeface="Nunito" pitchFamily="2" charset="0"/>
              </a:rPr>
              <a:t>served two ways</a:t>
            </a:r>
          </a:p>
        </p:txBody>
      </p:sp>
      <p:sp>
        <p:nvSpPr>
          <p:cNvPr id="30" name="Rounded Rectangle 22">
            <a:extLst>
              <a:ext uri="{FF2B5EF4-FFF2-40B4-BE49-F238E27FC236}">
                <a16:creationId xmlns:a16="http://schemas.microsoft.com/office/drawing/2014/main" id="{F48C0E4C-7DEA-7C3E-F68C-5853BD0E6FCA}"/>
              </a:ext>
            </a:extLst>
          </p:cNvPr>
          <p:cNvSpPr/>
          <p:nvPr/>
        </p:nvSpPr>
        <p:spPr>
          <a:xfrm>
            <a:off x="10576560" y="3534155"/>
            <a:ext cx="6309360" cy="2011680"/>
          </a:xfrm>
          <a:prstGeom prst="roundRect">
            <a:avLst>
              <a:gd name="adj" fmla="val 7197"/>
            </a:avLst>
          </a:prstGeom>
          <a:solidFill>
            <a:srgbClr val="FFFFFF"/>
          </a:solidFill>
          <a:ln w="190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STRATEGIC LOOP   ·   WEEKLY BATCH</a:t>
            </a:r>
          </a:p>
          <a:p>
            <a:endParaRPr lang="en-SG" sz="2000" b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Risk map to formulate fogging deployment plan</a:t>
            </a:r>
          </a:p>
          <a:p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r>
              <a:rPr lang="en-SG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Target User = NEA Ops + Pest Control</a:t>
            </a:r>
            <a:endParaRPr lang="en-US" sz="2000" b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34" name="Rounded Rectangle 26">
            <a:extLst>
              <a:ext uri="{FF2B5EF4-FFF2-40B4-BE49-F238E27FC236}">
                <a16:creationId xmlns:a16="http://schemas.microsoft.com/office/drawing/2014/main" id="{62FC7314-4CB8-3494-EB87-96E18282D4CE}"/>
              </a:ext>
            </a:extLst>
          </p:cNvPr>
          <p:cNvSpPr/>
          <p:nvPr/>
        </p:nvSpPr>
        <p:spPr>
          <a:xfrm>
            <a:off x="10576560" y="6003035"/>
            <a:ext cx="6309360" cy="2011680"/>
          </a:xfrm>
          <a:prstGeom prst="roundRect">
            <a:avLst>
              <a:gd name="adj" fmla="val 8618"/>
            </a:avLst>
          </a:prstGeom>
          <a:solidFill>
            <a:srgbClr val="FFFFFF"/>
          </a:solidFill>
          <a:ln w="19050">
            <a:solidFill>
              <a:srgbClr val="B84B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SG" sz="2000" b="1" dirty="0">
                <a:solidFill>
                  <a:srgbClr val="B84B3C"/>
                </a:solidFill>
                <a:latin typeface="Nunito" pitchFamily="2" charset="0"/>
              </a:rPr>
              <a:t>TACTICAL LOOP   ·   EVENT-DRIVEN</a:t>
            </a:r>
          </a:p>
          <a:p>
            <a:endParaRPr lang="en-SG" sz="2000" b="1" dirty="0">
              <a:solidFill>
                <a:srgbClr val="B84B3C"/>
              </a:solidFill>
              <a:latin typeface="Nunito" pitchFamily="2" charset="0"/>
            </a:endParaRPr>
          </a:p>
          <a:p>
            <a:r>
              <a:rPr lang="en-SG" sz="2000" b="1" dirty="0">
                <a:solidFill>
                  <a:srgbClr val="B84B3C"/>
                </a:solidFill>
                <a:latin typeface="Nunito" pitchFamily="2" charset="0"/>
              </a:rPr>
              <a:t>Per-case alert to enable timely clinical triage</a:t>
            </a:r>
          </a:p>
          <a:p>
            <a:endParaRPr lang="en-SG" sz="2000" b="1" dirty="0">
              <a:solidFill>
                <a:srgbClr val="B84B3C"/>
              </a:solidFill>
              <a:latin typeface="Nunito" pitchFamily="2" charset="0"/>
            </a:endParaRPr>
          </a:p>
          <a:p>
            <a:r>
              <a:rPr lang="en-SG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Target User = CDC Officer at MOH</a:t>
            </a:r>
            <a:endParaRPr lang="en-SG" sz="2000" b="1" dirty="0">
              <a:solidFill>
                <a:srgbClr val="B84B3C"/>
              </a:solidFill>
              <a:latin typeface="Nunito" pitchFamily="2" charset="0"/>
            </a:endParaRPr>
          </a:p>
        </p:txBody>
      </p:sp>
      <p:cxnSp>
        <p:nvCxnSpPr>
          <p:cNvPr id="38" name="Connector 30">
            <a:extLst>
              <a:ext uri="{FF2B5EF4-FFF2-40B4-BE49-F238E27FC236}">
                <a16:creationId xmlns:a16="http://schemas.microsoft.com/office/drawing/2014/main" id="{CFA3D355-5566-102A-63A9-FAA55220010B}"/>
              </a:ext>
            </a:extLst>
          </p:cNvPr>
          <p:cNvCxnSpPr/>
          <p:nvPr/>
        </p:nvCxnSpPr>
        <p:spPr>
          <a:xfrm>
            <a:off x="4541520" y="5820155"/>
            <a:ext cx="731520" cy="0"/>
          </a:xfrm>
          <a:prstGeom prst="line">
            <a:avLst/>
          </a:prstGeom>
          <a:ln w="19050">
            <a:solidFill>
              <a:srgbClr val="060B1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1">
            <a:extLst>
              <a:ext uri="{FF2B5EF4-FFF2-40B4-BE49-F238E27FC236}">
                <a16:creationId xmlns:a16="http://schemas.microsoft.com/office/drawing/2014/main" id="{CF2F89FF-5DDC-FD9E-6AE0-2C54BE4794AC}"/>
              </a:ext>
            </a:extLst>
          </p:cNvPr>
          <p:cNvCxnSpPr/>
          <p:nvPr/>
        </p:nvCxnSpPr>
        <p:spPr>
          <a:xfrm flipV="1">
            <a:off x="9845040" y="4539995"/>
            <a:ext cx="731520" cy="822960"/>
          </a:xfrm>
          <a:prstGeom prst="line">
            <a:avLst/>
          </a:prstGeom>
          <a:ln w="19050">
            <a:solidFill>
              <a:srgbClr val="060B12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2">
            <a:extLst>
              <a:ext uri="{FF2B5EF4-FFF2-40B4-BE49-F238E27FC236}">
                <a16:creationId xmlns:a16="http://schemas.microsoft.com/office/drawing/2014/main" id="{0146E241-AA0B-FF1D-033C-098E46C0407C}"/>
              </a:ext>
            </a:extLst>
          </p:cNvPr>
          <p:cNvCxnSpPr/>
          <p:nvPr/>
        </p:nvCxnSpPr>
        <p:spPr>
          <a:xfrm>
            <a:off x="9845040" y="6277355"/>
            <a:ext cx="731520" cy="731520"/>
          </a:xfrm>
          <a:prstGeom prst="line">
            <a:avLst/>
          </a:prstGeom>
          <a:ln w="19050">
            <a:solidFill>
              <a:srgbClr val="B84B3C"/>
            </a:solidFill>
            <a:tailEnd type="triangle" w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A92F555B-601F-4B75-7239-775E84705418}"/>
              </a:ext>
            </a:extLst>
          </p:cNvPr>
          <p:cNvSpPr/>
          <p:nvPr/>
        </p:nvSpPr>
        <p:spPr>
          <a:xfrm>
            <a:off x="152400" y="8471915"/>
            <a:ext cx="16824960" cy="731520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sz="2000" b="1" i="1">
                <a:solidFill>
                  <a:srgbClr val="FFFFFF"/>
                </a:solidFill>
                <a:latin typeface="Nunito" pitchFamily="2" charset="0"/>
              </a:rPr>
              <a:t>Same predictive logic. Different freshness contracts. Different thresholds. Different actions.</a:t>
            </a:r>
          </a:p>
        </p:txBody>
      </p:sp>
      <p:sp>
        <p:nvSpPr>
          <p:cNvPr id="42" name="TextBox 5">
            <a:extLst>
              <a:ext uri="{FF2B5EF4-FFF2-40B4-BE49-F238E27FC236}">
                <a16:creationId xmlns:a16="http://schemas.microsoft.com/office/drawing/2014/main" id="{F9E46584-DE04-8591-97C8-385F95BDA6C5}"/>
              </a:ext>
            </a:extLst>
          </p:cNvPr>
          <p:cNvSpPr txBox="1"/>
          <p:nvPr/>
        </p:nvSpPr>
        <p:spPr>
          <a:xfrm>
            <a:off x="-5334000" y="-1539959"/>
            <a:ext cx="8359435" cy="24983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74"/>
              </a:lnSpc>
            </a:pPr>
            <a:r>
              <a:rPr lang="en-US" sz="7872" b="1" dirty="0">
                <a:solidFill>
                  <a:srgbClr val="303870"/>
                </a:solidFill>
                <a:latin typeface="Agrandir Wide Bold"/>
                <a:ea typeface="Agrandir Wide Bold"/>
                <a:cs typeface="Agrandir Wide Bold"/>
                <a:sym typeface="Agrandir Wide Bold"/>
              </a:rPr>
              <a:t>PROJECT TIMELINE</a:t>
            </a:r>
          </a:p>
        </p:txBody>
      </p:sp>
    </p:spTree>
    <p:extLst>
      <p:ext uri="{BB962C8B-B14F-4D97-AF65-F5344CB8AC3E}">
        <p14:creationId xmlns:p14="http://schemas.microsoft.com/office/powerpoint/2010/main" val="25466541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B41357-B496-D320-B33E-3AEB3170A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Rectangle 609">
            <a:extLst>
              <a:ext uri="{FF2B5EF4-FFF2-40B4-BE49-F238E27FC236}">
                <a16:creationId xmlns:a16="http://schemas.microsoft.com/office/drawing/2014/main" id="{7801763D-1E35-AB5B-C704-E5A57E7DA72F}"/>
              </a:ext>
            </a:extLst>
          </p:cNvPr>
          <p:cNvSpPr/>
          <p:nvPr/>
        </p:nvSpPr>
        <p:spPr>
          <a:xfrm>
            <a:off x="4038600" y="999270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8D8B38CE-CE8B-9D27-645E-D704B1A43530}"/>
              </a:ext>
            </a:extLst>
          </p:cNvPr>
          <p:cNvSpPr/>
          <p:nvPr/>
        </p:nvSpPr>
        <p:spPr>
          <a:xfrm>
            <a:off x="16228732" y="7530582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C75FAAC9-ABA4-4FF9-A925-0874341BC16D}"/>
              </a:ext>
            </a:extLst>
          </p:cNvPr>
          <p:cNvSpPr/>
          <p:nvPr/>
        </p:nvSpPr>
        <p:spPr>
          <a:xfrm>
            <a:off x="15555300" y="751344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6FD1B8FF-E972-4C37-A5B2-FD5D6DA5FBCD}"/>
              </a:ext>
            </a:extLst>
          </p:cNvPr>
          <p:cNvSpPr/>
          <p:nvPr/>
        </p:nvSpPr>
        <p:spPr>
          <a:xfrm>
            <a:off x="9353844" y="5153016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85949ADB-6839-7476-99CC-7C948BDF6052}"/>
              </a:ext>
            </a:extLst>
          </p:cNvPr>
          <p:cNvSpPr/>
          <p:nvPr/>
        </p:nvSpPr>
        <p:spPr>
          <a:xfrm>
            <a:off x="9353844" y="5627299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CAB8931C-3A30-E129-204D-48D8BAEA9398}"/>
              </a:ext>
            </a:extLst>
          </p:cNvPr>
          <p:cNvSpPr/>
          <p:nvPr/>
        </p:nvSpPr>
        <p:spPr>
          <a:xfrm>
            <a:off x="10569452" y="3095168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60D94ECF-C922-DC55-AA83-9F2A973C83EA}"/>
              </a:ext>
            </a:extLst>
          </p:cNvPr>
          <p:cNvSpPr/>
          <p:nvPr/>
        </p:nvSpPr>
        <p:spPr>
          <a:xfrm>
            <a:off x="10569452" y="3510821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3E473EB2-0AD2-5291-134F-E14DE2838491}"/>
              </a:ext>
            </a:extLst>
          </p:cNvPr>
          <p:cNvSpPr/>
          <p:nvPr/>
        </p:nvSpPr>
        <p:spPr>
          <a:xfrm>
            <a:off x="8964000" y="907112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C240C064-BFFD-3EF0-82FB-6B511FF6F830}"/>
              </a:ext>
            </a:extLst>
          </p:cNvPr>
          <p:cNvSpPr/>
          <p:nvPr/>
        </p:nvSpPr>
        <p:spPr>
          <a:xfrm>
            <a:off x="9227172" y="907260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8F85A683-694E-66BD-CB63-69CA6CFD1B3F}"/>
              </a:ext>
            </a:extLst>
          </p:cNvPr>
          <p:cNvSpPr/>
          <p:nvPr/>
        </p:nvSpPr>
        <p:spPr>
          <a:xfrm>
            <a:off x="46698" y="4611955"/>
            <a:ext cx="11002302" cy="190314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5B86DDE0-1395-4132-9ECE-F827318F8702}"/>
              </a:ext>
            </a:extLst>
          </p:cNvPr>
          <p:cNvSpPr/>
          <p:nvPr/>
        </p:nvSpPr>
        <p:spPr>
          <a:xfrm>
            <a:off x="46698" y="45536"/>
            <a:ext cx="11002302" cy="448751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79CDEF-8363-E79C-8684-B5644B7180EC}"/>
              </a:ext>
            </a:extLst>
          </p:cNvPr>
          <p:cNvSpPr txBox="1"/>
          <p:nvPr/>
        </p:nvSpPr>
        <p:spPr>
          <a:xfrm>
            <a:off x="49079" y="47738"/>
            <a:ext cx="1393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Historical Data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D21F530B-9C7D-AAFC-448B-5438AC05FAE6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F3212394-0DD5-7371-7986-A1C5B6C6FE9C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>
                <a:latin typeface="Nunito" pitchFamily="2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4CF1AFBD-3860-2D16-3D5E-33F47CF7A747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>
                <a:latin typeface="Nunito" pitchFamily="2" charset="0"/>
              </a:endParaRP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70B08D5-7A2A-F82C-0FC3-12E574F0A444}"/>
              </a:ext>
            </a:extLst>
          </p:cNvPr>
          <p:cNvSpPr/>
          <p:nvPr/>
        </p:nvSpPr>
        <p:spPr>
          <a:xfrm>
            <a:off x="1262314" y="208219"/>
            <a:ext cx="1800000" cy="4248135"/>
          </a:xfrm>
          <a:prstGeom prst="roundRect">
            <a:avLst>
              <a:gd name="adj" fmla="val 6819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Bronze</a:t>
            </a:r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6A6FEB0F-9F5E-0297-7813-7F721496F9A8}"/>
              </a:ext>
            </a:extLst>
          </p:cNvPr>
          <p:cNvSpPr/>
          <p:nvPr/>
        </p:nvSpPr>
        <p:spPr>
          <a:xfrm>
            <a:off x="257721" y="845673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SGCharts</a:t>
            </a: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0F45C6A7-5221-C793-14AF-1C7511937254}"/>
              </a:ext>
            </a:extLst>
          </p:cNvPr>
          <p:cNvSpPr/>
          <p:nvPr/>
        </p:nvSpPr>
        <p:spPr>
          <a:xfrm>
            <a:off x="257719" y="1757299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MSS Weather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EF664346-6E49-BB09-6E2D-FE507DA49982}"/>
              </a:ext>
            </a:extLst>
          </p:cNvPr>
          <p:cNvSpPr/>
          <p:nvPr/>
        </p:nvSpPr>
        <p:spPr>
          <a:xfrm>
            <a:off x="257719" y="2689388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SingStat</a:t>
            </a: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18" name="Flowchart: Document 17">
            <a:extLst>
              <a:ext uri="{FF2B5EF4-FFF2-40B4-BE49-F238E27FC236}">
                <a16:creationId xmlns:a16="http://schemas.microsoft.com/office/drawing/2014/main" id="{08D25875-E1F8-3776-17D2-6EDD3BA39716}"/>
              </a:ext>
            </a:extLst>
          </p:cNvPr>
          <p:cNvSpPr/>
          <p:nvPr/>
        </p:nvSpPr>
        <p:spPr>
          <a:xfrm>
            <a:off x="252710" y="3581696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URA </a:t>
            </a:r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Geo.</a:t>
            </a:r>
            <a:r>
              <a:rPr lang="en-SG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json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A80A3595-7DF9-0E88-A391-3DD32B73F8A9}"/>
              </a:ext>
            </a:extLst>
          </p:cNvPr>
          <p:cNvSpPr/>
          <p:nvPr/>
        </p:nvSpPr>
        <p:spPr>
          <a:xfrm>
            <a:off x="1626949" y="81054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4DA5976A-3710-1DF6-4AE9-4C9E4202DAFB}"/>
              </a:ext>
            </a:extLst>
          </p:cNvPr>
          <p:cNvSpPr/>
          <p:nvPr/>
        </p:nvSpPr>
        <p:spPr>
          <a:xfrm>
            <a:off x="1626949" y="1722173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weather</a:t>
            </a:r>
          </a:p>
        </p:txBody>
      </p:sp>
      <p:sp>
        <p:nvSpPr>
          <p:cNvPr id="31" name="Cylinder 30">
            <a:extLst>
              <a:ext uri="{FF2B5EF4-FFF2-40B4-BE49-F238E27FC236}">
                <a16:creationId xmlns:a16="http://schemas.microsoft.com/office/drawing/2014/main" id="{A64EC79B-F07F-CB15-3527-CB8A785806CA}"/>
              </a:ext>
            </a:extLst>
          </p:cNvPr>
          <p:cNvSpPr/>
          <p:nvPr/>
        </p:nvSpPr>
        <p:spPr>
          <a:xfrm>
            <a:off x="1626949" y="265396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population</a:t>
            </a:r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419DA9E2-1691-7D87-AC70-523BF8F8F400}"/>
              </a:ext>
            </a:extLst>
          </p:cNvPr>
          <p:cNvSpPr/>
          <p:nvPr/>
        </p:nvSpPr>
        <p:spPr>
          <a:xfrm>
            <a:off x="1626949" y="354657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geodata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DDBB4E26-4EF6-18EB-AC2D-CC2F31C920D8}"/>
              </a:ext>
            </a:extLst>
          </p:cNvPr>
          <p:cNvCxnSpPr>
            <a:cxnSpLocks/>
            <a:stCxn id="9" idx="3"/>
            <a:endCxn id="24" idx="2"/>
          </p:cNvCxnSpPr>
          <p:nvPr/>
        </p:nvCxnSpPr>
        <p:spPr>
          <a:xfrm>
            <a:off x="1102076" y="1188198"/>
            <a:ext cx="524873" cy="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58929208-559E-CED5-0DD5-71788C2BF2F0}"/>
              </a:ext>
            </a:extLst>
          </p:cNvPr>
          <p:cNvCxnSpPr>
            <a:cxnSpLocks/>
            <a:stCxn id="10" idx="3"/>
            <a:endCxn id="26" idx="2"/>
          </p:cNvCxnSpPr>
          <p:nvPr/>
        </p:nvCxnSpPr>
        <p:spPr>
          <a:xfrm>
            <a:off x="1102074" y="2099824"/>
            <a:ext cx="524875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79A9D4B4-D843-1A80-CB92-F2EC75B0B01D}"/>
              </a:ext>
            </a:extLst>
          </p:cNvPr>
          <p:cNvCxnSpPr>
            <a:cxnSpLocks/>
            <a:stCxn id="11" idx="3"/>
            <a:endCxn id="31" idx="2"/>
          </p:cNvCxnSpPr>
          <p:nvPr/>
        </p:nvCxnSpPr>
        <p:spPr>
          <a:xfrm flipV="1">
            <a:off x="1102074" y="3031612"/>
            <a:ext cx="524875" cy="30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6AA31025-8841-E6C6-535E-57D98B8BE8DC}"/>
              </a:ext>
            </a:extLst>
          </p:cNvPr>
          <p:cNvCxnSpPr>
            <a:cxnSpLocks/>
            <a:stCxn id="18" idx="3"/>
            <a:endCxn id="32" idx="2"/>
          </p:cNvCxnSpPr>
          <p:nvPr/>
        </p:nvCxnSpPr>
        <p:spPr>
          <a:xfrm>
            <a:off x="1097065" y="3924221"/>
            <a:ext cx="529884" cy="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CD351A59-3E67-9D66-74B0-905AF631EDF6}"/>
              </a:ext>
            </a:extLst>
          </p:cNvPr>
          <p:cNvSpPr/>
          <p:nvPr/>
        </p:nvSpPr>
        <p:spPr>
          <a:xfrm>
            <a:off x="5181600" y="208200"/>
            <a:ext cx="1800000" cy="4248943"/>
          </a:xfrm>
          <a:prstGeom prst="roundRect">
            <a:avLst>
              <a:gd name="adj" fmla="val 68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Silver</a:t>
            </a:r>
          </a:p>
        </p:txBody>
      </p:sp>
      <p:sp>
        <p:nvSpPr>
          <p:cNvPr id="54" name="Cylinder 53">
            <a:extLst>
              <a:ext uri="{FF2B5EF4-FFF2-40B4-BE49-F238E27FC236}">
                <a16:creationId xmlns:a16="http://schemas.microsoft.com/office/drawing/2014/main" id="{94D3D860-7D64-8A8A-E906-BE2481D189FA}"/>
              </a:ext>
            </a:extLst>
          </p:cNvPr>
          <p:cNvSpPr/>
          <p:nvPr/>
        </p:nvSpPr>
        <p:spPr>
          <a:xfrm>
            <a:off x="5546235" y="81054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</a:p>
        </p:txBody>
      </p:sp>
      <p:sp>
        <p:nvSpPr>
          <p:cNvPr id="55" name="Cylinder 54">
            <a:extLst>
              <a:ext uri="{FF2B5EF4-FFF2-40B4-BE49-F238E27FC236}">
                <a16:creationId xmlns:a16="http://schemas.microsoft.com/office/drawing/2014/main" id="{E86E5980-7B56-D4EE-1D3D-4B39B042D298}"/>
              </a:ext>
            </a:extLst>
          </p:cNvPr>
          <p:cNvSpPr/>
          <p:nvPr/>
        </p:nvSpPr>
        <p:spPr>
          <a:xfrm>
            <a:off x="5546235" y="1722173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weather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A6F07740-250B-4469-B6AF-362D9A619D63}"/>
              </a:ext>
            </a:extLst>
          </p:cNvPr>
          <p:cNvSpPr/>
          <p:nvPr/>
        </p:nvSpPr>
        <p:spPr>
          <a:xfrm>
            <a:off x="5546235" y="265396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population</a:t>
            </a:r>
          </a:p>
        </p:txBody>
      </p:sp>
      <p:sp>
        <p:nvSpPr>
          <p:cNvPr id="57" name="Cylinder 56">
            <a:extLst>
              <a:ext uri="{FF2B5EF4-FFF2-40B4-BE49-F238E27FC236}">
                <a16:creationId xmlns:a16="http://schemas.microsoft.com/office/drawing/2014/main" id="{B4348B99-474D-A5F2-36D4-9504A55EA8FC}"/>
              </a:ext>
            </a:extLst>
          </p:cNvPr>
          <p:cNvSpPr/>
          <p:nvPr/>
        </p:nvSpPr>
        <p:spPr>
          <a:xfrm>
            <a:off x="5546235" y="354657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geodata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0259E7F0-5F54-7B9B-6B46-21D1F5FF5C0A}"/>
              </a:ext>
            </a:extLst>
          </p:cNvPr>
          <p:cNvCxnSpPr>
            <a:cxnSpLocks/>
            <a:stCxn id="24" idx="4"/>
            <a:endCxn id="54" idx="2"/>
          </p:cNvCxnSpPr>
          <p:nvPr/>
        </p:nvCxnSpPr>
        <p:spPr>
          <a:xfrm>
            <a:off x="2706949" y="1188199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59B7F7A-497E-8DFC-D087-3D37AFF8292E}"/>
              </a:ext>
            </a:extLst>
          </p:cNvPr>
          <p:cNvCxnSpPr>
            <a:cxnSpLocks/>
            <a:stCxn id="26" idx="4"/>
            <a:endCxn id="55" idx="2"/>
          </p:cNvCxnSpPr>
          <p:nvPr/>
        </p:nvCxnSpPr>
        <p:spPr>
          <a:xfrm>
            <a:off x="2706949" y="2099824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2C48ECFD-F243-F1B6-A166-D294A5FB197F}"/>
              </a:ext>
            </a:extLst>
          </p:cNvPr>
          <p:cNvCxnSpPr>
            <a:cxnSpLocks/>
            <a:stCxn id="31" idx="4"/>
            <a:endCxn id="56" idx="2"/>
          </p:cNvCxnSpPr>
          <p:nvPr/>
        </p:nvCxnSpPr>
        <p:spPr>
          <a:xfrm>
            <a:off x="2706949" y="3031612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7565787D-8D5D-6642-4983-63B807960508}"/>
              </a:ext>
            </a:extLst>
          </p:cNvPr>
          <p:cNvCxnSpPr>
            <a:cxnSpLocks/>
            <a:stCxn id="32" idx="4"/>
            <a:endCxn id="57" idx="2"/>
          </p:cNvCxnSpPr>
          <p:nvPr/>
        </p:nvCxnSpPr>
        <p:spPr>
          <a:xfrm>
            <a:off x="2706949" y="3924222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B370FF69-A0BF-07A4-9385-8091F469127D}"/>
              </a:ext>
            </a:extLst>
          </p:cNvPr>
          <p:cNvSpPr/>
          <p:nvPr/>
        </p:nvSpPr>
        <p:spPr>
          <a:xfrm>
            <a:off x="9144000" y="208200"/>
            <a:ext cx="1800000" cy="6230700"/>
          </a:xfrm>
          <a:prstGeom prst="roundRect">
            <a:avLst>
              <a:gd name="adj" fmla="val 681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Gold</a:t>
            </a: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0662B3F2-98B2-3443-DBC8-AA68EA6D7ABE}"/>
              </a:ext>
            </a:extLst>
          </p:cNvPr>
          <p:cNvSpPr/>
          <p:nvPr/>
        </p:nvSpPr>
        <p:spPr>
          <a:xfrm>
            <a:off x="9347201" y="2851307"/>
            <a:ext cx="1407503" cy="996793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subzone_features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04C92A60-22C8-184F-62B0-75AED4133F56}"/>
              </a:ext>
            </a:extLst>
          </p:cNvPr>
          <p:cNvCxnSpPr>
            <a:cxnSpLocks/>
            <a:stCxn id="54" idx="4"/>
            <a:endCxn id="73" idx="2"/>
          </p:cNvCxnSpPr>
          <p:nvPr/>
        </p:nvCxnSpPr>
        <p:spPr>
          <a:xfrm>
            <a:off x="6626235" y="1188199"/>
            <a:ext cx="2720966" cy="2161505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35BDB93-26BC-B650-2204-6F5979030D9B}"/>
              </a:ext>
            </a:extLst>
          </p:cNvPr>
          <p:cNvCxnSpPr>
            <a:cxnSpLocks/>
            <a:stCxn id="55" idx="4"/>
            <a:endCxn id="73" idx="2"/>
          </p:cNvCxnSpPr>
          <p:nvPr/>
        </p:nvCxnSpPr>
        <p:spPr>
          <a:xfrm>
            <a:off x="6626235" y="2099824"/>
            <a:ext cx="2720966" cy="1249880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0204FF1-1EE0-7AC2-E116-5C4D6778334C}"/>
              </a:ext>
            </a:extLst>
          </p:cNvPr>
          <p:cNvCxnSpPr>
            <a:cxnSpLocks/>
            <a:stCxn id="56" idx="4"/>
            <a:endCxn id="73" idx="2"/>
          </p:cNvCxnSpPr>
          <p:nvPr/>
        </p:nvCxnSpPr>
        <p:spPr>
          <a:xfrm>
            <a:off x="6626235" y="3031612"/>
            <a:ext cx="2720966" cy="318092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F2C9B16A-F25B-02A3-BDC3-0538605632CB}"/>
              </a:ext>
            </a:extLst>
          </p:cNvPr>
          <p:cNvCxnSpPr>
            <a:cxnSpLocks/>
            <a:stCxn id="57" idx="4"/>
            <a:endCxn id="73" idx="2"/>
          </p:cNvCxnSpPr>
          <p:nvPr/>
        </p:nvCxnSpPr>
        <p:spPr>
          <a:xfrm flipV="1">
            <a:off x="6626235" y="3349704"/>
            <a:ext cx="2720966" cy="57451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0C93F3E-C31F-D58E-B0EE-0A503E17D55F}"/>
              </a:ext>
            </a:extLst>
          </p:cNvPr>
          <p:cNvSpPr/>
          <p:nvPr/>
        </p:nvSpPr>
        <p:spPr>
          <a:xfrm>
            <a:off x="3212500" y="810548"/>
            <a:ext cx="1800000" cy="3344413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200" b="1" dirty="0">
                <a:solidFill>
                  <a:srgbClr val="6B7A7A"/>
                </a:solidFill>
                <a:latin typeface="Nunito" pitchFamily="2" charset="0"/>
              </a:rPr>
              <a:t>Pre-processing</a:t>
            </a:r>
            <a:endParaRPr lang="en-SG" sz="1050" b="1" dirty="0">
              <a:solidFill>
                <a:srgbClr val="6B7A7A"/>
              </a:solidFill>
              <a:latin typeface="Nunito" pitchFamily="2" charset="0"/>
            </a:endParaRP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Enforce schema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Handle null values and outliers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Remove duplicates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Repair geometrics</a:t>
            </a:r>
          </a:p>
        </p:txBody>
      </p:sp>
      <p:cxnSp>
        <p:nvCxnSpPr>
          <p:cNvPr id="238" name="Straight Arrow Connector 80">
            <a:extLst>
              <a:ext uri="{FF2B5EF4-FFF2-40B4-BE49-F238E27FC236}">
                <a16:creationId xmlns:a16="http://schemas.microsoft.com/office/drawing/2014/main" id="{A055D452-E208-845D-7728-F5B34E1F62F3}"/>
              </a:ext>
            </a:extLst>
          </p:cNvPr>
          <p:cNvCxnSpPr>
            <a:cxnSpLocks/>
            <a:stCxn id="54" idx="4"/>
            <a:endCxn id="243" idx="1"/>
          </p:cNvCxnSpPr>
          <p:nvPr/>
        </p:nvCxnSpPr>
        <p:spPr>
          <a:xfrm>
            <a:off x="6626235" y="1188199"/>
            <a:ext cx="2720966" cy="34044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2660A466-6AE9-1BDE-C2FD-9D8A70F285E7}"/>
              </a:ext>
            </a:extLst>
          </p:cNvPr>
          <p:cNvSpPr txBox="1"/>
          <p:nvPr/>
        </p:nvSpPr>
        <p:spPr>
          <a:xfrm>
            <a:off x="9640422" y="2875290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43" name="Flowchart: Document 242">
            <a:extLst>
              <a:ext uri="{FF2B5EF4-FFF2-40B4-BE49-F238E27FC236}">
                <a16:creationId xmlns:a16="http://schemas.microsoft.com/office/drawing/2014/main" id="{F766FA41-B00D-79F3-B911-1E1D38F70561}"/>
              </a:ext>
            </a:extLst>
          </p:cNvPr>
          <p:cNvSpPr/>
          <p:nvPr/>
        </p:nvSpPr>
        <p:spPr>
          <a:xfrm>
            <a:off x="9347201" y="1114191"/>
            <a:ext cx="1396998" cy="82890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subzone_features.parquet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D153E691-241D-8723-B701-C1348DE55FED}"/>
              </a:ext>
            </a:extLst>
          </p:cNvPr>
          <p:cNvSpPr txBox="1"/>
          <p:nvPr/>
        </p:nvSpPr>
        <p:spPr>
          <a:xfrm>
            <a:off x="5735837" y="7995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1A8AB9B1-8E2C-C7A4-7BCF-530251DDAB08}"/>
              </a:ext>
            </a:extLst>
          </p:cNvPr>
          <p:cNvSpPr txBox="1"/>
          <p:nvPr/>
        </p:nvSpPr>
        <p:spPr>
          <a:xfrm>
            <a:off x="5745081" y="17139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AF35BC6C-6222-55AF-40D4-06132739CCA8}"/>
              </a:ext>
            </a:extLst>
          </p:cNvPr>
          <p:cNvSpPr txBox="1"/>
          <p:nvPr/>
        </p:nvSpPr>
        <p:spPr>
          <a:xfrm>
            <a:off x="5725573" y="26283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C360945F-38E7-E12B-BC90-3830AE117380}"/>
              </a:ext>
            </a:extLst>
          </p:cNvPr>
          <p:cNvSpPr txBox="1"/>
          <p:nvPr/>
        </p:nvSpPr>
        <p:spPr>
          <a:xfrm>
            <a:off x="5735022" y="35427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42A88C21-4EC8-162F-4AAE-92EB4B9B742A}"/>
              </a:ext>
            </a:extLst>
          </p:cNvPr>
          <p:cNvSpPr txBox="1"/>
          <p:nvPr/>
        </p:nvSpPr>
        <p:spPr>
          <a:xfrm>
            <a:off x="1801396" y="7995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5095AC51-5492-2352-41F7-A70F40BF846C}"/>
              </a:ext>
            </a:extLst>
          </p:cNvPr>
          <p:cNvSpPr txBox="1"/>
          <p:nvPr/>
        </p:nvSpPr>
        <p:spPr>
          <a:xfrm>
            <a:off x="1810640" y="17139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674B5C81-DF21-661B-259F-E1BBC121F4FA}"/>
              </a:ext>
            </a:extLst>
          </p:cNvPr>
          <p:cNvSpPr txBox="1"/>
          <p:nvPr/>
        </p:nvSpPr>
        <p:spPr>
          <a:xfrm>
            <a:off x="1791132" y="26283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12FA0734-0CF0-73BD-7871-77078B285258}"/>
              </a:ext>
            </a:extLst>
          </p:cNvPr>
          <p:cNvSpPr txBox="1"/>
          <p:nvPr/>
        </p:nvSpPr>
        <p:spPr>
          <a:xfrm>
            <a:off x="1800581" y="35427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6" name="Cylinder 255">
            <a:extLst>
              <a:ext uri="{FF2B5EF4-FFF2-40B4-BE49-F238E27FC236}">
                <a16:creationId xmlns:a16="http://schemas.microsoft.com/office/drawing/2014/main" id="{4E29F09C-E6E7-3142-4D32-9CE41929149D}"/>
              </a:ext>
            </a:extLst>
          </p:cNvPr>
          <p:cNvSpPr/>
          <p:nvPr/>
        </p:nvSpPr>
        <p:spPr>
          <a:xfrm>
            <a:off x="9341949" y="4921020"/>
            <a:ext cx="1407503" cy="996793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dirty="0" err="1">
                <a:solidFill>
                  <a:srgbClr val="595959"/>
                </a:solidFill>
                <a:latin typeface="Nunito" pitchFamily="2" charset="0"/>
              </a:rPr>
              <a:t>current_week_case_count</a:t>
            </a:r>
            <a:endParaRPr lang="en-SG" sz="1050" dirty="0">
              <a:solidFill>
                <a:srgbClr val="595959"/>
              </a:solidFill>
              <a:latin typeface="Nunito" pitchFamily="2" charset="0"/>
            </a:endParaRPr>
          </a:p>
          <a:p>
            <a:pPr algn="ctr"/>
            <a:r>
              <a:rPr lang="en-SG" sz="1050" dirty="0" err="1">
                <a:solidFill>
                  <a:srgbClr val="595959"/>
                </a:solidFill>
                <a:latin typeface="Nunito" pitchFamily="2" charset="0"/>
              </a:rPr>
              <a:t>vulnerability_index</a:t>
            </a:r>
            <a:endParaRPr lang="en-SG" sz="1050" dirty="0">
              <a:solidFill>
                <a:srgbClr val="595959"/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63667E2C-F6D2-1FFA-BA0E-2B0F4770F9AF}"/>
              </a:ext>
            </a:extLst>
          </p:cNvPr>
          <p:cNvSpPr txBox="1"/>
          <p:nvPr/>
        </p:nvSpPr>
        <p:spPr>
          <a:xfrm>
            <a:off x="9725740" y="4921020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b="1" dirty="0">
                <a:solidFill>
                  <a:srgbClr val="1C334E"/>
                </a:solidFill>
                <a:latin typeface="Nunito" pitchFamily="2" charset="0"/>
              </a:rPr>
              <a:t>REDIS</a:t>
            </a:r>
          </a:p>
        </p:txBody>
      </p:sp>
      <p:cxnSp>
        <p:nvCxnSpPr>
          <p:cNvPr id="258" name="Straight Arrow Connector 89">
            <a:extLst>
              <a:ext uri="{FF2B5EF4-FFF2-40B4-BE49-F238E27FC236}">
                <a16:creationId xmlns:a16="http://schemas.microsoft.com/office/drawing/2014/main" id="{406CA4AD-1359-D0D2-5A80-E2B5433C166B}"/>
              </a:ext>
            </a:extLst>
          </p:cNvPr>
          <p:cNvCxnSpPr>
            <a:cxnSpLocks/>
            <a:stCxn id="56" idx="4"/>
            <a:endCxn id="526" idx="1"/>
          </p:cNvCxnSpPr>
          <p:nvPr/>
        </p:nvCxnSpPr>
        <p:spPr>
          <a:xfrm>
            <a:off x="6626235" y="3031612"/>
            <a:ext cx="2727609" cy="2211404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F620ADE1-0413-0E45-BCBC-0BA84CC424BB}"/>
              </a:ext>
            </a:extLst>
          </p:cNvPr>
          <p:cNvSpPr/>
          <p:nvPr/>
        </p:nvSpPr>
        <p:spPr>
          <a:xfrm>
            <a:off x="7156767" y="799544"/>
            <a:ext cx="1800000" cy="3355418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200" b="1" dirty="0">
                <a:solidFill>
                  <a:srgbClr val="6B7A7A"/>
                </a:solidFill>
                <a:latin typeface="Nunito" pitchFamily="2" charset="0"/>
              </a:rPr>
              <a:t>Feature Engineering</a:t>
            </a: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Lag features (weather)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Rolling aggregates (clusters)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Spatial join (clusters × subzones)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Vulnerability index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Label creation</a:t>
            </a: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28A3C7E1-ABCE-C685-5E26-42B200D16DDF}"/>
              </a:ext>
            </a:extLst>
          </p:cNvPr>
          <p:cNvSpPr txBox="1"/>
          <p:nvPr/>
        </p:nvSpPr>
        <p:spPr>
          <a:xfrm>
            <a:off x="9227172" y="876925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Used for model dev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6674023E-5CD1-8A48-4A80-39549E774EFF}"/>
              </a:ext>
            </a:extLst>
          </p:cNvPr>
          <p:cNvSpPr txBox="1"/>
          <p:nvPr/>
        </p:nvSpPr>
        <p:spPr>
          <a:xfrm>
            <a:off x="9202871" y="2612009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Offline Feature Store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7E62BF95-8C51-25CA-2AE4-31A0BAD05BA9}"/>
              </a:ext>
            </a:extLst>
          </p:cNvPr>
          <p:cNvSpPr txBox="1"/>
          <p:nvPr/>
        </p:nvSpPr>
        <p:spPr>
          <a:xfrm>
            <a:off x="9202871" y="4686300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Online Feature Store</a:t>
            </a: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05ED1BD2-5CA7-D102-9682-135DACA4E47B}"/>
              </a:ext>
            </a:extLst>
          </p:cNvPr>
          <p:cNvSpPr/>
          <p:nvPr/>
        </p:nvSpPr>
        <p:spPr>
          <a:xfrm>
            <a:off x="11766233" y="6591300"/>
            <a:ext cx="5086089" cy="2479820"/>
          </a:xfrm>
          <a:prstGeom prst="roundRect">
            <a:avLst>
              <a:gd name="adj" fmla="val 420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b"/>
          <a:lstStyle/>
          <a:p>
            <a:pPr algn="ctr"/>
            <a:r>
              <a:rPr lang="en-SG" sz="1400" b="1" dirty="0">
                <a:solidFill>
                  <a:srgbClr val="595959"/>
                </a:solidFill>
                <a:latin typeface="Nunito" pitchFamily="2" charset="0"/>
              </a:rPr>
              <a:t>Model Registry (</a:t>
            </a:r>
            <a:r>
              <a:rPr lang="en-SG" sz="1400" b="1" dirty="0" err="1">
                <a:solidFill>
                  <a:srgbClr val="595959"/>
                </a:solidFill>
                <a:latin typeface="Nunito" pitchFamily="2" charset="0"/>
              </a:rPr>
              <a:t>MLflow</a:t>
            </a:r>
            <a:r>
              <a:rPr lang="en-SG" sz="1400" b="1" dirty="0">
                <a:solidFill>
                  <a:srgbClr val="595959"/>
                </a:solidFill>
                <a:latin typeface="Nunito" pitchFamily="2" charset="0"/>
              </a:rPr>
              <a:t>)</a:t>
            </a:r>
          </a:p>
        </p:txBody>
      </p:sp>
      <p:cxnSp>
        <p:nvCxnSpPr>
          <p:cNvPr id="276" name="Straight Arrow Connector 80">
            <a:extLst>
              <a:ext uri="{FF2B5EF4-FFF2-40B4-BE49-F238E27FC236}">
                <a16:creationId xmlns:a16="http://schemas.microsoft.com/office/drawing/2014/main" id="{424CA851-14E6-04B7-DCE8-9A51D2EACB1E}"/>
              </a:ext>
            </a:extLst>
          </p:cNvPr>
          <p:cNvCxnSpPr>
            <a:cxnSpLocks/>
            <a:stCxn id="243" idx="3"/>
            <a:endCxn id="280" idx="1"/>
          </p:cNvCxnSpPr>
          <p:nvPr/>
        </p:nvCxnSpPr>
        <p:spPr>
          <a:xfrm>
            <a:off x="10744199" y="1528646"/>
            <a:ext cx="841580" cy="1300231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80">
            <a:extLst>
              <a:ext uri="{FF2B5EF4-FFF2-40B4-BE49-F238E27FC236}">
                <a16:creationId xmlns:a16="http://schemas.microsoft.com/office/drawing/2014/main" id="{7FDE00F0-9728-2370-22A4-78AF1D70F3A1}"/>
              </a:ext>
            </a:extLst>
          </p:cNvPr>
          <p:cNvCxnSpPr>
            <a:cxnSpLocks/>
            <a:stCxn id="334" idx="2"/>
            <a:endCxn id="332" idx="0"/>
          </p:cNvCxnSpPr>
          <p:nvPr/>
        </p:nvCxnSpPr>
        <p:spPr>
          <a:xfrm rot="16200000" flipH="1">
            <a:off x="12748472" y="5155679"/>
            <a:ext cx="1613229" cy="193893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: Single Corner Rounded 295">
            <a:extLst>
              <a:ext uri="{FF2B5EF4-FFF2-40B4-BE49-F238E27FC236}">
                <a16:creationId xmlns:a16="http://schemas.microsoft.com/office/drawing/2014/main" id="{28342986-C224-E6DB-7820-F838F926FD24}"/>
              </a:ext>
            </a:extLst>
          </p:cNvPr>
          <p:cNvSpPr/>
          <p:nvPr/>
        </p:nvSpPr>
        <p:spPr>
          <a:xfrm>
            <a:off x="12128417" y="6896100"/>
            <a:ext cx="914400" cy="814481"/>
          </a:xfrm>
          <a:prstGeom prst="round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model_v1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297" name="Rectangle: Single Corner Rounded 296">
            <a:extLst>
              <a:ext uri="{FF2B5EF4-FFF2-40B4-BE49-F238E27FC236}">
                <a16:creationId xmlns:a16="http://schemas.microsoft.com/office/drawing/2014/main" id="{485700B1-587F-A2F2-BF5A-C0B444BFDD7B}"/>
              </a:ext>
            </a:extLst>
          </p:cNvPr>
          <p:cNvSpPr/>
          <p:nvPr/>
        </p:nvSpPr>
        <p:spPr>
          <a:xfrm>
            <a:off x="13258800" y="6896100"/>
            <a:ext cx="914400" cy="814481"/>
          </a:xfrm>
          <a:prstGeom prst="round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model_v2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299" name="Straight Arrow Connector 80">
            <a:extLst>
              <a:ext uri="{FF2B5EF4-FFF2-40B4-BE49-F238E27FC236}">
                <a16:creationId xmlns:a16="http://schemas.microsoft.com/office/drawing/2014/main" id="{BDCFB9B6-3BE2-DBD4-368D-DD32FD29B97A}"/>
              </a:ext>
            </a:extLst>
          </p:cNvPr>
          <p:cNvCxnSpPr>
            <a:cxnSpLocks/>
            <a:stCxn id="336" idx="2"/>
            <a:endCxn id="303" idx="0"/>
          </p:cNvCxnSpPr>
          <p:nvPr/>
        </p:nvCxnSpPr>
        <p:spPr>
          <a:xfrm rot="16200000" flipH="1">
            <a:off x="14893670" y="5818446"/>
            <a:ext cx="1583009" cy="583183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TextBox 321">
            <a:extLst>
              <a:ext uri="{FF2B5EF4-FFF2-40B4-BE49-F238E27FC236}">
                <a16:creationId xmlns:a16="http://schemas.microsoft.com/office/drawing/2014/main" id="{352712E1-6DFA-2631-79B9-A3855E339703}"/>
              </a:ext>
            </a:extLst>
          </p:cNvPr>
          <p:cNvSpPr txBox="1"/>
          <p:nvPr/>
        </p:nvSpPr>
        <p:spPr>
          <a:xfrm>
            <a:off x="12533738" y="5402633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output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candidate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47912A0F-DA48-A720-9D42-B790FAEE0D2F}"/>
              </a:ext>
            </a:extLst>
          </p:cNvPr>
          <p:cNvSpPr txBox="1"/>
          <p:nvPr/>
        </p:nvSpPr>
        <p:spPr>
          <a:xfrm>
            <a:off x="13868400" y="5390244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evaluate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candidate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F919EDBB-5EB8-FBD4-267B-4310788C4BE3}"/>
              </a:ext>
            </a:extLst>
          </p:cNvPr>
          <p:cNvSpPr txBox="1"/>
          <p:nvPr/>
        </p:nvSpPr>
        <p:spPr>
          <a:xfrm>
            <a:off x="15344775" y="5402633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output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promoted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cxnSp>
        <p:nvCxnSpPr>
          <p:cNvPr id="325" name="Straight Arrow Connector 80">
            <a:extLst>
              <a:ext uri="{FF2B5EF4-FFF2-40B4-BE49-F238E27FC236}">
                <a16:creationId xmlns:a16="http://schemas.microsoft.com/office/drawing/2014/main" id="{636DB579-17E0-D3B2-4AA6-65EEE586F135}"/>
              </a:ext>
            </a:extLst>
          </p:cNvPr>
          <p:cNvCxnSpPr>
            <a:cxnSpLocks/>
            <a:stCxn id="328" idx="0"/>
            <a:endCxn id="330" idx="2"/>
          </p:cNvCxnSpPr>
          <p:nvPr/>
        </p:nvCxnSpPr>
        <p:spPr>
          <a:xfrm rot="16200000" flipV="1">
            <a:off x="14161766" y="6003152"/>
            <a:ext cx="1624253" cy="25501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Rectangle 327">
            <a:extLst>
              <a:ext uri="{FF2B5EF4-FFF2-40B4-BE49-F238E27FC236}">
                <a16:creationId xmlns:a16="http://schemas.microsoft.com/office/drawing/2014/main" id="{BB54578D-8CDE-3CF1-2425-75540D41A137}"/>
              </a:ext>
            </a:extLst>
          </p:cNvPr>
          <p:cNvSpPr/>
          <p:nvPr/>
        </p:nvSpPr>
        <p:spPr>
          <a:xfrm>
            <a:off x="15011400" y="694278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8740110E-8394-F297-B36E-F1E91403AA9F}"/>
              </a:ext>
            </a:extLst>
          </p:cNvPr>
          <p:cNvSpPr/>
          <p:nvPr/>
        </p:nvSpPr>
        <p:spPr>
          <a:xfrm>
            <a:off x="14756383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89C678EB-82B2-BE11-341C-52DEFEB7BBAF}"/>
              </a:ext>
            </a:extLst>
          </p:cNvPr>
          <p:cNvSpPr/>
          <p:nvPr/>
        </p:nvSpPr>
        <p:spPr>
          <a:xfrm>
            <a:off x="14434555" y="6931763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FDE6B168-1DAC-F308-7A4F-6CCAE984B9CA}"/>
              </a:ext>
            </a:extLst>
          </p:cNvPr>
          <p:cNvSpPr/>
          <p:nvPr/>
        </p:nvSpPr>
        <p:spPr>
          <a:xfrm>
            <a:off x="12495617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D19A2F78-698D-4E68-8D66-E62C12554F56}"/>
              </a:ext>
            </a:extLst>
          </p:cNvPr>
          <p:cNvSpPr/>
          <p:nvPr/>
        </p:nvSpPr>
        <p:spPr>
          <a:xfrm>
            <a:off x="15303583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280" name="Rectangle: Folded Corner 279">
            <a:extLst>
              <a:ext uri="{FF2B5EF4-FFF2-40B4-BE49-F238E27FC236}">
                <a16:creationId xmlns:a16="http://schemas.microsoft.com/office/drawing/2014/main" id="{B990EA43-530E-AC88-9E21-029BA4D036C9}"/>
              </a:ext>
            </a:extLst>
          </p:cNvPr>
          <p:cNvSpPr/>
          <p:nvPr/>
        </p:nvSpPr>
        <p:spPr>
          <a:xfrm>
            <a:off x="11585779" y="324738"/>
            <a:ext cx="2664000" cy="5008278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train.py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Splits data temporally (Train/Val/Test/OOT)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Applies SMOTE on training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Runs 5-fold time-series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CV Trains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XGBoost</a:t>
            </a: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 and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LightGBM</a:t>
            </a: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Optuna</a:t>
            </a: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 tunes hyperparameters against validation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All runs logged to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endParaRPr lang="en-SG" sz="16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290" name="Rectangle: Folded Corner 289">
            <a:extLst>
              <a:ext uri="{FF2B5EF4-FFF2-40B4-BE49-F238E27FC236}">
                <a16:creationId xmlns:a16="http://schemas.microsoft.com/office/drawing/2014/main" id="{CB658D25-FC04-DE88-9FC8-67147F207B70}"/>
              </a:ext>
            </a:extLst>
          </p:cNvPr>
          <p:cNvSpPr/>
          <p:nvPr/>
        </p:nvSpPr>
        <p:spPr>
          <a:xfrm>
            <a:off x="14404800" y="324737"/>
            <a:ext cx="2664000" cy="5008277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evaluate.py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Test set metrics such as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Precision, Recall, F1, AUC-ROC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SHAP values generated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Spatial accuracy check run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Evaluate against OOT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PSI — measures if feature distributions have shifted vs training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CSI — measures if individual feature contributions have shifted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Promotion gate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Recall &gt; 0.70 on test set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OOT perf within acceptable degradation over time (OOT drop &lt; 10pp)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Register as Production in </a:t>
            </a:r>
            <a:r>
              <a:rPr lang="en-US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 if </a:t>
            </a:r>
            <a:r>
              <a:rPr lang="en-US" sz="1200" b="1" dirty="0">
                <a:solidFill>
                  <a:srgbClr val="6B7A7A"/>
                </a:solidFill>
                <a:latin typeface="Nunito" pitchFamily="2" charset="0"/>
              </a:rPr>
              <a:t>PASS</a:t>
            </a:r>
          </a:p>
        </p:txBody>
      </p:sp>
      <p:sp>
        <p:nvSpPr>
          <p:cNvPr id="298" name="Rectangle: Single Corner Rounded 297">
            <a:extLst>
              <a:ext uri="{FF2B5EF4-FFF2-40B4-BE49-F238E27FC236}">
                <a16:creationId xmlns:a16="http://schemas.microsoft.com/office/drawing/2014/main" id="{C8C168F5-F38B-FE6B-D004-F985807ECF63}"/>
              </a:ext>
            </a:extLst>
          </p:cNvPr>
          <p:cNvSpPr/>
          <p:nvPr/>
        </p:nvSpPr>
        <p:spPr>
          <a:xfrm>
            <a:off x="14389183" y="6896100"/>
            <a:ext cx="914400" cy="814481"/>
          </a:xfrm>
          <a:prstGeom prst="round1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model_v3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A5F204D2-D642-2F6F-EC4E-7CD523D630E9}"/>
              </a:ext>
            </a:extLst>
          </p:cNvPr>
          <p:cNvSpPr txBox="1"/>
          <p:nvPr/>
        </p:nvSpPr>
        <p:spPr>
          <a:xfrm>
            <a:off x="14423653" y="7429501"/>
            <a:ext cx="845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Candidate</a:t>
            </a:r>
          </a:p>
        </p:txBody>
      </p:sp>
      <p:sp>
        <p:nvSpPr>
          <p:cNvPr id="378" name="Rounded Rectangle 45">
            <a:extLst>
              <a:ext uri="{FF2B5EF4-FFF2-40B4-BE49-F238E27FC236}">
                <a16:creationId xmlns:a16="http://schemas.microsoft.com/office/drawing/2014/main" id="{620E37C5-ECCD-2D0D-CD05-62B57B688DCD}"/>
              </a:ext>
            </a:extLst>
          </p:cNvPr>
          <p:cNvSpPr/>
          <p:nvPr/>
        </p:nvSpPr>
        <p:spPr>
          <a:xfrm>
            <a:off x="8103960" y="6734970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Reads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subzone_features</a:t>
            </a:r>
            <a:endParaRPr lang="en-US" sz="1000" b="1" dirty="0">
              <a:solidFill>
                <a:srgbClr val="1B4332"/>
              </a:solidFill>
              <a:latin typeface="Nunito" pitchFamily="2" charset="0"/>
            </a:endParaRP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(all 330 subzones)</a:t>
            </a:r>
          </a:p>
        </p:txBody>
      </p:sp>
      <p:cxnSp>
        <p:nvCxnSpPr>
          <p:cNvPr id="384" name="Straight Arrow Connector 80">
            <a:extLst>
              <a:ext uri="{FF2B5EF4-FFF2-40B4-BE49-F238E27FC236}">
                <a16:creationId xmlns:a16="http://schemas.microsoft.com/office/drawing/2014/main" id="{3C04278A-D8C4-5DA7-0A56-055A81A84D03}"/>
              </a:ext>
            </a:extLst>
          </p:cNvPr>
          <p:cNvCxnSpPr>
            <a:cxnSpLocks/>
            <a:stCxn id="540" idx="3"/>
            <a:endCxn id="378" idx="0"/>
          </p:cNvCxnSpPr>
          <p:nvPr/>
        </p:nvCxnSpPr>
        <p:spPr>
          <a:xfrm flipH="1">
            <a:off x="8814480" y="3185168"/>
            <a:ext cx="1934972" cy="3549802"/>
          </a:xfrm>
          <a:prstGeom prst="bentConnector4">
            <a:avLst>
              <a:gd name="adj1" fmla="val -36755"/>
              <a:gd name="adj2" fmla="val 95631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Arrow Connector 80">
            <a:extLst>
              <a:ext uri="{FF2B5EF4-FFF2-40B4-BE49-F238E27FC236}">
                <a16:creationId xmlns:a16="http://schemas.microsoft.com/office/drawing/2014/main" id="{70B3798A-2435-F8E2-3DE0-A94BA322DCCA}"/>
              </a:ext>
            </a:extLst>
          </p:cNvPr>
          <p:cNvCxnSpPr>
            <a:cxnSpLocks/>
            <a:stCxn id="350" idx="1"/>
            <a:endCxn id="378" idx="3"/>
          </p:cNvCxnSpPr>
          <p:nvPr/>
        </p:nvCxnSpPr>
        <p:spPr>
          <a:xfrm rot="10800000">
            <a:off x="9525001" y="7049858"/>
            <a:ext cx="400097" cy="444819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: Elbow 401">
            <a:extLst>
              <a:ext uri="{FF2B5EF4-FFF2-40B4-BE49-F238E27FC236}">
                <a16:creationId xmlns:a16="http://schemas.microsoft.com/office/drawing/2014/main" id="{D3A0B3E5-4AD7-3320-506B-7B8F7E24AA35}"/>
              </a:ext>
            </a:extLst>
          </p:cNvPr>
          <p:cNvCxnSpPr>
            <a:cxnSpLocks/>
            <a:stCxn id="350" idx="3"/>
            <a:endCxn id="464" idx="2"/>
          </p:cNvCxnSpPr>
          <p:nvPr/>
        </p:nvCxnSpPr>
        <p:spPr>
          <a:xfrm>
            <a:off x="11346137" y="7494676"/>
            <a:ext cx="4299163" cy="198768"/>
          </a:xfrm>
          <a:prstGeom prst="bentConnector4">
            <a:avLst>
              <a:gd name="adj1" fmla="val 4937"/>
              <a:gd name="adj2" fmla="val 869917"/>
            </a:avLst>
          </a:prstGeom>
          <a:ln>
            <a:solidFill>
              <a:srgbClr val="1C3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Rounded Rectangle 45">
            <a:extLst>
              <a:ext uri="{FF2B5EF4-FFF2-40B4-BE49-F238E27FC236}">
                <a16:creationId xmlns:a16="http://schemas.microsoft.com/office/drawing/2014/main" id="{2CF6BD1D-9AC3-B56B-F9DE-B205C0D04035}"/>
              </a:ext>
            </a:extLst>
          </p:cNvPr>
          <p:cNvSpPr/>
          <p:nvPr/>
        </p:nvSpPr>
        <p:spPr>
          <a:xfrm>
            <a:off x="8103960" y="7677526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Model loaded from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MLflow</a:t>
            </a:r>
            <a:endParaRPr lang="en-US" sz="1000" i="1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411" name="Straight Arrow Connector 80">
            <a:extLst>
              <a:ext uri="{FF2B5EF4-FFF2-40B4-BE49-F238E27FC236}">
                <a16:creationId xmlns:a16="http://schemas.microsoft.com/office/drawing/2014/main" id="{3339A364-9A60-76BF-BF92-B4A23912B919}"/>
              </a:ext>
            </a:extLst>
          </p:cNvPr>
          <p:cNvCxnSpPr>
            <a:cxnSpLocks/>
            <a:stCxn id="350" idx="1"/>
            <a:endCxn id="409" idx="3"/>
          </p:cNvCxnSpPr>
          <p:nvPr/>
        </p:nvCxnSpPr>
        <p:spPr>
          <a:xfrm rot="10800000" flipV="1">
            <a:off x="9525001" y="7494675"/>
            <a:ext cx="400097" cy="49773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80">
            <a:extLst>
              <a:ext uri="{FF2B5EF4-FFF2-40B4-BE49-F238E27FC236}">
                <a16:creationId xmlns:a16="http://schemas.microsoft.com/office/drawing/2014/main" id="{90B05225-0474-978D-CC66-6CC0F27543B4}"/>
              </a:ext>
            </a:extLst>
          </p:cNvPr>
          <p:cNvCxnSpPr>
            <a:cxnSpLocks/>
            <a:stCxn id="378" idx="1"/>
            <a:endCxn id="429" idx="4"/>
          </p:cNvCxnSpPr>
          <p:nvPr/>
        </p:nvCxnSpPr>
        <p:spPr>
          <a:xfrm rot="10800000">
            <a:off x="6879192" y="5756449"/>
            <a:ext cx="1224769" cy="129340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Arrow Connector 80">
            <a:extLst>
              <a:ext uri="{FF2B5EF4-FFF2-40B4-BE49-F238E27FC236}">
                <a16:creationId xmlns:a16="http://schemas.microsoft.com/office/drawing/2014/main" id="{3438020D-8BEA-4D6A-D0FC-6A15CD0D7EE3}"/>
              </a:ext>
            </a:extLst>
          </p:cNvPr>
          <p:cNvCxnSpPr>
            <a:cxnSpLocks/>
            <a:stCxn id="409" idx="1"/>
            <a:endCxn id="429" idx="4"/>
          </p:cNvCxnSpPr>
          <p:nvPr/>
        </p:nvCxnSpPr>
        <p:spPr>
          <a:xfrm rot="10800000">
            <a:off x="6879192" y="5756449"/>
            <a:ext cx="1224769" cy="2235964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Cylinder 428">
            <a:extLst>
              <a:ext uri="{FF2B5EF4-FFF2-40B4-BE49-F238E27FC236}">
                <a16:creationId xmlns:a16="http://schemas.microsoft.com/office/drawing/2014/main" id="{298BB56D-46BF-01D9-FFC3-50870347DE1E}"/>
              </a:ext>
            </a:extLst>
          </p:cNvPr>
          <p:cNvSpPr/>
          <p:nvPr/>
        </p:nvSpPr>
        <p:spPr>
          <a:xfrm>
            <a:off x="5799191" y="537879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risk_tier</a:t>
            </a:r>
            <a:endParaRPr lang="en-SG" sz="12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5CF9592D-8058-8E3B-0621-04D020F15DB9}"/>
              </a:ext>
            </a:extLst>
          </p:cNvPr>
          <p:cNvSpPr txBox="1"/>
          <p:nvPr/>
        </p:nvSpPr>
        <p:spPr>
          <a:xfrm>
            <a:off x="5982132" y="5351158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F808C871-CED0-7D53-071E-B806D99237D3}"/>
              </a:ext>
            </a:extLst>
          </p:cNvPr>
          <p:cNvSpPr txBox="1"/>
          <p:nvPr/>
        </p:nvSpPr>
        <p:spPr>
          <a:xfrm>
            <a:off x="7467600" y="7154213"/>
            <a:ext cx="79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scores and output</a:t>
            </a:r>
          </a:p>
        </p:txBody>
      </p:sp>
      <p:pic>
        <p:nvPicPr>
          <p:cNvPr id="444" name="Picture 443" descr="Dashboard Icon PNG Images, Vectors Free Download - Pngtree">
            <a:extLst>
              <a:ext uri="{FF2B5EF4-FFF2-40B4-BE49-F238E27FC236}">
                <a16:creationId xmlns:a16="http://schemas.microsoft.com/office/drawing/2014/main" id="{A0FBEF10-6356-D741-936C-291BFB466E4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47" t="15601" r="7810" b="14900"/>
          <a:stretch>
            <a:fillRect/>
          </a:stretch>
        </p:blipFill>
        <p:spPr>
          <a:xfrm>
            <a:off x="5709413" y="6942670"/>
            <a:ext cx="1235273" cy="1010678"/>
          </a:xfrm>
          <a:prstGeom prst="rect">
            <a:avLst/>
          </a:prstGeom>
        </p:spPr>
      </p:pic>
      <p:cxnSp>
        <p:nvCxnSpPr>
          <p:cNvPr id="447" name="Straight Arrow Connector 80">
            <a:extLst>
              <a:ext uri="{FF2B5EF4-FFF2-40B4-BE49-F238E27FC236}">
                <a16:creationId xmlns:a16="http://schemas.microsoft.com/office/drawing/2014/main" id="{213EEDF5-9B9C-F5E4-2672-08C4A32DCD80}"/>
              </a:ext>
            </a:extLst>
          </p:cNvPr>
          <p:cNvCxnSpPr>
            <a:cxnSpLocks/>
            <a:stCxn id="429" idx="3"/>
            <a:endCxn id="444" idx="0"/>
          </p:cNvCxnSpPr>
          <p:nvPr/>
        </p:nvCxnSpPr>
        <p:spPr>
          <a:xfrm rot="5400000">
            <a:off x="5928836" y="6532315"/>
            <a:ext cx="808570" cy="12141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Rectangle 452">
            <a:extLst>
              <a:ext uri="{FF2B5EF4-FFF2-40B4-BE49-F238E27FC236}">
                <a16:creationId xmlns:a16="http://schemas.microsoft.com/office/drawing/2014/main" id="{BE37A0F4-7511-B810-1136-0C139D82B467}"/>
              </a:ext>
            </a:extLst>
          </p:cNvPr>
          <p:cNvSpPr/>
          <p:nvPr/>
        </p:nvSpPr>
        <p:spPr>
          <a:xfrm>
            <a:off x="6052763" y="6290491"/>
            <a:ext cx="540000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API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pic>
        <p:nvPicPr>
          <p:cNvPr id="454" name="Picture 453" descr="Sign Up for Banking Account Alerts | Community First Credit Union">
            <a:extLst>
              <a:ext uri="{FF2B5EF4-FFF2-40B4-BE49-F238E27FC236}">
                <a16:creationId xmlns:a16="http://schemas.microsoft.com/office/drawing/2014/main" id="{F102C61D-A17A-49FB-DB33-8A96464FAD28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1261" t="10517" r="24760" b="12979"/>
          <a:stretch>
            <a:fillRect/>
          </a:stretch>
        </p:blipFill>
        <p:spPr>
          <a:xfrm>
            <a:off x="3440616" y="7031059"/>
            <a:ext cx="841457" cy="795055"/>
          </a:xfrm>
          <a:prstGeom prst="rect">
            <a:avLst/>
          </a:prstGeom>
        </p:spPr>
      </p:pic>
      <p:sp>
        <p:nvSpPr>
          <p:cNvPr id="455" name="TextBox 454">
            <a:extLst>
              <a:ext uri="{FF2B5EF4-FFF2-40B4-BE49-F238E27FC236}">
                <a16:creationId xmlns:a16="http://schemas.microsoft.com/office/drawing/2014/main" id="{D180F6B8-D271-65A3-B251-1D4625265DC3}"/>
              </a:ext>
            </a:extLst>
          </p:cNvPr>
          <p:cNvSpPr txBox="1"/>
          <p:nvPr/>
        </p:nvSpPr>
        <p:spPr>
          <a:xfrm>
            <a:off x="5801359" y="7968213"/>
            <a:ext cx="1091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Dashboard</a:t>
            </a:r>
          </a:p>
        </p:txBody>
      </p:sp>
      <p:sp>
        <p:nvSpPr>
          <p:cNvPr id="456" name="Rounded Rectangle 45">
            <a:extLst>
              <a:ext uri="{FF2B5EF4-FFF2-40B4-BE49-F238E27FC236}">
                <a16:creationId xmlns:a16="http://schemas.microsoft.com/office/drawing/2014/main" id="{AEB9D9E8-E361-1215-AEC9-5F463FF4767F}"/>
              </a:ext>
            </a:extLst>
          </p:cNvPr>
          <p:cNvSpPr/>
          <p:nvPr/>
        </p:nvSpPr>
        <p:spPr>
          <a:xfrm>
            <a:off x="9906000" y="9059213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Model loaded at start-up and stored in memory.</a:t>
            </a:r>
            <a:endParaRPr lang="en-US" sz="1000" i="1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459" name="Connector: Elbow 458">
            <a:extLst>
              <a:ext uri="{FF2B5EF4-FFF2-40B4-BE49-F238E27FC236}">
                <a16:creationId xmlns:a16="http://schemas.microsoft.com/office/drawing/2014/main" id="{E6A440EC-22D7-926A-14DD-932BD437E7E7}"/>
              </a:ext>
            </a:extLst>
          </p:cNvPr>
          <p:cNvCxnSpPr>
            <a:cxnSpLocks/>
            <a:stCxn id="456" idx="3"/>
            <a:endCxn id="462" idx="2"/>
          </p:cNvCxnSpPr>
          <p:nvPr/>
        </p:nvCxnSpPr>
        <p:spPr>
          <a:xfrm flipV="1">
            <a:off x="11327040" y="7710582"/>
            <a:ext cx="4991692" cy="1663518"/>
          </a:xfrm>
          <a:prstGeom prst="bentConnector2">
            <a:avLst/>
          </a:prstGeom>
          <a:ln>
            <a:solidFill>
              <a:srgbClr val="1C3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Rounded Rectangle 45">
            <a:extLst>
              <a:ext uri="{FF2B5EF4-FFF2-40B4-BE49-F238E27FC236}">
                <a16:creationId xmlns:a16="http://schemas.microsoft.com/office/drawing/2014/main" id="{31726C51-2EB4-32FF-BA1D-A5A993B8C23E}"/>
              </a:ext>
            </a:extLst>
          </p:cNvPr>
          <p:cNvSpPr/>
          <p:nvPr/>
        </p:nvSpPr>
        <p:spPr>
          <a:xfrm>
            <a:off x="8096377" y="9059213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Reads both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subzone_features</a:t>
            </a:r>
            <a:endParaRPr lang="en-US" sz="1000" b="1" dirty="0">
              <a:solidFill>
                <a:srgbClr val="1B4332"/>
              </a:solidFill>
              <a:latin typeface="Nunito" pitchFamily="2" charset="0"/>
            </a:endParaRPr>
          </a:p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and REDIS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5A8AF561-8016-0F6F-0715-389CD323D4DD}"/>
              </a:ext>
            </a:extLst>
          </p:cNvPr>
          <p:cNvSpPr txBox="1"/>
          <p:nvPr/>
        </p:nvSpPr>
        <p:spPr>
          <a:xfrm>
            <a:off x="3324859" y="7838301"/>
            <a:ext cx="1091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Mobile Alert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CE707830-90E0-9C06-4A0B-EA038FBD9694}"/>
              </a:ext>
            </a:extLst>
          </p:cNvPr>
          <p:cNvSpPr txBox="1"/>
          <p:nvPr/>
        </p:nvSpPr>
        <p:spPr>
          <a:xfrm>
            <a:off x="49079" y="4612889"/>
            <a:ext cx="1551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Operational Data</a:t>
            </a:r>
          </a:p>
        </p:txBody>
      </p:sp>
      <p:sp>
        <p:nvSpPr>
          <p:cNvPr id="503" name="Cylinder 502">
            <a:extLst>
              <a:ext uri="{FF2B5EF4-FFF2-40B4-BE49-F238E27FC236}">
                <a16:creationId xmlns:a16="http://schemas.microsoft.com/office/drawing/2014/main" id="{F9B47F93-E520-B0F2-9EFE-39A1CD07A42A}"/>
              </a:ext>
            </a:extLst>
          </p:cNvPr>
          <p:cNvSpPr/>
          <p:nvPr/>
        </p:nvSpPr>
        <p:spPr>
          <a:xfrm>
            <a:off x="990600" y="537100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confirmed</a:t>
            </a:r>
          </a:p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cases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E8138ECD-9069-A351-D880-C707A40FDEFD}"/>
              </a:ext>
            </a:extLst>
          </p:cNvPr>
          <p:cNvSpPr txBox="1"/>
          <p:nvPr/>
        </p:nvSpPr>
        <p:spPr>
          <a:xfrm>
            <a:off x="1175080" y="5352656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05" name="Cylinder 504">
            <a:extLst>
              <a:ext uri="{FF2B5EF4-FFF2-40B4-BE49-F238E27FC236}">
                <a16:creationId xmlns:a16="http://schemas.microsoft.com/office/drawing/2014/main" id="{87E991AE-06A3-856E-5BF2-1080557EC559}"/>
              </a:ext>
            </a:extLst>
          </p:cNvPr>
          <p:cNvSpPr/>
          <p:nvPr/>
        </p:nvSpPr>
        <p:spPr>
          <a:xfrm>
            <a:off x="3352800" y="533829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vulnerability</a:t>
            </a:r>
          </a:p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alerts</a:t>
            </a: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1924B868-FAE6-01F5-DEEE-E60425743663}"/>
              </a:ext>
            </a:extLst>
          </p:cNvPr>
          <p:cNvSpPr txBox="1"/>
          <p:nvPr/>
        </p:nvSpPr>
        <p:spPr>
          <a:xfrm>
            <a:off x="3536773" y="5325818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75B98CC8-EA66-71AA-0A03-5C781007B30E}"/>
              </a:ext>
            </a:extLst>
          </p:cNvPr>
          <p:cNvSpPr txBox="1"/>
          <p:nvPr/>
        </p:nvSpPr>
        <p:spPr>
          <a:xfrm>
            <a:off x="-43911" y="7523704"/>
            <a:ext cx="103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Submission from Hospitals</a:t>
            </a:r>
          </a:p>
        </p:txBody>
      </p:sp>
      <p:sp>
        <p:nvSpPr>
          <p:cNvPr id="509" name="Flowchart: Document 508">
            <a:extLst>
              <a:ext uri="{FF2B5EF4-FFF2-40B4-BE49-F238E27FC236}">
                <a16:creationId xmlns:a16="http://schemas.microsoft.com/office/drawing/2014/main" id="{108C11F5-27FC-B14C-F695-829136A9860E}"/>
              </a:ext>
            </a:extLst>
          </p:cNvPr>
          <p:cNvSpPr/>
          <p:nvPr/>
        </p:nvSpPr>
        <p:spPr>
          <a:xfrm>
            <a:off x="55665" y="6845547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confirmed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cases</a:t>
            </a:r>
          </a:p>
        </p:txBody>
      </p:sp>
      <p:cxnSp>
        <p:nvCxnSpPr>
          <p:cNvPr id="510" name="Straight Arrow Connector 80">
            <a:extLst>
              <a:ext uri="{FF2B5EF4-FFF2-40B4-BE49-F238E27FC236}">
                <a16:creationId xmlns:a16="http://schemas.microsoft.com/office/drawing/2014/main" id="{777D77C2-48CA-4B2D-7121-C369759A5039}"/>
              </a:ext>
            </a:extLst>
          </p:cNvPr>
          <p:cNvCxnSpPr>
            <a:cxnSpLocks/>
            <a:stCxn id="509" idx="0"/>
            <a:endCxn id="503" idx="2"/>
          </p:cNvCxnSpPr>
          <p:nvPr/>
        </p:nvCxnSpPr>
        <p:spPr>
          <a:xfrm rot="5400000" flipH="1" flipV="1">
            <a:off x="185774" y="6040722"/>
            <a:ext cx="1096895" cy="512757"/>
          </a:xfrm>
          <a:prstGeom prst="bentConnector2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" name="Rectangle 512">
            <a:extLst>
              <a:ext uri="{FF2B5EF4-FFF2-40B4-BE49-F238E27FC236}">
                <a16:creationId xmlns:a16="http://schemas.microsoft.com/office/drawing/2014/main" id="{B031A80F-DB77-907E-1E30-1A51847E683F}"/>
              </a:ext>
            </a:extLst>
          </p:cNvPr>
          <p:cNvSpPr/>
          <p:nvPr/>
        </p:nvSpPr>
        <p:spPr>
          <a:xfrm>
            <a:off x="252709" y="6273155"/>
            <a:ext cx="540000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API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cxnSp>
        <p:nvCxnSpPr>
          <p:cNvPr id="515" name="Straight Arrow Connector 80">
            <a:extLst>
              <a:ext uri="{FF2B5EF4-FFF2-40B4-BE49-F238E27FC236}">
                <a16:creationId xmlns:a16="http://schemas.microsoft.com/office/drawing/2014/main" id="{DD19A4B2-F338-203B-A29E-57D6C218CC5C}"/>
              </a:ext>
            </a:extLst>
          </p:cNvPr>
          <p:cNvCxnSpPr>
            <a:cxnSpLocks/>
            <a:stCxn id="504" idx="0"/>
            <a:endCxn id="528" idx="1"/>
          </p:cNvCxnSpPr>
          <p:nvPr/>
        </p:nvCxnSpPr>
        <p:spPr>
          <a:xfrm rot="16200000" flipH="1">
            <a:off x="5260153" y="1623609"/>
            <a:ext cx="364643" cy="7822737"/>
          </a:xfrm>
          <a:prstGeom prst="bentConnector4">
            <a:avLst>
              <a:gd name="adj1" fmla="val -141055"/>
              <a:gd name="adj2" fmla="val 79672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3" name="TextBox 522">
            <a:extLst>
              <a:ext uri="{FF2B5EF4-FFF2-40B4-BE49-F238E27FC236}">
                <a16:creationId xmlns:a16="http://schemas.microsoft.com/office/drawing/2014/main" id="{556AF0E6-2CA1-41FF-E699-68D92A204FF8}"/>
              </a:ext>
            </a:extLst>
          </p:cNvPr>
          <p:cNvSpPr txBox="1"/>
          <p:nvPr/>
        </p:nvSpPr>
        <p:spPr>
          <a:xfrm>
            <a:off x="2731469" y="4727916"/>
            <a:ext cx="4531795" cy="246221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000" b="1">
                <a:solidFill>
                  <a:srgbClr val="6B7A7A"/>
                </a:solidFill>
                <a:latin typeface="Nunito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 err="1"/>
              <a:t>FastAPI</a:t>
            </a:r>
            <a:r>
              <a:rPr lang="en-US" dirty="0"/>
              <a:t> updates Redis</a:t>
            </a:r>
            <a:r>
              <a:rPr lang="en-US" b="0" dirty="0"/>
              <a:t>: </a:t>
            </a:r>
            <a:r>
              <a:rPr lang="en-US" b="0" dirty="0" err="1"/>
              <a:t>current_week_case_count</a:t>
            </a:r>
            <a:r>
              <a:rPr lang="en-US" b="0" dirty="0"/>
              <a:t> + 1 for that subzone</a:t>
            </a:r>
            <a:endParaRPr lang="en-SG" b="0" dirty="0"/>
          </a:p>
        </p:txBody>
      </p:sp>
      <p:cxnSp>
        <p:nvCxnSpPr>
          <p:cNvPr id="534" name="Straight Arrow Connector 80">
            <a:extLst>
              <a:ext uri="{FF2B5EF4-FFF2-40B4-BE49-F238E27FC236}">
                <a16:creationId xmlns:a16="http://schemas.microsoft.com/office/drawing/2014/main" id="{4537FBEA-2540-DD50-C8A7-6D28C81F2E2D}"/>
              </a:ext>
            </a:extLst>
          </p:cNvPr>
          <p:cNvCxnSpPr>
            <a:cxnSpLocks/>
            <a:stCxn id="505" idx="3"/>
            <a:endCxn id="454" idx="0"/>
          </p:cNvCxnSpPr>
          <p:nvPr/>
        </p:nvCxnSpPr>
        <p:spPr>
          <a:xfrm rot="5400000">
            <a:off x="3408344" y="6546602"/>
            <a:ext cx="937459" cy="31455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5" name="Rectangle 534">
            <a:extLst>
              <a:ext uri="{FF2B5EF4-FFF2-40B4-BE49-F238E27FC236}">
                <a16:creationId xmlns:a16="http://schemas.microsoft.com/office/drawing/2014/main" id="{3EA163AF-4A81-0557-0DF5-FD072695160C}"/>
              </a:ext>
            </a:extLst>
          </p:cNvPr>
          <p:cNvSpPr/>
          <p:nvPr/>
        </p:nvSpPr>
        <p:spPr>
          <a:xfrm>
            <a:off x="3416563" y="6328590"/>
            <a:ext cx="869675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AWS SNS Push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cxnSp>
        <p:nvCxnSpPr>
          <p:cNvPr id="552" name="Straight Arrow Connector 80">
            <a:extLst>
              <a:ext uri="{FF2B5EF4-FFF2-40B4-BE49-F238E27FC236}">
                <a16:creationId xmlns:a16="http://schemas.microsoft.com/office/drawing/2014/main" id="{4839CE13-A2FB-DC36-79FE-ECFEC749476E}"/>
              </a:ext>
            </a:extLst>
          </p:cNvPr>
          <p:cNvCxnSpPr>
            <a:cxnSpLocks/>
            <a:stCxn id="456" idx="1"/>
            <a:endCxn id="471" idx="3"/>
          </p:cNvCxnSpPr>
          <p:nvPr/>
        </p:nvCxnSpPr>
        <p:spPr>
          <a:xfrm flipH="1">
            <a:off x="9517417" y="9374100"/>
            <a:ext cx="388583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Arrow Connector 80">
            <a:extLst>
              <a:ext uri="{FF2B5EF4-FFF2-40B4-BE49-F238E27FC236}">
                <a16:creationId xmlns:a16="http://schemas.microsoft.com/office/drawing/2014/main" id="{651B3306-5C74-E431-464F-2C4BFB2A64C6}"/>
              </a:ext>
            </a:extLst>
          </p:cNvPr>
          <p:cNvCxnSpPr>
            <a:cxnSpLocks/>
            <a:stCxn id="471" idx="1"/>
            <a:endCxn id="505" idx="4"/>
          </p:cNvCxnSpPr>
          <p:nvPr/>
        </p:nvCxnSpPr>
        <p:spPr>
          <a:xfrm rot="10800000">
            <a:off x="4432801" y="5715950"/>
            <a:ext cx="3663577" cy="3658151"/>
          </a:xfrm>
          <a:prstGeom prst="bentConnector3">
            <a:avLst>
              <a:gd name="adj1" fmla="val 80852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TextBox 566">
            <a:extLst>
              <a:ext uri="{FF2B5EF4-FFF2-40B4-BE49-F238E27FC236}">
                <a16:creationId xmlns:a16="http://schemas.microsoft.com/office/drawing/2014/main" id="{604648A2-50AE-752B-D166-0D6B76F0A1CA}"/>
              </a:ext>
            </a:extLst>
          </p:cNvPr>
          <p:cNvSpPr txBox="1"/>
          <p:nvPr/>
        </p:nvSpPr>
        <p:spPr>
          <a:xfrm>
            <a:off x="5078476" y="8991600"/>
            <a:ext cx="258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model scores subzone</a:t>
            </a:r>
          </a:p>
          <a:p>
            <a:r>
              <a:rPr lang="en-US" sz="1200" dirty="0">
                <a:solidFill>
                  <a:srgbClr val="1C334E"/>
                </a:solidFill>
                <a:latin typeface="Nunito" pitchFamily="2" charset="0"/>
              </a:rPr>
              <a:t>Pushed only if score &gt; threshold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</a:t>
            </a:r>
          </a:p>
        </p:txBody>
      </p:sp>
      <p:cxnSp>
        <p:nvCxnSpPr>
          <p:cNvPr id="530" name="Straight Arrow Connector 80">
            <a:extLst>
              <a:ext uri="{FF2B5EF4-FFF2-40B4-BE49-F238E27FC236}">
                <a16:creationId xmlns:a16="http://schemas.microsoft.com/office/drawing/2014/main" id="{3F620C0F-7057-6179-785C-97A95A305EEF}"/>
              </a:ext>
            </a:extLst>
          </p:cNvPr>
          <p:cNvCxnSpPr>
            <a:cxnSpLocks/>
            <a:stCxn id="541" idx="3"/>
            <a:endCxn id="573" idx="0"/>
          </p:cNvCxnSpPr>
          <p:nvPr/>
        </p:nvCxnSpPr>
        <p:spPr>
          <a:xfrm flipH="1">
            <a:off x="9317172" y="3600821"/>
            <a:ext cx="1432280" cy="5471786"/>
          </a:xfrm>
          <a:prstGeom prst="bentConnector4">
            <a:avLst>
              <a:gd name="adj1" fmla="val -39015"/>
              <a:gd name="adj2" fmla="val 94921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Arrow Connector 80">
            <a:extLst>
              <a:ext uri="{FF2B5EF4-FFF2-40B4-BE49-F238E27FC236}">
                <a16:creationId xmlns:a16="http://schemas.microsoft.com/office/drawing/2014/main" id="{8B55B61F-2B4B-039B-B22E-E1F6E46A416D}"/>
              </a:ext>
            </a:extLst>
          </p:cNvPr>
          <p:cNvCxnSpPr>
            <a:cxnSpLocks/>
            <a:stCxn id="256" idx="4"/>
            <a:endCxn id="572" idx="0"/>
          </p:cNvCxnSpPr>
          <p:nvPr/>
        </p:nvCxnSpPr>
        <p:spPr>
          <a:xfrm flipH="1">
            <a:off x="9054000" y="5419417"/>
            <a:ext cx="1695452" cy="3651703"/>
          </a:xfrm>
          <a:prstGeom prst="bentConnector4">
            <a:avLst>
              <a:gd name="adj1" fmla="val -24157"/>
              <a:gd name="adj2" fmla="val 88124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ounded Rectangle 45">
            <a:extLst>
              <a:ext uri="{FF2B5EF4-FFF2-40B4-BE49-F238E27FC236}">
                <a16:creationId xmlns:a16="http://schemas.microsoft.com/office/drawing/2014/main" id="{0EC689AC-CA0B-39D0-D4C9-90FE8C80DFFD}"/>
              </a:ext>
            </a:extLst>
          </p:cNvPr>
          <p:cNvSpPr/>
          <p:nvPr/>
        </p:nvSpPr>
        <p:spPr>
          <a:xfrm>
            <a:off x="9925097" y="7179789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Airflow trigger</a:t>
            </a: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Mon 06:00 SGT</a:t>
            </a:r>
          </a:p>
        </p:txBody>
      </p:sp>
      <p:sp>
        <p:nvSpPr>
          <p:cNvPr id="601" name="Rounded Rectangle 45">
            <a:extLst>
              <a:ext uri="{FF2B5EF4-FFF2-40B4-BE49-F238E27FC236}">
                <a16:creationId xmlns:a16="http://schemas.microsoft.com/office/drawing/2014/main" id="{6D7BEE03-C746-0810-1630-E8B6753A5548}"/>
              </a:ext>
            </a:extLst>
          </p:cNvPr>
          <p:cNvSpPr/>
          <p:nvPr/>
        </p:nvSpPr>
        <p:spPr>
          <a:xfrm>
            <a:off x="65748" y="8982441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Airflow trigger</a:t>
            </a: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Wed 06:00 SGT</a:t>
            </a:r>
          </a:p>
        </p:txBody>
      </p:sp>
      <p:cxnSp>
        <p:nvCxnSpPr>
          <p:cNvPr id="602" name="Straight Arrow Connector 80">
            <a:extLst>
              <a:ext uri="{FF2B5EF4-FFF2-40B4-BE49-F238E27FC236}">
                <a16:creationId xmlns:a16="http://schemas.microsoft.com/office/drawing/2014/main" id="{6ADCAD15-0C04-7E98-15CE-06091254038F}"/>
              </a:ext>
            </a:extLst>
          </p:cNvPr>
          <p:cNvCxnSpPr>
            <a:cxnSpLocks/>
            <a:stCxn id="601" idx="3"/>
            <a:endCxn id="600" idx="1"/>
          </p:cNvCxnSpPr>
          <p:nvPr/>
        </p:nvCxnSpPr>
        <p:spPr>
          <a:xfrm>
            <a:off x="1486788" y="9297328"/>
            <a:ext cx="512617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Arrow Connector 80">
            <a:extLst>
              <a:ext uri="{FF2B5EF4-FFF2-40B4-BE49-F238E27FC236}">
                <a16:creationId xmlns:a16="http://schemas.microsoft.com/office/drawing/2014/main" id="{495FA6EC-1C0D-F5FB-B5E6-7F435954B5B6}"/>
              </a:ext>
            </a:extLst>
          </p:cNvPr>
          <p:cNvCxnSpPr>
            <a:cxnSpLocks/>
            <a:stCxn id="610" idx="3"/>
            <a:endCxn id="280" idx="0"/>
          </p:cNvCxnSpPr>
          <p:nvPr/>
        </p:nvCxnSpPr>
        <p:spPr>
          <a:xfrm flipV="1">
            <a:off x="4218600" y="324738"/>
            <a:ext cx="8699179" cy="9757962"/>
          </a:xfrm>
          <a:prstGeom prst="bentConnector4">
            <a:avLst>
              <a:gd name="adj1" fmla="val 148771"/>
              <a:gd name="adj2" fmla="val 102343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0" name="Rectangle: Folded Corner 599">
            <a:extLst>
              <a:ext uri="{FF2B5EF4-FFF2-40B4-BE49-F238E27FC236}">
                <a16:creationId xmlns:a16="http://schemas.microsoft.com/office/drawing/2014/main" id="{06E9D268-7360-3B30-1F7D-B2002F168098}"/>
              </a:ext>
            </a:extLst>
          </p:cNvPr>
          <p:cNvSpPr/>
          <p:nvPr/>
        </p:nvSpPr>
        <p:spPr>
          <a:xfrm>
            <a:off x="1999405" y="8345755"/>
            <a:ext cx="2664000" cy="1903145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monitor.py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Compares recent predictions against confirmed 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Logs PSI/CSI metrics to </a:t>
            </a:r>
            <a:r>
              <a:rPr lang="en-US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Raises a drift alarm if thresholds breached</a:t>
            </a:r>
            <a:endParaRPr lang="en-SG" sz="16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303" name="Rectangle: Single Corner Rounded 302">
            <a:extLst>
              <a:ext uri="{FF2B5EF4-FFF2-40B4-BE49-F238E27FC236}">
                <a16:creationId xmlns:a16="http://schemas.microsoft.com/office/drawing/2014/main" id="{C032493F-CBE9-3CEF-595E-743264F394EF}"/>
              </a:ext>
            </a:extLst>
          </p:cNvPr>
          <p:cNvSpPr/>
          <p:nvPr/>
        </p:nvSpPr>
        <p:spPr>
          <a:xfrm>
            <a:off x="15519566" y="6901543"/>
            <a:ext cx="914400" cy="814481"/>
          </a:xfrm>
          <a:prstGeom prst="round1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model_v3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82775F80-A651-84F7-A37F-E5A7139F8719}"/>
              </a:ext>
            </a:extLst>
          </p:cNvPr>
          <p:cNvSpPr txBox="1"/>
          <p:nvPr/>
        </p:nvSpPr>
        <p:spPr>
          <a:xfrm>
            <a:off x="15554036" y="7433583"/>
            <a:ext cx="845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Active</a:t>
            </a:r>
          </a:p>
        </p:txBody>
      </p:sp>
    </p:spTree>
    <p:extLst>
      <p:ext uri="{BB962C8B-B14F-4D97-AF65-F5344CB8AC3E}">
        <p14:creationId xmlns:p14="http://schemas.microsoft.com/office/powerpoint/2010/main" val="2557165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" grpId="0" animBg="1"/>
      <p:bldP spid="462" grpId="0" animBg="1"/>
      <p:bldP spid="464" grpId="0" animBg="1"/>
      <p:bldP spid="526" grpId="0" animBg="1"/>
      <p:bldP spid="528" grpId="0" animBg="1"/>
      <p:bldP spid="540" grpId="0" animBg="1"/>
      <p:bldP spid="541" grpId="0" animBg="1"/>
      <p:bldP spid="572" grpId="0" animBg="1"/>
      <p:bldP spid="573" grpId="0" animBg="1"/>
      <p:bldP spid="493" grpId="0" animBg="1"/>
      <p:bldP spid="489" grpId="0" animBg="1"/>
      <p:bldP spid="22" grpId="0"/>
      <p:bldP spid="33" grpId="0" animBg="1"/>
      <p:bldP spid="9" grpId="0" animBg="1"/>
      <p:bldP spid="10" grpId="0" animBg="1"/>
      <p:bldP spid="11" grpId="0" animBg="1"/>
      <p:bldP spid="18" grpId="0" animBg="1"/>
      <p:bldP spid="24" grpId="0" animBg="1"/>
      <p:bldP spid="26" grpId="0" animBg="1"/>
      <p:bldP spid="31" grpId="0" animBg="1"/>
      <p:bldP spid="3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70" grpId="0" animBg="1"/>
      <p:bldP spid="73" grpId="0" animBg="1"/>
      <p:bldP spid="120" grpId="0" animBg="1"/>
      <p:bldP spid="241" grpId="0"/>
      <p:bldP spid="243" grpId="0" animBg="1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 animBg="1"/>
      <p:bldP spid="257" grpId="0"/>
      <p:bldP spid="127" grpId="0" animBg="1"/>
      <p:bldP spid="263" grpId="0"/>
      <p:bldP spid="265" grpId="0"/>
      <p:bldP spid="266" grpId="0"/>
      <p:bldP spid="269" grpId="0" animBg="1"/>
      <p:bldP spid="296" grpId="0" animBg="1"/>
      <p:bldP spid="297" grpId="0" animBg="1"/>
      <p:bldP spid="322" grpId="0"/>
      <p:bldP spid="323" grpId="0"/>
      <p:bldP spid="324" grpId="0"/>
      <p:bldP spid="328" grpId="0" animBg="1"/>
      <p:bldP spid="330" grpId="0" animBg="1"/>
      <p:bldP spid="332" grpId="0" animBg="1"/>
      <p:bldP spid="334" grpId="0" animBg="1"/>
      <p:bldP spid="336" grpId="0" animBg="1"/>
      <p:bldP spid="280" grpId="0" animBg="1"/>
      <p:bldP spid="290" grpId="0" animBg="1"/>
      <p:bldP spid="298" grpId="0" animBg="1"/>
      <p:bldP spid="340" grpId="0"/>
      <p:bldP spid="378" grpId="0" animBg="1"/>
      <p:bldP spid="409" grpId="0" animBg="1"/>
      <p:bldP spid="429" grpId="0" animBg="1"/>
      <p:bldP spid="430" grpId="0"/>
      <p:bldP spid="433" grpId="0"/>
      <p:bldP spid="453" grpId="0" animBg="1"/>
      <p:bldP spid="455" grpId="0"/>
      <p:bldP spid="456" grpId="0" animBg="1"/>
      <p:bldP spid="471" grpId="0" animBg="1"/>
      <p:bldP spid="483" grpId="0"/>
      <p:bldP spid="494" grpId="0"/>
      <p:bldP spid="503" grpId="0" animBg="1"/>
      <p:bldP spid="504" grpId="0"/>
      <p:bldP spid="505" grpId="0" animBg="1"/>
      <p:bldP spid="506" grpId="0"/>
      <p:bldP spid="508" grpId="0"/>
      <p:bldP spid="509" grpId="0" animBg="1"/>
      <p:bldP spid="513" grpId="0" animBg="1"/>
      <p:bldP spid="523" grpId="0" animBg="1"/>
      <p:bldP spid="535" grpId="0" animBg="1"/>
      <p:bldP spid="567" grpId="0"/>
      <p:bldP spid="350" grpId="0" animBg="1"/>
      <p:bldP spid="601" grpId="0" animBg="1"/>
      <p:bldP spid="600" grpId="0" animBg="1"/>
      <p:bldP spid="303" grpId="0" animBg="1"/>
      <p:bldP spid="33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52102F-70A3-7BF2-3D4D-1095F304C6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Rectangle 609">
            <a:extLst>
              <a:ext uri="{FF2B5EF4-FFF2-40B4-BE49-F238E27FC236}">
                <a16:creationId xmlns:a16="http://schemas.microsoft.com/office/drawing/2014/main" id="{A41CD6C6-4182-56EA-4FE8-7016492F41AC}"/>
              </a:ext>
            </a:extLst>
          </p:cNvPr>
          <p:cNvSpPr/>
          <p:nvPr/>
        </p:nvSpPr>
        <p:spPr>
          <a:xfrm>
            <a:off x="4038600" y="999270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5079C8B9-4CF9-6133-8073-85E88AC7EF7D}"/>
              </a:ext>
            </a:extLst>
          </p:cNvPr>
          <p:cNvSpPr/>
          <p:nvPr/>
        </p:nvSpPr>
        <p:spPr>
          <a:xfrm>
            <a:off x="16228732" y="7530582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19CED987-064C-D7D9-BCAE-4FF16D1B7EAA}"/>
              </a:ext>
            </a:extLst>
          </p:cNvPr>
          <p:cNvSpPr/>
          <p:nvPr/>
        </p:nvSpPr>
        <p:spPr>
          <a:xfrm>
            <a:off x="15555300" y="751344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B2A38B98-C787-3388-AB96-E692747DC82A}"/>
              </a:ext>
            </a:extLst>
          </p:cNvPr>
          <p:cNvSpPr/>
          <p:nvPr/>
        </p:nvSpPr>
        <p:spPr>
          <a:xfrm>
            <a:off x="9353844" y="5153016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D570FD57-E6A7-15FF-A702-EC923EAC73A4}"/>
              </a:ext>
            </a:extLst>
          </p:cNvPr>
          <p:cNvSpPr/>
          <p:nvPr/>
        </p:nvSpPr>
        <p:spPr>
          <a:xfrm>
            <a:off x="9353844" y="5627299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5FEC6780-1015-4328-2C27-B081A3D3E65D}"/>
              </a:ext>
            </a:extLst>
          </p:cNvPr>
          <p:cNvSpPr/>
          <p:nvPr/>
        </p:nvSpPr>
        <p:spPr>
          <a:xfrm>
            <a:off x="10569452" y="3095168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00DC925A-56C2-6969-67F7-4D90C544F143}"/>
              </a:ext>
            </a:extLst>
          </p:cNvPr>
          <p:cNvSpPr/>
          <p:nvPr/>
        </p:nvSpPr>
        <p:spPr>
          <a:xfrm>
            <a:off x="10569452" y="3510821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AC2A78B4-14FD-3396-FBD6-5C05D66968A8}"/>
              </a:ext>
            </a:extLst>
          </p:cNvPr>
          <p:cNvSpPr/>
          <p:nvPr/>
        </p:nvSpPr>
        <p:spPr>
          <a:xfrm>
            <a:off x="8964000" y="907112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4C48967F-6C7F-8732-C616-93C86B19F8CF}"/>
              </a:ext>
            </a:extLst>
          </p:cNvPr>
          <p:cNvSpPr/>
          <p:nvPr/>
        </p:nvSpPr>
        <p:spPr>
          <a:xfrm>
            <a:off x="9227172" y="907260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EB9D2EC1-590F-37B8-2336-F5B9EC42F4B1}"/>
              </a:ext>
            </a:extLst>
          </p:cNvPr>
          <p:cNvSpPr/>
          <p:nvPr/>
        </p:nvSpPr>
        <p:spPr>
          <a:xfrm>
            <a:off x="46698" y="4611955"/>
            <a:ext cx="11002302" cy="190314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E719B42C-6815-02CC-251D-3C7872BA045C}"/>
              </a:ext>
            </a:extLst>
          </p:cNvPr>
          <p:cNvSpPr/>
          <p:nvPr/>
        </p:nvSpPr>
        <p:spPr>
          <a:xfrm>
            <a:off x="46698" y="45536"/>
            <a:ext cx="11002302" cy="448751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3889402-DA1D-D7CD-3F6D-F3EFA057266B}"/>
              </a:ext>
            </a:extLst>
          </p:cNvPr>
          <p:cNvSpPr txBox="1"/>
          <p:nvPr/>
        </p:nvSpPr>
        <p:spPr>
          <a:xfrm>
            <a:off x="49079" y="47738"/>
            <a:ext cx="1393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Historical Data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F7578D60-D98D-4610-6AEE-20CB4D29DF7F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C62D4F45-30FD-E6D6-161E-1A73C126CCF5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>
                <a:latin typeface="Nunito" pitchFamily="2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D6BFE708-3AE2-B313-A6BA-EE9AA52EAEF9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>
                <a:latin typeface="Nunito" pitchFamily="2" charset="0"/>
              </a:endParaRPr>
            </a:p>
          </p:txBody>
        </p:sp>
      </p:grp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EC43529-FFAF-F488-EFF4-84C11202F2E3}"/>
              </a:ext>
            </a:extLst>
          </p:cNvPr>
          <p:cNvSpPr/>
          <p:nvPr/>
        </p:nvSpPr>
        <p:spPr>
          <a:xfrm>
            <a:off x="15773400" y="-1276354"/>
            <a:ext cx="6287026" cy="640080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Nunito" pitchFamily="2" charset="0"/>
              </a:rPr>
              <a:t>DEPLOY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662B8D52-9A10-BDDB-3423-4F641D5FDC34}"/>
              </a:ext>
            </a:extLst>
          </p:cNvPr>
          <p:cNvSpPr/>
          <p:nvPr/>
        </p:nvSpPr>
        <p:spPr>
          <a:xfrm>
            <a:off x="-7374" y="11239500"/>
            <a:ext cx="4057100" cy="640080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b="1" dirty="0">
                <a:solidFill>
                  <a:srgbClr val="FFFFFF"/>
                </a:solidFill>
                <a:latin typeface="Nunito" pitchFamily="2" charset="0"/>
              </a:rPr>
              <a:t>MONITOR &amp; RETRAIN</a:t>
            </a:r>
          </a:p>
        </p:txBody>
      </p:sp>
      <p:sp>
        <p:nvSpPr>
          <p:cNvPr id="128" name="Flowchart: Document 127">
            <a:extLst>
              <a:ext uri="{FF2B5EF4-FFF2-40B4-BE49-F238E27FC236}">
                <a16:creationId xmlns:a16="http://schemas.microsoft.com/office/drawing/2014/main" id="{48221550-9EC6-2D55-BBB7-66C6362487CC}"/>
              </a:ext>
            </a:extLst>
          </p:cNvPr>
          <p:cNvSpPr/>
          <p:nvPr/>
        </p:nvSpPr>
        <p:spPr>
          <a:xfrm>
            <a:off x="-5330651" y="4241407"/>
            <a:ext cx="401527" cy="360473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csv1</a:t>
            </a:r>
          </a:p>
        </p:txBody>
      </p:sp>
      <p:sp>
        <p:nvSpPr>
          <p:cNvPr id="129" name="Flowchart: Document 128">
            <a:extLst>
              <a:ext uri="{FF2B5EF4-FFF2-40B4-BE49-F238E27FC236}">
                <a16:creationId xmlns:a16="http://schemas.microsoft.com/office/drawing/2014/main" id="{4EB58DA1-B166-539D-3092-12D89F2EDBDB}"/>
              </a:ext>
            </a:extLst>
          </p:cNvPr>
          <p:cNvSpPr/>
          <p:nvPr/>
        </p:nvSpPr>
        <p:spPr>
          <a:xfrm>
            <a:off x="-4469907" y="4241407"/>
            <a:ext cx="401527" cy="360473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csv1</a:t>
            </a:r>
          </a:p>
        </p:txBody>
      </p:sp>
      <p:sp>
        <p:nvSpPr>
          <p:cNvPr id="130" name="Flowchart: Document 129">
            <a:extLst>
              <a:ext uri="{FF2B5EF4-FFF2-40B4-BE49-F238E27FC236}">
                <a16:creationId xmlns:a16="http://schemas.microsoft.com/office/drawing/2014/main" id="{7C72FEDC-953E-9EA0-2DBE-6A2FCF1ACE6C}"/>
              </a:ext>
            </a:extLst>
          </p:cNvPr>
          <p:cNvSpPr/>
          <p:nvPr/>
        </p:nvSpPr>
        <p:spPr>
          <a:xfrm>
            <a:off x="-3603308" y="4241407"/>
            <a:ext cx="401527" cy="360473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csv1</a:t>
            </a:r>
          </a:p>
        </p:txBody>
      </p:sp>
      <p:sp>
        <p:nvSpPr>
          <p:cNvPr id="131" name="Flowchart: Document 130">
            <a:extLst>
              <a:ext uri="{FF2B5EF4-FFF2-40B4-BE49-F238E27FC236}">
                <a16:creationId xmlns:a16="http://schemas.microsoft.com/office/drawing/2014/main" id="{5B0A5551-A946-25EA-0BC9-0CEDF7710C06}"/>
              </a:ext>
            </a:extLst>
          </p:cNvPr>
          <p:cNvSpPr/>
          <p:nvPr/>
        </p:nvSpPr>
        <p:spPr>
          <a:xfrm>
            <a:off x="-2742564" y="4241407"/>
            <a:ext cx="401527" cy="360473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csv1</a:t>
            </a:r>
          </a:p>
        </p:txBody>
      </p:sp>
      <p:sp>
        <p:nvSpPr>
          <p:cNvPr id="132" name="Cylinder 131">
            <a:extLst>
              <a:ext uri="{FF2B5EF4-FFF2-40B4-BE49-F238E27FC236}">
                <a16:creationId xmlns:a16="http://schemas.microsoft.com/office/drawing/2014/main" id="{A215E02E-13B7-AC4A-62EA-C09267578B5C}"/>
              </a:ext>
            </a:extLst>
          </p:cNvPr>
          <p:cNvSpPr/>
          <p:nvPr/>
        </p:nvSpPr>
        <p:spPr>
          <a:xfrm>
            <a:off x="-5489887" y="4872454"/>
            <a:ext cx="720000" cy="39744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8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133" name="Cylinder 132">
            <a:extLst>
              <a:ext uri="{FF2B5EF4-FFF2-40B4-BE49-F238E27FC236}">
                <a16:creationId xmlns:a16="http://schemas.microsoft.com/office/drawing/2014/main" id="{E3C0475C-9ED6-C2CF-6B66-F0EB310D2996}"/>
              </a:ext>
            </a:extLst>
          </p:cNvPr>
          <p:cNvSpPr/>
          <p:nvPr/>
        </p:nvSpPr>
        <p:spPr>
          <a:xfrm>
            <a:off x="-4629143" y="4872454"/>
            <a:ext cx="720000" cy="39744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8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134" name="Cylinder 133">
            <a:extLst>
              <a:ext uri="{FF2B5EF4-FFF2-40B4-BE49-F238E27FC236}">
                <a16:creationId xmlns:a16="http://schemas.microsoft.com/office/drawing/2014/main" id="{B81D547A-A509-5253-6885-DBEE9999CE6F}"/>
              </a:ext>
            </a:extLst>
          </p:cNvPr>
          <p:cNvSpPr/>
          <p:nvPr/>
        </p:nvSpPr>
        <p:spPr>
          <a:xfrm>
            <a:off x="-3762544" y="4867919"/>
            <a:ext cx="720000" cy="39744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8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135" name="Cylinder 134">
            <a:extLst>
              <a:ext uri="{FF2B5EF4-FFF2-40B4-BE49-F238E27FC236}">
                <a16:creationId xmlns:a16="http://schemas.microsoft.com/office/drawing/2014/main" id="{D3B49641-607B-F4AE-00B5-AFC340B0352C}"/>
              </a:ext>
            </a:extLst>
          </p:cNvPr>
          <p:cNvSpPr/>
          <p:nvPr/>
        </p:nvSpPr>
        <p:spPr>
          <a:xfrm>
            <a:off x="-2901800" y="4867919"/>
            <a:ext cx="720000" cy="39744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8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136" name="Cylinder 135">
            <a:extLst>
              <a:ext uri="{FF2B5EF4-FFF2-40B4-BE49-F238E27FC236}">
                <a16:creationId xmlns:a16="http://schemas.microsoft.com/office/drawing/2014/main" id="{EABFBB9E-1768-4E64-54E5-8461002FE67D}"/>
              </a:ext>
            </a:extLst>
          </p:cNvPr>
          <p:cNvSpPr/>
          <p:nvPr/>
        </p:nvSpPr>
        <p:spPr>
          <a:xfrm>
            <a:off x="-5489887" y="5529754"/>
            <a:ext cx="720000" cy="39744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8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137" name="Cylinder 136">
            <a:extLst>
              <a:ext uri="{FF2B5EF4-FFF2-40B4-BE49-F238E27FC236}">
                <a16:creationId xmlns:a16="http://schemas.microsoft.com/office/drawing/2014/main" id="{45554CB7-9CD3-4749-2782-A19CE06FA37A}"/>
              </a:ext>
            </a:extLst>
          </p:cNvPr>
          <p:cNvSpPr/>
          <p:nvPr/>
        </p:nvSpPr>
        <p:spPr>
          <a:xfrm>
            <a:off x="-4629143" y="5529754"/>
            <a:ext cx="720000" cy="39744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8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138" name="Cylinder 137">
            <a:extLst>
              <a:ext uri="{FF2B5EF4-FFF2-40B4-BE49-F238E27FC236}">
                <a16:creationId xmlns:a16="http://schemas.microsoft.com/office/drawing/2014/main" id="{5F5AFA06-FEED-40B5-DEC4-DA238FA80216}"/>
              </a:ext>
            </a:extLst>
          </p:cNvPr>
          <p:cNvSpPr/>
          <p:nvPr/>
        </p:nvSpPr>
        <p:spPr>
          <a:xfrm>
            <a:off x="-3762544" y="5525219"/>
            <a:ext cx="720000" cy="39744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8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139" name="Cylinder 138">
            <a:extLst>
              <a:ext uri="{FF2B5EF4-FFF2-40B4-BE49-F238E27FC236}">
                <a16:creationId xmlns:a16="http://schemas.microsoft.com/office/drawing/2014/main" id="{1B314E42-43FB-1B1E-7F45-A0CDE11DB52A}"/>
              </a:ext>
            </a:extLst>
          </p:cNvPr>
          <p:cNvSpPr/>
          <p:nvPr/>
        </p:nvSpPr>
        <p:spPr>
          <a:xfrm>
            <a:off x="-2901800" y="5525219"/>
            <a:ext cx="720000" cy="397440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8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8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144" name="Cylinder 143">
            <a:extLst>
              <a:ext uri="{FF2B5EF4-FFF2-40B4-BE49-F238E27FC236}">
                <a16:creationId xmlns:a16="http://schemas.microsoft.com/office/drawing/2014/main" id="{9C6842C7-307B-A735-B1ED-F8AA7FCD4337}"/>
              </a:ext>
            </a:extLst>
          </p:cNvPr>
          <p:cNvSpPr/>
          <p:nvPr/>
        </p:nvSpPr>
        <p:spPr>
          <a:xfrm>
            <a:off x="-4629143" y="6273155"/>
            <a:ext cx="1586599" cy="707615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subzone_features</a:t>
            </a:r>
            <a:endParaRPr lang="en-SG" sz="8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768E9039-B212-AF24-B22B-7B1F6153E690}"/>
              </a:ext>
            </a:extLst>
          </p:cNvPr>
          <p:cNvSpPr/>
          <p:nvPr/>
        </p:nvSpPr>
        <p:spPr>
          <a:xfrm>
            <a:off x="15809348" y="-4144235"/>
            <a:ext cx="2362201" cy="1473080"/>
          </a:xfrm>
          <a:prstGeom prst="roundRect">
            <a:avLst>
              <a:gd name="adj" fmla="val 9539"/>
            </a:avLst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lang="en-SG" sz="1400" b="1" dirty="0">
                <a:solidFill>
                  <a:srgbClr val="FFFFFF"/>
                </a:solidFill>
                <a:latin typeface="Nunito" pitchFamily="2" charset="0"/>
              </a:rPr>
              <a:t>TRAIN &amp; TUNE</a:t>
            </a:r>
          </a:p>
          <a:p>
            <a:pPr algn="ctr"/>
            <a:endParaRPr lang="en-SG" sz="1400" b="1" dirty="0">
              <a:solidFill>
                <a:srgbClr val="FFFFFF"/>
              </a:solidFill>
              <a:latin typeface="Nunito" pitchFamily="2" charset="0"/>
            </a:endParaRPr>
          </a:p>
          <a:p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• </a:t>
            </a:r>
            <a:r>
              <a:rPr lang="en-SG" sz="1400" dirty="0" err="1">
                <a:solidFill>
                  <a:srgbClr val="FFFFFF"/>
                </a:solidFill>
                <a:latin typeface="Nunito" pitchFamily="2" charset="0"/>
              </a:rPr>
              <a:t>XGBoost</a:t>
            </a:r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 + </a:t>
            </a:r>
            <a:r>
              <a:rPr lang="en-SG" sz="1400" dirty="0" err="1">
                <a:solidFill>
                  <a:srgbClr val="FFFFFF"/>
                </a:solidFill>
                <a:latin typeface="Nunito" pitchFamily="2" charset="0"/>
              </a:rPr>
              <a:t>LightGBM</a:t>
            </a:r>
            <a:endParaRPr lang="en-SG" sz="1400" dirty="0">
              <a:solidFill>
                <a:srgbClr val="FFFFFF"/>
              </a:solidFill>
              <a:latin typeface="Nunito" pitchFamily="2" charset="0"/>
            </a:endParaRPr>
          </a:p>
          <a:p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• </a:t>
            </a:r>
            <a:r>
              <a:rPr lang="en-SG" sz="1400" dirty="0" err="1">
                <a:solidFill>
                  <a:srgbClr val="FFFFFF"/>
                </a:solidFill>
                <a:latin typeface="Nunito" pitchFamily="2" charset="0"/>
              </a:rPr>
              <a:t>Optuna</a:t>
            </a:r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 HPT</a:t>
            </a:r>
          </a:p>
          <a:p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• 5-fold time-series CV</a:t>
            </a:r>
          </a:p>
          <a:p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• SMOTE class balance</a:t>
            </a:r>
          </a:p>
          <a:p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• </a:t>
            </a:r>
            <a:r>
              <a:rPr lang="en-SG" sz="1400" dirty="0" err="1">
                <a:solidFill>
                  <a:srgbClr val="FFFFFF"/>
                </a:solidFill>
                <a:latin typeface="Nunito" pitchFamily="2" charset="0"/>
              </a:rPr>
              <a:t>MLflow</a:t>
            </a:r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 tracking</a:t>
            </a:r>
            <a:endParaRPr lang="en-SG" sz="1400" b="1" dirty="0">
              <a:solidFill>
                <a:srgbClr val="FFFFFF"/>
              </a:solidFill>
              <a:latin typeface="Nunito" pitchFamily="2" charset="0"/>
            </a:endParaRPr>
          </a:p>
        </p:txBody>
      </p:sp>
      <p:sp>
        <p:nvSpPr>
          <p:cNvPr id="149" name="Rectangle: Rounded Corners 148">
            <a:extLst>
              <a:ext uri="{FF2B5EF4-FFF2-40B4-BE49-F238E27FC236}">
                <a16:creationId xmlns:a16="http://schemas.microsoft.com/office/drawing/2014/main" id="{13ABCB78-4EE1-45A6-DA64-E6790F59876A}"/>
              </a:ext>
            </a:extLst>
          </p:cNvPr>
          <p:cNvSpPr/>
          <p:nvPr/>
        </p:nvSpPr>
        <p:spPr>
          <a:xfrm>
            <a:off x="15800720" y="-2532247"/>
            <a:ext cx="2370830" cy="1145486"/>
          </a:xfrm>
          <a:prstGeom prst="roundRect">
            <a:avLst/>
          </a:prstGeom>
          <a:solidFill>
            <a:srgbClr val="3038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ctr"/>
          <a:lstStyle/>
          <a:p>
            <a:pPr algn="ctr"/>
            <a:r>
              <a:rPr lang="en-SG" sz="1400" b="1" dirty="0">
                <a:solidFill>
                  <a:srgbClr val="FFFFFF"/>
                </a:solidFill>
                <a:latin typeface="Nunito" pitchFamily="2" charset="0"/>
              </a:rPr>
              <a:t>EVALUATE</a:t>
            </a:r>
          </a:p>
          <a:p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• Precision / Recall</a:t>
            </a:r>
          </a:p>
          <a:p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• SHAP interpretability</a:t>
            </a:r>
          </a:p>
          <a:p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• Spatial accuracy</a:t>
            </a:r>
          </a:p>
          <a:p>
            <a:r>
              <a:rPr lang="en-SG" sz="1400" dirty="0">
                <a:solidFill>
                  <a:srgbClr val="FFFFFF"/>
                </a:solidFill>
                <a:latin typeface="Nunito" pitchFamily="2" charset="0"/>
              </a:rPr>
              <a:t>• Promotion gate</a:t>
            </a:r>
            <a:endParaRPr lang="en-SG" sz="1400" b="1" dirty="0">
              <a:solidFill>
                <a:srgbClr val="FFFFFF"/>
              </a:solidFill>
              <a:latin typeface="Nunito" pitchFamily="2" charset="0"/>
            </a:endParaRPr>
          </a:p>
        </p:txBody>
      </p:sp>
      <p:grpSp>
        <p:nvGrpSpPr>
          <p:cNvPr id="172" name="Group 171">
            <a:extLst>
              <a:ext uri="{FF2B5EF4-FFF2-40B4-BE49-F238E27FC236}">
                <a16:creationId xmlns:a16="http://schemas.microsoft.com/office/drawing/2014/main" id="{D02558AC-3E3F-2402-A94A-6BA05E327364}"/>
              </a:ext>
            </a:extLst>
          </p:cNvPr>
          <p:cNvGrpSpPr/>
          <p:nvPr/>
        </p:nvGrpSpPr>
        <p:grpSpPr>
          <a:xfrm>
            <a:off x="6848489" y="11468100"/>
            <a:ext cx="6287024" cy="2422620"/>
            <a:chOff x="6779883" y="8197553"/>
            <a:chExt cx="3337560" cy="1920240"/>
          </a:xfrm>
        </p:grpSpPr>
        <p:sp>
          <p:nvSpPr>
            <p:cNvPr id="150" name="Rectangle 149">
              <a:extLst>
                <a:ext uri="{FF2B5EF4-FFF2-40B4-BE49-F238E27FC236}">
                  <a16:creationId xmlns:a16="http://schemas.microsoft.com/office/drawing/2014/main" id="{28C9DA86-8969-3C1F-2204-617D2F373A16}"/>
                </a:ext>
              </a:extLst>
            </p:cNvPr>
            <p:cNvSpPr/>
            <p:nvPr/>
          </p:nvSpPr>
          <p:spPr>
            <a:xfrm>
              <a:off x="6779883" y="8197553"/>
              <a:ext cx="3337560" cy="1920240"/>
            </a:xfrm>
            <a:prstGeom prst="rect">
              <a:avLst/>
            </a:prstGeom>
            <a:noFill/>
            <a:ln w="12700">
              <a:solidFill>
                <a:srgbClr val="B84B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E8A8691F-FD33-64C0-80EF-05F8BDC69FF8}"/>
                </a:ext>
              </a:extLst>
            </p:cNvPr>
            <p:cNvSpPr/>
            <p:nvPr/>
          </p:nvSpPr>
          <p:spPr>
            <a:xfrm>
              <a:off x="6779883" y="8197553"/>
              <a:ext cx="3337560" cy="256032"/>
            </a:xfrm>
            <a:prstGeom prst="rect">
              <a:avLst/>
            </a:prstGeom>
            <a:solidFill>
              <a:srgbClr val="B84B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00" b="1" i="0">
                  <a:solidFill>
                    <a:srgbClr val="FFFFFF"/>
                  </a:solidFill>
                  <a:latin typeface="Nunito" pitchFamily="2" charset="0"/>
                </a:rPr>
                <a:t>REAL-TIME PATH  ·  event-driven, sub-second</a:t>
              </a:r>
            </a:p>
          </p:txBody>
        </p:sp>
        <p:sp>
          <p:nvSpPr>
            <p:cNvPr id="152" name="Rounded Rectangle 59">
              <a:extLst>
                <a:ext uri="{FF2B5EF4-FFF2-40B4-BE49-F238E27FC236}">
                  <a16:creationId xmlns:a16="http://schemas.microsoft.com/office/drawing/2014/main" id="{AF55CFDB-5B92-8792-026F-2DF81F358DB7}"/>
                </a:ext>
              </a:extLst>
            </p:cNvPr>
            <p:cNvSpPr/>
            <p:nvPr/>
          </p:nvSpPr>
          <p:spPr>
            <a:xfrm>
              <a:off x="6848463" y="8517593"/>
              <a:ext cx="496824" cy="64008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B84B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55D28C31-C7B5-9A29-5D2E-18F3684B5A2D}"/>
                </a:ext>
              </a:extLst>
            </p:cNvPr>
            <p:cNvSpPr txBox="1"/>
            <p:nvPr/>
          </p:nvSpPr>
          <p:spPr>
            <a:xfrm>
              <a:off x="6885039" y="8643690"/>
              <a:ext cx="423672" cy="387885"/>
            </a:xfrm>
            <a:prstGeom prst="rect">
              <a:avLst/>
            </a:prstGeom>
            <a:noFill/>
          </p:spPr>
          <p:txBody>
            <a:bodyPr wrap="square" lIns="54864" tIns="36576" rIns="54864" bIns="36576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B84B3C"/>
                  </a:solidFill>
                  <a:latin typeface="Nunito" pitchFamily="2" charset="0"/>
                </a:rPr>
                <a:t>Case INSERT</a:t>
              </a:r>
            </a:p>
            <a:p>
              <a:pPr algn="ctr"/>
              <a:r>
                <a:rPr sz="900" b="0" i="1">
                  <a:solidFill>
                    <a:srgbClr val="6B7A7A"/>
                  </a:solidFill>
                  <a:latin typeface="Nunito" pitchFamily="2" charset="0"/>
                </a:rPr>
                <a:t>to Postgres</a:t>
              </a:r>
            </a:p>
          </p:txBody>
        </p:sp>
        <p:cxnSp>
          <p:nvCxnSpPr>
            <p:cNvPr id="154" name="Connector 61">
              <a:extLst>
                <a:ext uri="{FF2B5EF4-FFF2-40B4-BE49-F238E27FC236}">
                  <a16:creationId xmlns:a16="http://schemas.microsoft.com/office/drawing/2014/main" id="{93977683-089B-6068-441D-68FBC4CE8D4F}"/>
                </a:ext>
              </a:extLst>
            </p:cNvPr>
            <p:cNvCxnSpPr/>
            <p:nvPr/>
          </p:nvCxnSpPr>
          <p:spPr>
            <a:xfrm>
              <a:off x="7345287" y="8837632"/>
              <a:ext cx="45720" cy="0"/>
            </a:xfrm>
            <a:prstGeom prst="line">
              <a:avLst/>
            </a:prstGeom>
            <a:ln w="15240">
              <a:solidFill>
                <a:srgbClr val="B84B3C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Rounded Rectangle 62">
              <a:extLst>
                <a:ext uri="{FF2B5EF4-FFF2-40B4-BE49-F238E27FC236}">
                  <a16:creationId xmlns:a16="http://schemas.microsoft.com/office/drawing/2014/main" id="{2047D3B2-1492-E6EF-B2A6-FFACDD2ABBDD}"/>
                </a:ext>
              </a:extLst>
            </p:cNvPr>
            <p:cNvSpPr/>
            <p:nvPr/>
          </p:nvSpPr>
          <p:spPr>
            <a:xfrm>
              <a:off x="7391007" y="8517593"/>
              <a:ext cx="496824" cy="64008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B84B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F17ED6A9-2531-3011-769C-8B003F2DB93D}"/>
                </a:ext>
              </a:extLst>
            </p:cNvPr>
            <p:cNvSpPr txBox="1"/>
            <p:nvPr/>
          </p:nvSpPr>
          <p:spPr>
            <a:xfrm>
              <a:off x="7427583" y="8643692"/>
              <a:ext cx="423672" cy="387885"/>
            </a:xfrm>
            <a:prstGeom prst="rect">
              <a:avLst/>
            </a:prstGeom>
            <a:noFill/>
          </p:spPr>
          <p:txBody>
            <a:bodyPr wrap="square" lIns="54864" tIns="36576" rIns="54864" bIns="36576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B84B3C"/>
                  </a:solidFill>
                  <a:latin typeface="Nunito" pitchFamily="2" charset="0"/>
                </a:rPr>
                <a:t>LISTEN / NOTIFY</a:t>
              </a:r>
            </a:p>
            <a:p>
              <a:pPr algn="ctr"/>
              <a:r>
                <a:rPr sz="900" b="0" i="1">
                  <a:solidFill>
                    <a:srgbClr val="6B7A7A"/>
                  </a:solidFill>
                  <a:latin typeface="Nunito" pitchFamily="2" charset="0"/>
                </a:rPr>
                <a:t>event trigger</a:t>
              </a:r>
            </a:p>
          </p:txBody>
        </p:sp>
        <p:cxnSp>
          <p:nvCxnSpPr>
            <p:cNvPr id="157" name="Connector 64">
              <a:extLst>
                <a:ext uri="{FF2B5EF4-FFF2-40B4-BE49-F238E27FC236}">
                  <a16:creationId xmlns:a16="http://schemas.microsoft.com/office/drawing/2014/main" id="{0B01B522-6547-4EC3-AB6C-531BC6FF8495}"/>
                </a:ext>
              </a:extLst>
            </p:cNvPr>
            <p:cNvCxnSpPr/>
            <p:nvPr/>
          </p:nvCxnSpPr>
          <p:spPr>
            <a:xfrm>
              <a:off x="7887831" y="8837632"/>
              <a:ext cx="45720" cy="0"/>
            </a:xfrm>
            <a:prstGeom prst="line">
              <a:avLst/>
            </a:prstGeom>
            <a:ln w="15240">
              <a:solidFill>
                <a:srgbClr val="B84B3C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8" name="Rounded Rectangle 65">
              <a:extLst>
                <a:ext uri="{FF2B5EF4-FFF2-40B4-BE49-F238E27FC236}">
                  <a16:creationId xmlns:a16="http://schemas.microsoft.com/office/drawing/2014/main" id="{8CF21CF0-7FCC-0010-1CDE-CC88CDD7F530}"/>
                </a:ext>
              </a:extLst>
            </p:cNvPr>
            <p:cNvSpPr/>
            <p:nvPr/>
          </p:nvSpPr>
          <p:spPr>
            <a:xfrm>
              <a:off x="7933551" y="8517593"/>
              <a:ext cx="496824" cy="64008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B84B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29483DC6-7FC8-C581-086A-7213FE9D3E2E}"/>
                </a:ext>
              </a:extLst>
            </p:cNvPr>
            <p:cNvSpPr txBox="1"/>
            <p:nvPr/>
          </p:nvSpPr>
          <p:spPr>
            <a:xfrm>
              <a:off x="7970127" y="8643692"/>
              <a:ext cx="423672" cy="387885"/>
            </a:xfrm>
            <a:prstGeom prst="rect">
              <a:avLst/>
            </a:prstGeom>
            <a:noFill/>
          </p:spPr>
          <p:txBody>
            <a:bodyPr wrap="square" lIns="54864" tIns="36576" rIns="54864" bIns="36576" anchor="ctr">
              <a:spAutoFit/>
            </a:bodyPr>
            <a:lstStyle/>
            <a:p>
              <a:pPr algn="ctr"/>
              <a:r>
                <a:rPr sz="900" b="1" i="0" dirty="0">
                  <a:solidFill>
                    <a:srgbClr val="B84B3C"/>
                  </a:solidFill>
                  <a:latin typeface="Nunito" pitchFamily="2" charset="0"/>
                </a:rPr>
                <a:t>Listener +
</a:t>
              </a:r>
              <a:r>
                <a:rPr sz="900" b="1" i="0" dirty="0" err="1">
                  <a:solidFill>
                    <a:srgbClr val="B84B3C"/>
                  </a:solidFill>
                  <a:latin typeface="Nunito" pitchFamily="2" charset="0"/>
                </a:rPr>
                <a:t>FastAPI</a:t>
              </a:r>
              <a:endParaRPr sz="900" b="1" i="0" dirty="0">
                <a:solidFill>
                  <a:srgbClr val="B84B3C"/>
                </a:solidFill>
                <a:latin typeface="Nunito" pitchFamily="2" charset="0"/>
              </a:endParaRPr>
            </a:p>
            <a:p>
              <a:pPr algn="ctr"/>
              <a:r>
                <a:rPr sz="900" b="0" i="1" dirty="0">
                  <a:solidFill>
                    <a:srgbClr val="6B7A7A"/>
                  </a:solidFill>
                  <a:latin typeface="Nunito" pitchFamily="2" charset="0"/>
                </a:rPr>
                <a:t>Docker</a:t>
              </a:r>
            </a:p>
          </p:txBody>
        </p:sp>
        <p:cxnSp>
          <p:nvCxnSpPr>
            <p:cNvPr id="160" name="Connector 67">
              <a:extLst>
                <a:ext uri="{FF2B5EF4-FFF2-40B4-BE49-F238E27FC236}">
                  <a16:creationId xmlns:a16="http://schemas.microsoft.com/office/drawing/2014/main" id="{7EFDB1F9-5E18-48B0-39CF-C43C0856394E}"/>
                </a:ext>
              </a:extLst>
            </p:cNvPr>
            <p:cNvCxnSpPr/>
            <p:nvPr/>
          </p:nvCxnSpPr>
          <p:spPr>
            <a:xfrm>
              <a:off x="8430375" y="8837632"/>
              <a:ext cx="45720" cy="0"/>
            </a:xfrm>
            <a:prstGeom prst="line">
              <a:avLst/>
            </a:prstGeom>
            <a:ln w="15240">
              <a:solidFill>
                <a:srgbClr val="B84B3C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ounded Rectangle 68">
              <a:extLst>
                <a:ext uri="{FF2B5EF4-FFF2-40B4-BE49-F238E27FC236}">
                  <a16:creationId xmlns:a16="http://schemas.microsoft.com/office/drawing/2014/main" id="{8A3EEC88-1A9B-F93B-D1B7-289588DAF81F}"/>
                </a:ext>
              </a:extLst>
            </p:cNvPr>
            <p:cNvSpPr/>
            <p:nvPr/>
          </p:nvSpPr>
          <p:spPr>
            <a:xfrm>
              <a:off x="8476095" y="8517593"/>
              <a:ext cx="496824" cy="64008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B84B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62" name="TextBox 161">
              <a:extLst>
                <a:ext uri="{FF2B5EF4-FFF2-40B4-BE49-F238E27FC236}">
                  <a16:creationId xmlns:a16="http://schemas.microsoft.com/office/drawing/2014/main" id="{A509B068-62D7-C4B8-1BCB-B6EC6CBC71F1}"/>
                </a:ext>
              </a:extLst>
            </p:cNvPr>
            <p:cNvSpPr txBox="1"/>
            <p:nvPr/>
          </p:nvSpPr>
          <p:spPr>
            <a:xfrm>
              <a:off x="8512671" y="8588800"/>
              <a:ext cx="423672" cy="497664"/>
            </a:xfrm>
            <a:prstGeom prst="rect">
              <a:avLst/>
            </a:prstGeom>
            <a:noFill/>
          </p:spPr>
          <p:txBody>
            <a:bodyPr wrap="square" lIns="54864" tIns="36576" rIns="54864" bIns="36576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B84B3C"/>
                  </a:solidFill>
                  <a:latin typeface="Nunito" pitchFamily="2" charset="0"/>
                </a:rPr>
                <a:t>Score subzone</a:t>
              </a:r>
            </a:p>
            <a:p>
              <a:pPr algn="ctr"/>
              <a:r>
                <a:rPr sz="900" b="0" i="1">
                  <a:solidFill>
                    <a:srgbClr val="6B7A7A"/>
                  </a:solidFill>
                  <a:latin typeface="Nunito" pitchFamily="2" charset="0"/>
                </a:rPr>
                <a:t>online features</a:t>
              </a:r>
            </a:p>
          </p:txBody>
        </p:sp>
        <p:cxnSp>
          <p:nvCxnSpPr>
            <p:cNvPr id="163" name="Connector 70">
              <a:extLst>
                <a:ext uri="{FF2B5EF4-FFF2-40B4-BE49-F238E27FC236}">
                  <a16:creationId xmlns:a16="http://schemas.microsoft.com/office/drawing/2014/main" id="{14CDDE39-E3A1-300F-0E7C-17D303134F30}"/>
                </a:ext>
              </a:extLst>
            </p:cNvPr>
            <p:cNvCxnSpPr/>
            <p:nvPr/>
          </p:nvCxnSpPr>
          <p:spPr>
            <a:xfrm>
              <a:off x="8972919" y="8837632"/>
              <a:ext cx="45720" cy="0"/>
            </a:xfrm>
            <a:prstGeom prst="line">
              <a:avLst/>
            </a:prstGeom>
            <a:ln w="15240">
              <a:solidFill>
                <a:srgbClr val="B84B3C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Rounded Rectangle 71">
              <a:extLst>
                <a:ext uri="{FF2B5EF4-FFF2-40B4-BE49-F238E27FC236}">
                  <a16:creationId xmlns:a16="http://schemas.microsoft.com/office/drawing/2014/main" id="{6641D0EB-95CB-02D8-ED94-E39135F2E10A}"/>
                </a:ext>
              </a:extLst>
            </p:cNvPr>
            <p:cNvSpPr/>
            <p:nvPr/>
          </p:nvSpPr>
          <p:spPr>
            <a:xfrm>
              <a:off x="9018639" y="8517593"/>
              <a:ext cx="496824" cy="640080"/>
            </a:xfrm>
            <a:prstGeom prst="roundRect">
              <a:avLst/>
            </a:prstGeom>
            <a:solidFill>
              <a:srgbClr val="E8C8C0"/>
            </a:solidFill>
            <a:ln w="6350">
              <a:solidFill>
                <a:srgbClr val="B84B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A8DD12D0-CB55-E71B-D640-CA66731B359F}"/>
                </a:ext>
              </a:extLst>
            </p:cNvPr>
            <p:cNvSpPr txBox="1"/>
            <p:nvPr/>
          </p:nvSpPr>
          <p:spPr>
            <a:xfrm>
              <a:off x="9055215" y="8698579"/>
              <a:ext cx="423672" cy="278106"/>
            </a:xfrm>
            <a:prstGeom prst="rect">
              <a:avLst/>
            </a:prstGeom>
            <a:noFill/>
          </p:spPr>
          <p:txBody>
            <a:bodyPr wrap="square" lIns="54864" tIns="36576" rIns="54864" bIns="36576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B84B3C"/>
                  </a:solidFill>
                  <a:latin typeface="Nunito" pitchFamily="2" charset="0"/>
                </a:rPr>
                <a:t>Alert rule</a:t>
              </a:r>
            </a:p>
            <a:p>
              <a:pPr algn="ctr"/>
              <a:r>
                <a:rPr sz="900" b="0" i="1">
                  <a:solidFill>
                    <a:srgbClr val="6B7A7A"/>
                  </a:solidFill>
                  <a:latin typeface="Nunito" pitchFamily="2" charset="0"/>
                </a:rPr>
                <a:t>rule layer</a:t>
              </a:r>
            </a:p>
          </p:txBody>
        </p:sp>
        <p:cxnSp>
          <p:nvCxnSpPr>
            <p:cNvPr id="166" name="Connector 73">
              <a:extLst>
                <a:ext uri="{FF2B5EF4-FFF2-40B4-BE49-F238E27FC236}">
                  <a16:creationId xmlns:a16="http://schemas.microsoft.com/office/drawing/2014/main" id="{A08EF1F4-3B08-CF30-BDF1-41003276FFB6}"/>
                </a:ext>
              </a:extLst>
            </p:cNvPr>
            <p:cNvCxnSpPr/>
            <p:nvPr/>
          </p:nvCxnSpPr>
          <p:spPr>
            <a:xfrm>
              <a:off x="9515463" y="8837632"/>
              <a:ext cx="45720" cy="0"/>
            </a:xfrm>
            <a:prstGeom prst="line">
              <a:avLst/>
            </a:prstGeom>
            <a:ln w="15240">
              <a:solidFill>
                <a:srgbClr val="B84B3C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Rounded Rectangle 74">
              <a:extLst>
                <a:ext uri="{FF2B5EF4-FFF2-40B4-BE49-F238E27FC236}">
                  <a16:creationId xmlns:a16="http://schemas.microsoft.com/office/drawing/2014/main" id="{4CC22B2E-9E0A-5EB7-0D52-87FE705388EB}"/>
                </a:ext>
              </a:extLst>
            </p:cNvPr>
            <p:cNvSpPr/>
            <p:nvPr/>
          </p:nvSpPr>
          <p:spPr>
            <a:xfrm>
              <a:off x="9561183" y="8517593"/>
              <a:ext cx="496824" cy="64008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B84B3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68" name="TextBox 167">
              <a:extLst>
                <a:ext uri="{FF2B5EF4-FFF2-40B4-BE49-F238E27FC236}">
                  <a16:creationId xmlns:a16="http://schemas.microsoft.com/office/drawing/2014/main" id="{E0ED5872-6610-88C6-B331-E5619BE1633A}"/>
                </a:ext>
              </a:extLst>
            </p:cNvPr>
            <p:cNvSpPr txBox="1"/>
            <p:nvPr/>
          </p:nvSpPr>
          <p:spPr>
            <a:xfrm>
              <a:off x="9597759" y="8588800"/>
              <a:ext cx="423672" cy="497664"/>
            </a:xfrm>
            <a:prstGeom prst="rect">
              <a:avLst/>
            </a:prstGeom>
            <a:noFill/>
          </p:spPr>
          <p:txBody>
            <a:bodyPr wrap="square" lIns="54864" tIns="36576" rIns="54864" bIns="36576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B84B3C"/>
                  </a:solidFill>
                  <a:latin typeface="Nunito" pitchFamily="2" charset="0"/>
                </a:rPr>
                <a:t>Alert written</a:t>
              </a:r>
            </a:p>
            <a:p>
              <a:pPr algn="ctr"/>
              <a:r>
                <a:rPr sz="900" b="0" i="1">
                  <a:solidFill>
                    <a:srgbClr val="6B7A7A"/>
                  </a:solidFill>
                  <a:latin typeface="Nunito" pitchFamily="2" charset="0"/>
                </a:rPr>
                <a:t>→ CDC officer</a:t>
              </a:r>
            </a:p>
          </p:txBody>
        </p: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24E242D3-75A1-C935-2D8A-1A349FF87E64}"/>
                </a:ext>
              </a:extLst>
            </p:cNvPr>
            <p:cNvSpPr txBox="1"/>
            <p:nvPr/>
          </p:nvSpPr>
          <p:spPr>
            <a:xfrm>
              <a:off x="6848463" y="9249113"/>
              <a:ext cx="3200400" cy="16832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ctr"/>
              <a:r>
                <a:rPr sz="900" b="0" i="1">
                  <a:solidFill>
                    <a:srgbClr val="E8C8C0"/>
                  </a:solidFill>
                  <a:latin typeface="Nunito" pitchFamily="2" charset="0"/>
                </a:rPr>
                <a:t>Triggered by new case → reads Redis online features → same MLflow artifact → applies rule → alert written</a:t>
              </a:r>
            </a:p>
          </p:txBody>
        </p: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1905BAE7-8D89-8121-9DE4-7F5C8D594085}"/>
                </a:ext>
              </a:extLst>
            </p:cNvPr>
            <p:cNvSpPr txBox="1"/>
            <p:nvPr/>
          </p:nvSpPr>
          <p:spPr>
            <a:xfrm>
              <a:off x="6848463" y="9569153"/>
              <a:ext cx="3200400" cy="168328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ctr"/>
              <a:r>
                <a:rPr sz="900" b="1" i="0" dirty="0">
                  <a:solidFill>
                    <a:srgbClr val="B84B3C"/>
                  </a:solidFill>
                  <a:latin typeface="Nunito" pitchFamily="2" charset="0"/>
                </a:rPr>
                <a:t>end-to-end target: &lt; 500 </a:t>
              </a:r>
              <a:r>
                <a:rPr sz="900" b="1" i="0" dirty="0" err="1">
                  <a:solidFill>
                    <a:srgbClr val="B84B3C"/>
                  </a:solidFill>
                  <a:latin typeface="Nunito" pitchFamily="2" charset="0"/>
                </a:rPr>
                <a:t>ms</a:t>
              </a:r>
              <a:r>
                <a:rPr sz="900" b="1" i="0" dirty="0">
                  <a:solidFill>
                    <a:srgbClr val="B84B3C"/>
                  </a:solidFill>
                  <a:latin typeface="Nunito" pitchFamily="2" charset="0"/>
                </a:rPr>
                <a:t>  ·  alert rule is transparent business logic, not a 2nd model</a:t>
              </a:r>
            </a:p>
          </p:txBody>
        </p:sp>
      </p:grpSp>
      <p:grpSp>
        <p:nvGrpSpPr>
          <p:cNvPr id="195" name="Group 194">
            <a:extLst>
              <a:ext uri="{FF2B5EF4-FFF2-40B4-BE49-F238E27FC236}">
                <a16:creationId xmlns:a16="http://schemas.microsoft.com/office/drawing/2014/main" id="{D0F426EE-91BA-B351-17A4-A8DC6049C160}"/>
              </a:ext>
            </a:extLst>
          </p:cNvPr>
          <p:cNvGrpSpPr/>
          <p:nvPr/>
        </p:nvGrpSpPr>
        <p:grpSpPr>
          <a:xfrm>
            <a:off x="14987082" y="11239500"/>
            <a:ext cx="6287025" cy="2624295"/>
            <a:chOff x="2527770" y="6043979"/>
            <a:chExt cx="3337560" cy="1691640"/>
          </a:xfrm>
        </p:grpSpPr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BAD14C5C-D4FB-ED59-D4C0-F32B6560CEC5}"/>
                </a:ext>
              </a:extLst>
            </p:cNvPr>
            <p:cNvSpPr/>
            <p:nvPr/>
          </p:nvSpPr>
          <p:spPr>
            <a:xfrm>
              <a:off x="2527770" y="6043979"/>
              <a:ext cx="3337560" cy="1691640"/>
            </a:xfrm>
            <a:prstGeom prst="rect">
              <a:avLst/>
            </a:prstGeom>
            <a:noFill/>
            <a:ln w="12700">
              <a:solidFill>
                <a:srgbClr val="95D5B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75" name="Rectangle 174">
              <a:extLst>
                <a:ext uri="{FF2B5EF4-FFF2-40B4-BE49-F238E27FC236}">
                  <a16:creationId xmlns:a16="http://schemas.microsoft.com/office/drawing/2014/main" id="{018F3D82-4BEB-8F3B-4F50-25D0ACCD3862}"/>
                </a:ext>
              </a:extLst>
            </p:cNvPr>
            <p:cNvSpPr/>
            <p:nvPr/>
          </p:nvSpPr>
          <p:spPr>
            <a:xfrm>
              <a:off x="2527770" y="6043979"/>
              <a:ext cx="3337560" cy="256032"/>
            </a:xfrm>
            <a:prstGeom prst="rect">
              <a:avLst/>
            </a:prstGeom>
            <a:solidFill>
              <a:srgbClr val="95D5B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73152" tIns="36576" rIns="73152" bIns="36576" rtlCol="0" anchor="ctr"/>
            <a:lstStyle/>
            <a:p>
              <a:pPr algn="l"/>
              <a:r>
                <a:rPr sz="1000" b="1" i="0" dirty="0">
                  <a:solidFill>
                    <a:srgbClr val="1B4332"/>
                  </a:solidFill>
                  <a:latin typeface="Nunito" pitchFamily="2" charset="0"/>
                </a:rPr>
                <a:t>BATCH PATH  ·  weekly, scheduled</a:t>
              </a:r>
            </a:p>
          </p:txBody>
        </p:sp>
        <p:sp>
          <p:nvSpPr>
            <p:cNvPr id="176" name="DeployPatternBg">
              <a:extLst>
                <a:ext uri="{FF2B5EF4-FFF2-40B4-BE49-F238E27FC236}">
                  <a16:creationId xmlns:a16="http://schemas.microsoft.com/office/drawing/2014/main" id="{CE05F382-D097-F559-0BB6-8736079772FC}"/>
                </a:ext>
              </a:extLst>
            </p:cNvPr>
            <p:cNvSpPr/>
            <p:nvPr/>
          </p:nvSpPr>
          <p:spPr>
            <a:xfrm>
              <a:off x="2573490" y="7369859"/>
              <a:ext cx="3246120" cy="274320"/>
            </a:xfrm>
            <a:prstGeom prst="rect">
              <a:avLst/>
            </a:prstGeom>
            <a:solidFill>
              <a:srgbClr val="E8F5EE"/>
            </a:solidFill>
            <a:ln w="6350">
              <a:solidFill>
                <a:srgbClr val="95D5B2"/>
              </a:solidFill>
            </a:ln>
          </p:spPr>
          <p:txBody>
            <a:bodyPr/>
            <a:lstStyle/>
            <a:p>
              <a:endParaRPr sz="2400">
                <a:latin typeface="Nunito" pitchFamily="2" charset="0"/>
              </a:endParaRPr>
            </a:p>
          </p:txBody>
        </p:sp>
        <p:sp>
          <p:nvSpPr>
            <p:cNvPr id="177" name="DeployFeatureStore">
              <a:extLst>
                <a:ext uri="{FF2B5EF4-FFF2-40B4-BE49-F238E27FC236}">
                  <a16:creationId xmlns:a16="http://schemas.microsoft.com/office/drawing/2014/main" id="{B77B05F2-AB0E-9B86-A99C-24959C0B5C14}"/>
                </a:ext>
              </a:extLst>
            </p:cNvPr>
            <p:cNvSpPr/>
            <p:nvPr/>
          </p:nvSpPr>
          <p:spPr>
            <a:xfrm>
              <a:off x="2601210" y="7384187"/>
              <a:ext cx="768096" cy="228600"/>
            </a:xfrm>
            <a:prstGeom prst="roundRect">
              <a:avLst/>
            </a:prstGeom>
            <a:solidFill>
              <a:srgbClr val="D8F3DC"/>
            </a:solidFill>
            <a:ln w="6350">
              <a:solidFill>
                <a:srgbClr val="40916C"/>
              </a:solidFill>
            </a:ln>
          </p:spPr>
          <p:txBody>
            <a:bodyPr wrap="square" lIns="36576" tIns="18288" rIns="36576" bIns="18288" rtlCol="0" anchor="ctr"/>
            <a:lstStyle/>
            <a:p>
              <a:pPr algn="ctr"/>
              <a:r>
                <a:rPr sz="900" b="1" i="0">
                  <a:solidFill>
                    <a:srgbClr val="1B4332"/>
                  </a:solidFill>
                  <a:latin typeface="Nunito" pitchFamily="2" charset="0"/>
                </a:rPr>
                <a:t>Feature Store</a:t>
              </a:r>
            </a:p>
            <a:p>
              <a:pPr algn="ctr"/>
              <a:r>
                <a:rPr sz="800" b="0" i="1">
                  <a:solidFill>
                    <a:srgbClr val="2D6A4F"/>
                  </a:solidFill>
                  <a:latin typeface="Nunito" pitchFamily="2" charset="0"/>
                </a:rPr>
                <a:t>Gold / Redis</a:t>
              </a:r>
            </a:p>
          </p:txBody>
        </p:sp>
        <p:cxnSp>
          <p:nvCxnSpPr>
            <p:cNvPr id="178" name="DeployArrow1">
              <a:extLst>
                <a:ext uri="{FF2B5EF4-FFF2-40B4-BE49-F238E27FC236}">
                  <a16:creationId xmlns:a16="http://schemas.microsoft.com/office/drawing/2014/main" id="{1D276E5C-5032-C7CF-20C0-A8C8B9F82CE2}"/>
                </a:ext>
              </a:extLst>
            </p:cNvPr>
            <p:cNvCxnSpPr/>
            <p:nvPr/>
          </p:nvCxnSpPr>
          <p:spPr>
            <a:xfrm>
              <a:off x="3369306" y="7498379"/>
              <a:ext cx="91440" cy="0"/>
            </a:xfrm>
            <a:prstGeom prst="line">
              <a:avLst/>
            </a:prstGeom>
            <a:ln w="9525">
              <a:solidFill>
                <a:srgbClr val="40916C"/>
              </a:solidFill>
              <a:tailEnd type="triangle" w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9" name="DeployContainer">
              <a:extLst>
                <a:ext uri="{FF2B5EF4-FFF2-40B4-BE49-F238E27FC236}">
                  <a16:creationId xmlns:a16="http://schemas.microsoft.com/office/drawing/2014/main" id="{41FAED13-D5DC-3325-4A35-1BC95BF6A0CB}"/>
                </a:ext>
              </a:extLst>
            </p:cNvPr>
            <p:cNvSpPr/>
            <p:nvPr/>
          </p:nvSpPr>
          <p:spPr>
            <a:xfrm>
              <a:off x="3460746" y="7369859"/>
              <a:ext cx="868680" cy="274320"/>
            </a:xfrm>
            <a:prstGeom prst="roundRect">
              <a:avLst/>
            </a:prstGeom>
            <a:solidFill>
              <a:srgbClr val="1B4332"/>
            </a:solidFill>
            <a:ln w="6350">
              <a:solidFill>
                <a:srgbClr val="95D5B2"/>
              </a:solidFill>
            </a:ln>
          </p:spPr>
          <p:txBody>
            <a:bodyPr wrap="square" lIns="36576" tIns="18288" rIns="36576" bIns="18288" rtlCol="0" anchor="ctr"/>
            <a:lstStyle/>
            <a:p>
              <a:pPr algn="ctr"/>
              <a:r>
                <a:rPr sz="900" b="1" i="0">
                  <a:solidFill>
                    <a:srgbClr val="95D5B2"/>
                  </a:solidFill>
                  <a:latin typeface="Nunito" pitchFamily="2" charset="0"/>
                </a:rPr>
                <a:t>Container</a:t>
              </a:r>
            </a:p>
            <a:p>
              <a:pPr algn="ctr"/>
              <a:r>
                <a:rPr sz="800" b="0" i="0">
                  <a:solidFill>
                    <a:srgbClr val="D8F3DC"/>
                  </a:solidFill>
                  <a:latin typeface="Nunito" pitchFamily="2" charset="0"/>
                </a:rPr>
                <a:t>Inference Code</a:t>
              </a:r>
            </a:p>
          </p:txBody>
        </p:sp>
        <p:cxnSp>
          <p:nvCxnSpPr>
            <p:cNvPr id="180" name="DeployArrow2">
              <a:extLst>
                <a:ext uri="{FF2B5EF4-FFF2-40B4-BE49-F238E27FC236}">
                  <a16:creationId xmlns:a16="http://schemas.microsoft.com/office/drawing/2014/main" id="{2CA78A5C-B935-5A6C-6EF6-DBC68A2C9AC3}"/>
                </a:ext>
              </a:extLst>
            </p:cNvPr>
            <p:cNvCxnSpPr/>
            <p:nvPr/>
          </p:nvCxnSpPr>
          <p:spPr>
            <a:xfrm>
              <a:off x="4329426" y="7498379"/>
              <a:ext cx="91440" cy="0"/>
            </a:xfrm>
            <a:prstGeom prst="line">
              <a:avLst/>
            </a:prstGeom>
            <a:ln w="9525">
              <a:solidFill>
                <a:srgbClr val="C9A146"/>
              </a:solidFill>
              <a:tailEnd type="triangle" w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1" name="DeployModelRegistry">
              <a:extLst>
                <a:ext uri="{FF2B5EF4-FFF2-40B4-BE49-F238E27FC236}">
                  <a16:creationId xmlns:a16="http://schemas.microsoft.com/office/drawing/2014/main" id="{0A123A5B-4202-F84B-41CD-D0AEF59A2E0F}"/>
                </a:ext>
              </a:extLst>
            </p:cNvPr>
            <p:cNvSpPr/>
            <p:nvPr/>
          </p:nvSpPr>
          <p:spPr>
            <a:xfrm>
              <a:off x="4420866" y="7384187"/>
              <a:ext cx="768096" cy="228600"/>
            </a:xfrm>
            <a:prstGeom prst="roundRect">
              <a:avLst/>
            </a:prstGeom>
            <a:solidFill>
              <a:srgbClr val="FFF3CD"/>
            </a:solidFill>
            <a:ln w="6350">
              <a:solidFill>
                <a:srgbClr val="C9A146"/>
              </a:solidFill>
            </a:ln>
          </p:spPr>
          <p:txBody>
            <a:bodyPr wrap="square" lIns="36576" tIns="18288" rIns="36576" bIns="18288" rtlCol="0" anchor="ctr"/>
            <a:lstStyle/>
            <a:p>
              <a:pPr algn="ctr"/>
              <a:r>
                <a:rPr sz="900" b="1" i="0">
                  <a:solidFill>
                    <a:srgbClr val="6B4C00"/>
                  </a:solidFill>
                  <a:latin typeface="Nunito" pitchFamily="2" charset="0"/>
                </a:rPr>
                <a:t>Model Registry</a:t>
              </a:r>
            </a:p>
            <a:p>
              <a:pPr algn="ctr"/>
              <a:r>
                <a:rPr sz="800" b="0" i="1">
                  <a:solidFill>
                    <a:srgbClr val="6B4C00"/>
                  </a:solidFill>
                  <a:latin typeface="Nunito" pitchFamily="2" charset="0"/>
                </a:rPr>
                <a:t>MLflow artifact</a:t>
              </a:r>
            </a:p>
          </p:txBody>
        </p:sp>
        <p:sp>
          <p:nvSpPr>
            <p:cNvPr id="182" name="Rounded Rectangle 45">
              <a:extLst>
                <a:ext uri="{FF2B5EF4-FFF2-40B4-BE49-F238E27FC236}">
                  <a16:creationId xmlns:a16="http://schemas.microsoft.com/office/drawing/2014/main" id="{11CEE6C3-543F-AF80-BF5F-513B225A4FFD}"/>
                </a:ext>
              </a:extLst>
            </p:cNvPr>
            <p:cNvSpPr/>
            <p:nvPr/>
          </p:nvSpPr>
          <p:spPr>
            <a:xfrm>
              <a:off x="2596350" y="6364018"/>
              <a:ext cx="754380" cy="59436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1B43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83" name="TextBox 182">
              <a:extLst>
                <a:ext uri="{FF2B5EF4-FFF2-40B4-BE49-F238E27FC236}">
                  <a16:creationId xmlns:a16="http://schemas.microsoft.com/office/drawing/2014/main" id="{F90834C5-B104-965E-997B-31B0CC4F5A65}"/>
                </a:ext>
              </a:extLst>
            </p:cNvPr>
            <p:cNvSpPr txBox="1"/>
            <p:nvPr/>
          </p:nvSpPr>
          <p:spPr>
            <a:xfrm>
              <a:off x="2632926" y="6548114"/>
              <a:ext cx="681228" cy="226170"/>
            </a:xfrm>
            <a:prstGeom prst="rect">
              <a:avLst/>
            </a:prstGeom>
            <a:noFill/>
          </p:spPr>
          <p:txBody>
            <a:bodyPr wrap="square" lIns="54864" tIns="36576" rIns="54864" bIns="36576" anchor="ctr">
              <a:spAutoFit/>
            </a:bodyPr>
            <a:lstStyle/>
            <a:p>
              <a:pPr algn="ctr"/>
              <a:r>
                <a:rPr sz="900" b="1" i="0" dirty="0">
                  <a:solidFill>
                    <a:srgbClr val="1B4332"/>
                  </a:solidFill>
                  <a:latin typeface="Nunito" pitchFamily="2" charset="0"/>
                </a:rPr>
                <a:t>Airflow trigger</a:t>
              </a:r>
            </a:p>
            <a:p>
              <a:pPr algn="ctr"/>
              <a:r>
                <a:rPr sz="900" b="0" i="1" dirty="0">
                  <a:solidFill>
                    <a:srgbClr val="6B7A7A"/>
                  </a:solidFill>
                  <a:latin typeface="Nunito" pitchFamily="2" charset="0"/>
                </a:rPr>
                <a:t>Mon 06:00 SGT</a:t>
              </a:r>
            </a:p>
          </p:txBody>
        </p:sp>
        <p:cxnSp>
          <p:nvCxnSpPr>
            <p:cNvPr id="184" name="Connector 47">
              <a:extLst>
                <a:ext uri="{FF2B5EF4-FFF2-40B4-BE49-F238E27FC236}">
                  <a16:creationId xmlns:a16="http://schemas.microsoft.com/office/drawing/2014/main" id="{ADEC3C9C-BEF5-E563-4B44-4DC7CE7AC7E0}"/>
                </a:ext>
              </a:extLst>
            </p:cNvPr>
            <p:cNvCxnSpPr/>
            <p:nvPr/>
          </p:nvCxnSpPr>
          <p:spPr>
            <a:xfrm>
              <a:off x="3350730" y="6656627"/>
              <a:ext cx="64008" cy="0"/>
            </a:xfrm>
            <a:prstGeom prst="line">
              <a:avLst/>
            </a:prstGeom>
            <a:ln w="15240">
              <a:solidFill>
                <a:srgbClr val="95D5B2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5" name="Rounded Rectangle 48">
              <a:extLst>
                <a:ext uri="{FF2B5EF4-FFF2-40B4-BE49-F238E27FC236}">
                  <a16:creationId xmlns:a16="http://schemas.microsoft.com/office/drawing/2014/main" id="{D27D66FF-4917-A6AC-F345-043BE294BE7F}"/>
                </a:ext>
              </a:extLst>
            </p:cNvPr>
            <p:cNvSpPr/>
            <p:nvPr/>
          </p:nvSpPr>
          <p:spPr>
            <a:xfrm>
              <a:off x="3414738" y="6364018"/>
              <a:ext cx="754380" cy="59436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1B43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06B683C1-FD63-9CFF-D104-6035D200882E}"/>
                </a:ext>
              </a:extLst>
            </p:cNvPr>
            <p:cNvSpPr txBox="1"/>
            <p:nvPr/>
          </p:nvSpPr>
          <p:spPr>
            <a:xfrm>
              <a:off x="3451314" y="6548115"/>
              <a:ext cx="681228" cy="226170"/>
            </a:xfrm>
            <a:prstGeom prst="rect">
              <a:avLst/>
            </a:prstGeom>
            <a:noFill/>
          </p:spPr>
          <p:txBody>
            <a:bodyPr wrap="square" lIns="54864" tIns="36576" rIns="54864" bIns="36576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B4332"/>
                  </a:solidFill>
                  <a:latin typeface="Nunito" pitchFamily="2" charset="0"/>
                </a:rPr>
                <a:t>Score 330 subzones</a:t>
              </a:r>
            </a:p>
            <a:p>
              <a:pPr algn="ctr"/>
              <a:r>
                <a:rPr sz="900" b="0" i="1">
                  <a:solidFill>
                    <a:srgbClr val="6B7A7A"/>
                  </a:solidFill>
                  <a:latin typeface="Nunito" pitchFamily="2" charset="0"/>
                </a:rPr>
                <a:t>batch inference</a:t>
              </a:r>
            </a:p>
          </p:txBody>
        </p:sp>
        <p:cxnSp>
          <p:nvCxnSpPr>
            <p:cNvPr id="187" name="Connector 50">
              <a:extLst>
                <a:ext uri="{FF2B5EF4-FFF2-40B4-BE49-F238E27FC236}">
                  <a16:creationId xmlns:a16="http://schemas.microsoft.com/office/drawing/2014/main" id="{ECC17365-F55C-830D-3F0E-696D70B4F49E}"/>
                </a:ext>
              </a:extLst>
            </p:cNvPr>
            <p:cNvCxnSpPr/>
            <p:nvPr/>
          </p:nvCxnSpPr>
          <p:spPr>
            <a:xfrm>
              <a:off x="4169118" y="6656627"/>
              <a:ext cx="64008" cy="0"/>
            </a:xfrm>
            <a:prstGeom prst="line">
              <a:avLst/>
            </a:prstGeom>
            <a:ln w="15240">
              <a:solidFill>
                <a:srgbClr val="95D5B2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8" name="Rounded Rectangle 51">
              <a:extLst>
                <a:ext uri="{FF2B5EF4-FFF2-40B4-BE49-F238E27FC236}">
                  <a16:creationId xmlns:a16="http://schemas.microsoft.com/office/drawing/2014/main" id="{B23B1AC8-F05E-C0EC-7457-6F31BC3F15FD}"/>
                </a:ext>
              </a:extLst>
            </p:cNvPr>
            <p:cNvSpPr/>
            <p:nvPr/>
          </p:nvSpPr>
          <p:spPr>
            <a:xfrm>
              <a:off x="4233126" y="6364018"/>
              <a:ext cx="754380" cy="59436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1B43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89" name="TextBox 188">
              <a:extLst>
                <a:ext uri="{FF2B5EF4-FFF2-40B4-BE49-F238E27FC236}">
                  <a16:creationId xmlns:a16="http://schemas.microsoft.com/office/drawing/2014/main" id="{CC6BB654-4849-D888-CFF3-87DA461F9CAD}"/>
                </a:ext>
              </a:extLst>
            </p:cNvPr>
            <p:cNvSpPr txBox="1"/>
            <p:nvPr/>
          </p:nvSpPr>
          <p:spPr>
            <a:xfrm>
              <a:off x="4269702" y="6548114"/>
              <a:ext cx="681228" cy="226170"/>
            </a:xfrm>
            <a:prstGeom prst="rect">
              <a:avLst/>
            </a:prstGeom>
            <a:noFill/>
          </p:spPr>
          <p:txBody>
            <a:bodyPr wrap="square" lIns="54864" tIns="36576" rIns="54864" bIns="36576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B4332"/>
                  </a:solidFill>
                  <a:latin typeface="Nunito" pitchFamily="2" charset="0"/>
                </a:rPr>
                <a:t>risk_tier table</a:t>
              </a:r>
            </a:p>
            <a:p>
              <a:pPr algn="ctr"/>
              <a:r>
                <a:rPr sz="900" b="0" i="1">
                  <a:solidFill>
                    <a:srgbClr val="6B7A7A"/>
                  </a:solidFill>
                  <a:latin typeface="Nunito" pitchFamily="2" charset="0"/>
                </a:rPr>
                <a:t>Postgres</a:t>
              </a:r>
            </a:p>
          </p:txBody>
        </p:sp>
        <p:cxnSp>
          <p:nvCxnSpPr>
            <p:cNvPr id="190" name="Connector 53">
              <a:extLst>
                <a:ext uri="{FF2B5EF4-FFF2-40B4-BE49-F238E27FC236}">
                  <a16:creationId xmlns:a16="http://schemas.microsoft.com/office/drawing/2014/main" id="{2C8CC45C-0269-B51B-610D-82E90FB425DB}"/>
                </a:ext>
              </a:extLst>
            </p:cNvPr>
            <p:cNvCxnSpPr/>
            <p:nvPr/>
          </p:nvCxnSpPr>
          <p:spPr>
            <a:xfrm>
              <a:off x="4987506" y="6656627"/>
              <a:ext cx="64008" cy="0"/>
            </a:xfrm>
            <a:prstGeom prst="line">
              <a:avLst/>
            </a:prstGeom>
            <a:ln w="15240">
              <a:solidFill>
                <a:srgbClr val="95D5B2"/>
              </a:solidFill>
              <a:tailEnd type="triangle" w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1" name="Rounded Rectangle 54">
              <a:extLst>
                <a:ext uri="{FF2B5EF4-FFF2-40B4-BE49-F238E27FC236}">
                  <a16:creationId xmlns:a16="http://schemas.microsoft.com/office/drawing/2014/main" id="{475C46BB-71C2-6F5A-5B55-064191C6110C}"/>
                </a:ext>
              </a:extLst>
            </p:cNvPr>
            <p:cNvSpPr/>
            <p:nvPr/>
          </p:nvSpPr>
          <p:spPr>
            <a:xfrm>
              <a:off x="5051514" y="6364018"/>
              <a:ext cx="754380" cy="594360"/>
            </a:xfrm>
            <a:prstGeom prst="roundRect">
              <a:avLst/>
            </a:prstGeom>
            <a:solidFill>
              <a:srgbClr val="FFFFFF"/>
            </a:solidFill>
            <a:ln w="6350">
              <a:solidFill>
                <a:srgbClr val="1B433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2400">
                <a:latin typeface="Nunito" pitchFamily="2" charset="0"/>
              </a:endParaRPr>
            </a:p>
          </p:txBody>
        </p:sp>
        <p:sp>
          <p:nvSpPr>
            <p:cNvPr id="192" name="TextBox 191">
              <a:extLst>
                <a:ext uri="{FF2B5EF4-FFF2-40B4-BE49-F238E27FC236}">
                  <a16:creationId xmlns:a16="http://schemas.microsoft.com/office/drawing/2014/main" id="{C8BCA6AE-942F-E0CE-4BD6-3C565453786F}"/>
                </a:ext>
              </a:extLst>
            </p:cNvPr>
            <p:cNvSpPr txBox="1"/>
            <p:nvPr/>
          </p:nvSpPr>
          <p:spPr>
            <a:xfrm>
              <a:off x="5088090" y="6548114"/>
              <a:ext cx="681228" cy="226170"/>
            </a:xfrm>
            <a:prstGeom prst="rect">
              <a:avLst/>
            </a:prstGeom>
            <a:noFill/>
          </p:spPr>
          <p:txBody>
            <a:bodyPr wrap="square" lIns="54864" tIns="36576" rIns="54864" bIns="36576" anchor="ctr">
              <a:spAutoFit/>
            </a:bodyPr>
            <a:lstStyle/>
            <a:p>
              <a:pPr algn="ctr"/>
              <a:r>
                <a:rPr sz="900" b="1" i="0">
                  <a:solidFill>
                    <a:srgbClr val="1B4332"/>
                  </a:solidFill>
                  <a:latin typeface="Nunito" pitchFamily="2" charset="0"/>
                </a:rPr>
                <a:t>NEA Dashboard</a:t>
              </a:r>
            </a:p>
            <a:p>
              <a:pPr algn="ctr"/>
              <a:r>
                <a:rPr sz="900" b="0" i="1">
                  <a:solidFill>
                    <a:srgbClr val="6B7A7A"/>
                  </a:solidFill>
                  <a:latin typeface="Nunito" pitchFamily="2" charset="0"/>
                </a:rPr>
                <a:t>fogging map</a:t>
              </a:r>
            </a:p>
          </p:txBody>
        </p:sp>
        <p:sp>
          <p:nvSpPr>
            <p:cNvPr id="193" name="TextBox 192">
              <a:extLst>
                <a:ext uri="{FF2B5EF4-FFF2-40B4-BE49-F238E27FC236}">
                  <a16:creationId xmlns:a16="http://schemas.microsoft.com/office/drawing/2014/main" id="{57550FA7-271A-6789-FFA5-13AC5A0F0102}"/>
                </a:ext>
              </a:extLst>
            </p:cNvPr>
            <p:cNvSpPr txBox="1"/>
            <p:nvPr/>
          </p:nvSpPr>
          <p:spPr>
            <a:xfrm>
              <a:off x="2596350" y="7049819"/>
              <a:ext cx="3200400" cy="136893"/>
            </a:xfrm>
            <a:prstGeom prst="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ctr"/>
              <a:r>
                <a:rPr sz="900" b="0" i="1">
                  <a:solidFill>
                    <a:srgbClr val="95D5B2"/>
                  </a:solidFill>
                  <a:latin typeface="Nunito" pitchFamily="2" charset="0"/>
                </a:rPr>
                <a:t>Reads offline features from Gold  ·  pulls model from registry  ·  writes weekly risk tiers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A4A4BCC0-34ED-210E-A48B-C539D38AE807}"/>
              </a:ext>
            </a:extLst>
          </p:cNvPr>
          <p:cNvGrpSpPr/>
          <p:nvPr/>
        </p:nvGrpSpPr>
        <p:grpSpPr>
          <a:xfrm>
            <a:off x="22233796" y="-4109580"/>
            <a:ext cx="3986365" cy="6817609"/>
            <a:chOff x="14433366" y="1754891"/>
            <a:chExt cx="1280160" cy="2103120"/>
          </a:xfrm>
        </p:grpSpPr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A2B2887C-81A5-9133-6001-CA5D4F33AE1A}"/>
                </a:ext>
              </a:extLst>
            </p:cNvPr>
            <p:cNvSpPr/>
            <p:nvPr/>
          </p:nvSpPr>
          <p:spPr>
            <a:xfrm>
              <a:off x="14433366" y="1754891"/>
              <a:ext cx="1280160" cy="1005840"/>
            </a:xfrm>
            <a:prstGeom prst="roundRect">
              <a:avLst>
                <a:gd name="adj" fmla="val 6429"/>
              </a:avLst>
            </a:prstGeom>
            <a:solidFill>
              <a:srgbClr val="2D6A4F"/>
            </a:solidFill>
            <a:ln w="6350">
              <a:solidFill>
                <a:srgbClr val="95D5B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200">
                <a:latin typeface="Nunito" pitchFamily="2" charset="0"/>
              </a:endParaRPr>
            </a:p>
          </p:txBody>
        </p:sp>
        <p:sp>
          <p:nvSpPr>
            <p:cNvPr id="197" name="TextBox 196">
              <a:extLst>
                <a:ext uri="{FF2B5EF4-FFF2-40B4-BE49-F238E27FC236}">
                  <a16:creationId xmlns:a16="http://schemas.microsoft.com/office/drawing/2014/main" id="{17F38F17-4B1B-48CA-A57B-0585BA0CC8DE}"/>
                </a:ext>
              </a:extLst>
            </p:cNvPr>
            <p:cNvSpPr txBox="1"/>
            <p:nvPr/>
          </p:nvSpPr>
          <p:spPr>
            <a:xfrm>
              <a:off x="14479087" y="1782323"/>
              <a:ext cx="1188719" cy="193282"/>
            </a:xfrm>
            <a:prstGeom prst="round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3200" b="1" i="0">
                  <a:solidFill>
                    <a:srgbClr val="95D5B2"/>
                  </a:solidFill>
                  <a:latin typeface="Nunito" pitchFamily="2" charset="0"/>
                </a:rPr>
                <a:t>MONITOR</a:t>
              </a:r>
            </a:p>
          </p:txBody>
        </p:sp>
        <p:sp>
          <p:nvSpPr>
            <p:cNvPr id="198" name="TextBox 197">
              <a:extLst>
                <a:ext uri="{FF2B5EF4-FFF2-40B4-BE49-F238E27FC236}">
                  <a16:creationId xmlns:a16="http://schemas.microsoft.com/office/drawing/2014/main" id="{56DD6F73-D507-5C0B-EFA8-84BBBCCE1919}"/>
                </a:ext>
              </a:extLst>
            </p:cNvPr>
            <p:cNvSpPr txBox="1"/>
            <p:nvPr/>
          </p:nvSpPr>
          <p:spPr>
            <a:xfrm>
              <a:off x="14506518" y="1983491"/>
              <a:ext cx="1133856" cy="172273"/>
            </a:xfrm>
            <a:prstGeom prst="round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800" b="0" i="0" dirty="0">
                  <a:solidFill>
                    <a:srgbClr val="FFFFFF"/>
                  </a:solidFill>
                  <a:latin typeface="Nunito" pitchFamily="2" charset="0"/>
                </a:rPr>
                <a:t>• Precision/Recall</a:t>
              </a:r>
            </a:p>
          </p:txBody>
        </p:sp>
        <p:sp>
          <p:nvSpPr>
            <p:cNvPr id="199" name="TextBox 198">
              <a:extLst>
                <a:ext uri="{FF2B5EF4-FFF2-40B4-BE49-F238E27FC236}">
                  <a16:creationId xmlns:a16="http://schemas.microsoft.com/office/drawing/2014/main" id="{249630F9-F337-CBDE-673F-04DFB6ECE1A0}"/>
                </a:ext>
              </a:extLst>
            </p:cNvPr>
            <p:cNvSpPr txBox="1"/>
            <p:nvPr/>
          </p:nvSpPr>
          <p:spPr>
            <a:xfrm>
              <a:off x="14506518" y="2166371"/>
              <a:ext cx="1133856" cy="172273"/>
            </a:xfrm>
            <a:prstGeom prst="round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800" b="0" i="0">
                  <a:solidFill>
                    <a:srgbClr val="FFFFFF"/>
                  </a:solidFill>
                  <a:latin typeface="Nunito" pitchFamily="2" charset="0"/>
                </a:rPr>
                <a:t>• Feature drift</a:t>
              </a:r>
            </a:p>
          </p:txBody>
        </p:sp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12B114F0-BBAB-CB42-1927-39CC68B65A0F}"/>
                </a:ext>
              </a:extLst>
            </p:cNvPr>
            <p:cNvSpPr txBox="1"/>
            <p:nvPr/>
          </p:nvSpPr>
          <p:spPr>
            <a:xfrm>
              <a:off x="14506518" y="2349251"/>
              <a:ext cx="1133856" cy="172273"/>
            </a:xfrm>
            <a:prstGeom prst="round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800" b="0" i="0">
                  <a:solidFill>
                    <a:srgbClr val="FFFFFF"/>
                  </a:solidFill>
                  <a:latin typeface="Nunito" pitchFamily="2" charset="0"/>
                </a:rPr>
                <a:t>• Concept drift</a:t>
              </a:r>
            </a:p>
          </p:txBody>
        </p:sp>
        <p:sp>
          <p:nvSpPr>
            <p:cNvPr id="201" name="TextBox 200">
              <a:extLst>
                <a:ext uri="{FF2B5EF4-FFF2-40B4-BE49-F238E27FC236}">
                  <a16:creationId xmlns:a16="http://schemas.microsoft.com/office/drawing/2014/main" id="{987F5D6B-033B-4EAB-0A42-845B66B01364}"/>
                </a:ext>
              </a:extLst>
            </p:cNvPr>
            <p:cNvSpPr txBox="1"/>
            <p:nvPr/>
          </p:nvSpPr>
          <p:spPr>
            <a:xfrm>
              <a:off x="14506518" y="2532131"/>
              <a:ext cx="1133856" cy="172273"/>
            </a:xfrm>
            <a:prstGeom prst="round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l"/>
              <a:r>
                <a:rPr sz="2800" b="0" i="0">
                  <a:solidFill>
                    <a:srgbClr val="FFFFFF"/>
                  </a:solidFill>
                  <a:latin typeface="Nunito" pitchFamily="2" charset="0"/>
                </a:rPr>
                <a:t>• Lineage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388DEAEF-76C4-BAB0-AF51-8EB12D6277DB}"/>
                </a:ext>
              </a:extLst>
            </p:cNvPr>
            <p:cNvSpPr/>
            <p:nvPr/>
          </p:nvSpPr>
          <p:spPr>
            <a:xfrm>
              <a:off x="14433366" y="2852171"/>
              <a:ext cx="1280160" cy="457200"/>
            </a:xfrm>
            <a:prstGeom prst="roundRect">
              <a:avLst>
                <a:gd name="adj" fmla="val 13729"/>
              </a:avLst>
            </a:prstGeom>
            <a:solidFill>
              <a:srgbClr val="B84B3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200">
                <a:latin typeface="Nunito" pitchFamily="2" charset="0"/>
              </a:endParaRPr>
            </a:p>
          </p:txBody>
        </p:sp>
        <p:sp>
          <p:nvSpPr>
            <p:cNvPr id="203" name="TextBox 202">
              <a:extLst>
                <a:ext uri="{FF2B5EF4-FFF2-40B4-BE49-F238E27FC236}">
                  <a16:creationId xmlns:a16="http://schemas.microsoft.com/office/drawing/2014/main" id="{725E98DC-2206-CD4E-C8FA-2CF549B0F326}"/>
                </a:ext>
              </a:extLst>
            </p:cNvPr>
            <p:cNvSpPr txBox="1"/>
            <p:nvPr/>
          </p:nvSpPr>
          <p:spPr>
            <a:xfrm>
              <a:off x="14479087" y="2897891"/>
              <a:ext cx="1188719" cy="340344"/>
            </a:xfrm>
            <a:prstGeom prst="round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ctr"/>
              <a:r>
                <a:rPr sz="3200" b="1" i="0" dirty="0">
                  <a:solidFill>
                    <a:srgbClr val="FFFFFF"/>
                  </a:solidFill>
                  <a:latin typeface="Nunito" pitchFamily="2" charset="0"/>
                </a:rPr>
                <a:t>DRIFT ALARM</a:t>
              </a:r>
            </a:p>
            <a:p>
              <a:pPr algn="ctr"/>
              <a:r>
                <a:rPr sz="2800" b="0" i="1" dirty="0">
                  <a:solidFill>
                    <a:srgbClr val="E8C8C0"/>
                  </a:solidFill>
                  <a:latin typeface="Nunito" pitchFamily="2" charset="0"/>
                </a:rPr>
                <a:t>serotype / seasonal</a:t>
              </a:r>
            </a:p>
          </p:txBody>
        </p:sp>
        <p:sp>
          <p:nvSpPr>
            <p:cNvPr id="204" name="Rectangle 203">
              <a:extLst>
                <a:ext uri="{FF2B5EF4-FFF2-40B4-BE49-F238E27FC236}">
                  <a16:creationId xmlns:a16="http://schemas.microsoft.com/office/drawing/2014/main" id="{62AAF390-E519-8657-4810-DBC7D5294B70}"/>
                </a:ext>
              </a:extLst>
            </p:cNvPr>
            <p:cNvSpPr/>
            <p:nvPr/>
          </p:nvSpPr>
          <p:spPr>
            <a:xfrm>
              <a:off x="14433366" y="3400811"/>
              <a:ext cx="1280160" cy="457200"/>
            </a:xfrm>
            <a:prstGeom prst="roundRect">
              <a:avLst/>
            </a:prstGeom>
            <a:solidFill>
              <a:srgbClr val="C9A14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200">
                <a:latin typeface="Nunito" pitchFamily="2" charset="0"/>
              </a:endParaRPr>
            </a:p>
          </p:txBody>
        </p:sp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13FA3FC-A0E8-A8A2-915F-FA992A3F9085}"/>
                </a:ext>
              </a:extLst>
            </p:cNvPr>
            <p:cNvSpPr txBox="1"/>
            <p:nvPr/>
          </p:nvSpPr>
          <p:spPr>
            <a:xfrm>
              <a:off x="14479087" y="3446531"/>
              <a:ext cx="1188719" cy="340344"/>
            </a:xfrm>
            <a:prstGeom prst="roundRect">
              <a:avLst/>
            </a:prstGeom>
            <a:noFill/>
          </p:spPr>
          <p:txBody>
            <a:bodyPr wrap="square" lIns="54864" tIns="36576" rIns="54864" bIns="36576" anchor="t">
              <a:spAutoFit/>
            </a:bodyPr>
            <a:lstStyle/>
            <a:p>
              <a:pPr algn="ctr"/>
              <a:r>
                <a:rPr sz="3200" b="1" i="0">
                  <a:solidFill>
                    <a:srgbClr val="FFFFFF"/>
                  </a:solidFill>
                  <a:latin typeface="Nunito" pitchFamily="2" charset="0"/>
                </a:rPr>
                <a:t>RETRAIN</a:t>
              </a:r>
            </a:p>
            <a:p>
              <a:pPr algn="ctr"/>
              <a:r>
                <a:rPr sz="2800" b="0" i="1">
                  <a:solidFill>
                    <a:srgbClr val="FFFFFF"/>
                  </a:solidFill>
                  <a:latin typeface="Nunito" pitchFamily="2" charset="0"/>
                </a:rPr>
                <a:t>Airflow DAG</a:t>
              </a:r>
            </a:p>
          </p:txBody>
        </p:sp>
      </p:grpSp>
      <p:sp>
        <p:nvSpPr>
          <p:cNvPr id="220" name="TextBox 219">
            <a:extLst>
              <a:ext uri="{FF2B5EF4-FFF2-40B4-BE49-F238E27FC236}">
                <a16:creationId xmlns:a16="http://schemas.microsoft.com/office/drawing/2014/main" id="{CC0AC2F9-E906-E76F-E8D3-916C3B55E540}"/>
              </a:ext>
            </a:extLst>
          </p:cNvPr>
          <p:cNvSpPr txBox="1"/>
          <p:nvPr/>
        </p:nvSpPr>
        <p:spPr>
          <a:xfrm>
            <a:off x="476314" y="-5285586"/>
            <a:ext cx="12109303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800" dirty="0">
                <a:solidFill>
                  <a:schemeClr val="bg1"/>
                </a:solidFill>
                <a:latin typeface="Nunito" pitchFamily="2" charset="0"/>
              </a:rPr>
              <a:t>1. Query Model Registry → "give me the current production model"</a:t>
            </a:r>
          </a:p>
          <a:p>
            <a:r>
              <a:rPr lang="en-SG" sz="2800" dirty="0">
                <a:solidFill>
                  <a:schemeClr val="bg1"/>
                </a:solidFill>
                <a:latin typeface="Nunito" pitchFamily="2" charset="0"/>
              </a:rPr>
              <a:t>2. Registry returns → artifact URI (e.g. s3://mlflow/models/credit/v2)</a:t>
            </a:r>
          </a:p>
          <a:p>
            <a:r>
              <a:rPr lang="en-SG" sz="2800" dirty="0">
                <a:solidFill>
                  <a:schemeClr val="bg1"/>
                </a:solidFill>
                <a:latin typeface="Nunito" pitchFamily="2" charset="0"/>
              </a:rPr>
              <a:t>3. Serving layer fetches artifact from that URI</a:t>
            </a:r>
          </a:p>
          <a:p>
            <a:r>
              <a:rPr lang="en-SG" sz="2800" dirty="0">
                <a:solidFill>
                  <a:schemeClr val="bg1"/>
                </a:solidFill>
                <a:latin typeface="Nunito" pitchFamily="2" charset="0"/>
              </a:rPr>
              <a:t>4. Model is loaded into memory</a:t>
            </a:r>
          </a:p>
          <a:p>
            <a:r>
              <a:rPr lang="en-SG" sz="2800" dirty="0">
                <a:solidFill>
                  <a:schemeClr val="bg1"/>
                </a:solidFill>
                <a:latin typeface="Nunito" pitchFamily="2" charset="0"/>
              </a:rPr>
              <a:t>5. Inference runs</a:t>
            </a:r>
          </a:p>
          <a:p>
            <a:endParaRPr lang="en-SG" sz="2800" dirty="0">
              <a:solidFill>
                <a:schemeClr val="bg1"/>
              </a:solidFill>
              <a:latin typeface="Nunito" pitchFamily="2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Nunito" pitchFamily="2" charset="0"/>
              </a:rPr>
              <a:t>Postgres = a well-</a:t>
            </a:r>
            <a:r>
              <a:rPr lang="en-US" sz="2800" dirty="0" err="1">
                <a:solidFill>
                  <a:schemeClr val="bg1"/>
                </a:solidFill>
                <a:latin typeface="Nunito" pitchFamily="2" charset="0"/>
              </a:rPr>
              <a:t>organised</a:t>
            </a:r>
            <a:r>
              <a:rPr lang="en-US" sz="2800" dirty="0">
                <a:solidFill>
                  <a:schemeClr val="bg1"/>
                </a:solidFill>
                <a:latin typeface="Nunito" pitchFamily="2" charset="0"/>
              </a:rPr>
              <a:t> library</a:t>
            </a:r>
          </a:p>
          <a:p>
            <a:r>
              <a:rPr lang="en-US" sz="2800" dirty="0">
                <a:solidFill>
                  <a:schemeClr val="bg1"/>
                </a:solidFill>
                <a:latin typeface="Nunito" pitchFamily="2" charset="0"/>
              </a:rPr>
              <a:t>           → takes a moment to find the book, but has everything</a:t>
            </a:r>
          </a:p>
          <a:p>
            <a:endParaRPr lang="en-US" sz="2800" dirty="0">
              <a:solidFill>
                <a:schemeClr val="bg1"/>
              </a:solidFill>
              <a:latin typeface="Nunito" pitchFamily="2" charset="0"/>
            </a:endParaRPr>
          </a:p>
          <a:p>
            <a:r>
              <a:rPr lang="en-US" sz="2800" dirty="0">
                <a:solidFill>
                  <a:schemeClr val="bg1"/>
                </a:solidFill>
                <a:latin typeface="Nunito" pitchFamily="2" charset="0"/>
              </a:rPr>
              <a:t>Redis = a sticky note on your desk</a:t>
            </a:r>
          </a:p>
          <a:p>
            <a:r>
              <a:rPr lang="en-US" sz="2800" dirty="0">
                <a:solidFill>
                  <a:schemeClr val="bg1"/>
                </a:solidFill>
                <a:latin typeface="Nunito" pitchFamily="2" charset="0"/>
              </a:rPr>
              <a:t>        → instantly readable, but only holds what you put there recently</a:t>
            </a:r>
            <a:endParaRPr lang="en-SG" sz="2800" dirty="0">
              <a:solidFill>
                <a:schemeClr val="bg1"/>
              </a:solidFill>
              <a:latin typeface="Nunito" pitchFamily="2" charset="0"/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165DA25B-EDF2-9C0E-6B68-AABD09D13F3A}"/>
              </a:ext>
            </a:extLst>
          </p:cNvPr>
          <p:cNvSpPr/>
          <p:nvPr/>
        </p:nvSpPr>
        <p:spPr>
          <a:xfrm>
            <a:off x="1262314" y="208219"/>
            <a:ext cx="1800000" cy="4248135"/>
          </a:xfrm>
          <a:prstGeom prst="roundRect">
            <a:avLst>
              <a:gd name="adj" fmla="val 6819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Bronze</a:t>
            </a:r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E13BA74F-474B-191B-1ADF-D2286900A6F4}"/>
              </a:ext>
            </a:extLst>
          </p:cNvPr>
          <p:cNvSpPr/>
          <p:nvPr/>
        </p:nvSpPr>
        <p:spPr>
          <a:xfrm>
            <a:off x="257721" y="845673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SGCharts</a:t>
            </a: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3789296B-9335-6483-13FD-20FE6C02FBE3}"/>
              </a:ext>
            </a:extLst>
          </p:cNvPr>
          <p:cNvSpPr/>
          <p:nvPr/>
        </p:nvSpPr>
        <p:spPr>
          <a:xfrm>
            <a:off x="257719" y="1757299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MSS Weather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973B5A8E-4CBF-81DD-8ECC-557F1E4226F5}"/>
              </a:ext>
            </a:extLst>
          </p:cNvPr>
          <p:cNvSpPr/>
          <p:nvPr/>
        </p:nvSpPr>
        <p:spPr>
          <a:xfrm>
            <a:off x="257719" y="2689388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SingStat</a:t>
            </a: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18" name="Flowchart: Document 17">
            <a:extLst>
              <a:ext uri="{FF2B5EF4-FFF2-40B4-BE49-F238E27FC236}">
                <a16:creationId xmlns:a16="http://schemas.microsoft.com/office/drawing/2014/main" id="{4FA6BA31-32E6-DDED-438E-FBC3CEB2F20E}"/>
              </a:ext>
            </a:extLst>
          </p:cNvPr>
          <p:cNvSpPr/>
          <p:nvPr/>
        </p:nvSpPr>
        <p:spPr>
          <a:xfrm>
            <a:off x="252710" y="3581696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URA </a:t>
            </a:r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Geo.</a:t>
            </a:r>
            <a:r>
              <a:rPr lang="en-SG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json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37D45E23-C15D-FA7D-02E4-DD9B91D55D44}"/>
              </a:ext>
            </a:extLst>
          </p:cNvPr>
          <p:cNvSpPr/>
          <p:nvPr/>
        </p:nvSpPr>
        <p:spPr>
          <a:xfrm>
            <a:off x="1626949" y="81054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B8E22FD7-4E66-DBDF-1DC6-9D33428A0F4A}"/>
              </a:ext>
            </a:extLst>
          </p:cNvPr>
          <p:cNvSpPr/>
          <p:nvPr/>
        </p:nvSpPr>
        <p:spPr>
          <a:xfrm>
            <a:off x="1626949" y="1722173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weather</a:t>
            </a:r>
          </a:p>
        </p:txBody>
      </p:sp>
      <p:sp>
        <p:nvSpPr>
          <p:cNvPr id="31" name="Cylinder 30">
            <a:extLst>
              <a:ext uri="{FF2B5EF4-FFF2-40B4-BE49-F238E27FC236}">
                <a16:creationId xmlns:a16="http://schemas.microsoft.com/office/drawing/2014/main" id="{BF501060-1E45-256B-934B-8C0F2B853D07}"/>
              </a:ext>
            </a:extLst>
          </p:cNvPr>
          <p:cNvSpPr/>
          <p:nvPr/>
        </p:nvSpPr>
        <p:spPr>
          <a:xfrm>
            <a:off x="1626949" y="265396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population</a:t>
            </a:r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54942E75-82D7-C8EC-C2C0-9C0BF5430808}"/>
              </a:ext>
            </a:extLst>
          </p:cNvPr>
          <p:cNvSpPr/>
          <p:nvPr/>
        </p:nvSpPr>
        <p:spPr>
          <a:xfrm>
            <a:off x="1626949" y="354657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geodata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EDEB2C23-08D7-D081-6DD2-DCC0AF5A4B4F}"/>
              </a:ext>
            </a:extLst>
          </p:cNvPr>
          <p:cNvCxnSpPr>
            <a:cxnSpLocks/>
            <a:stCxn id="9" idx="3"/>
            <a:endCxn id="24" idx="2"/>
          </p:cNvCxnSpPr>
          <p:nvPr/>
        </p:nvCxnSpPr>
        <p:spPr>
          <a:xfrm>
            <a:off x="1102076" y="1188198"/>
            <a:ext cx="524873" cy="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FB88ED0-735C-899A-6089-28509C573357}"/>
              </a:ext>
            </a:extLst>
          </p:cNvPr>
          <p:cNvCxnSpPr>
            <a:cxnSpLocks/>
            <a:stCxn id="10" idx="3"/>
            <a:endCxn id="26" idx="2"/>
          </p:cNvCxnSpPr>
          <p:nvPr/>
        </p:nvCxnSpPr>
        <p:spPr>
          <a:xfrm>
            <a:off x="1102074" y="2099824"/>
            <a:ext cx="524875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4413A007-99B2-27AF-A112-BDCBF9F3DC04}"/>
              </a:ext>
            </a:extLst>
          </p:cNvPr>
          <p:cNvCxnSpPr>
            <a:cxnSpLocks/>
            <a:stCxn id="11" idx="3"/>
            <a:endCxn id="31" idx="2"/>
          </p:cNvCxnSpPr>
          <p:nvPr/>
        </p:nvCxnSpPr>
        <p:spPr>
          <a:xfrm flipV="1">
            <a:off x="1102074" y="3031612"/>
            <a:ext cx="524875" cy="30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ADA3161D-210C-BF56-6F4D-80B2C029B2B1}"/>
              </a:ext>
            </a:extLst>
          </p:cNvPr>
          <p:cNvCxnSpPr>
            <a:cxnSpLocks/>
            <a:stCxn id="18" idx="3"/>
            <a:endCxn id="32" idx="2"/>
          </p:cNvCxnSpPr>
          <p:nvPr/>
        </p:nvCxnSpPr>
        <p:spPr>
          <a:xfrm>
            <a:off x="1097065" y="3924221"/>
            <a:ext cx="529884" cy="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55F14535-022E-6E58-E352-19CA207EB2FF}"/>
              </a:ext>
            </a:extLst>
          </p:cNvPr>
          <p:cNvSpPr/>
          <p:nvPr/>
        </p:nvSpPr>
        <p:spPr>
          <a:xfrm>
            <a:off x="5181600" y="208200"/>
            <a:ext cx="1800000" cy="4248943"/>
          </a:xfrm>
          <a:prstGeom prst="roundRect">
            <a:avLst>
              <a:gd name="adj" fmla="val 68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Silver</a:t>
            </a:r>
          </a:p>
        </p:txBody>
      </p:sp>
      <p:sp>
        <p:nvSpPr>
          <p:cNvPr id="54" name="Cylinder 53">
            <a:extLst>
              <a:ext uri="{FF2B5EF4-FFF2-40B4-BE49-F238E27FC236}">
                <a16:creationId xmlns:a16="http://schemas.microsoft.com/office/drawing/2014/main" id="{948DB6C4-FED6-2773-819F-B41209772F95}"/>
              </a:ext>
            </a:extLst>
          </p:cNvPr>
          <p:cNvSpPr/>
          <p:nvPr/>
        </p:nvSpPr>
        <p:spPr>
          <a:xfrm>
            <a:off x="5546235" y="81054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</a:p>
        </p:txBody>
      </p:sp>
      <p:sp>
        <p:nvSpPr>
          <p:cNvPr id="55" name="Cylinder 54">
            <a:extLst>
              <a:ext uri="{FF2B5EF4-FFF2-40B4-BE49-F238E27FC236}">
                <a16:creationId xmlns:a16="http://schemas.microsoft.com/office/drawing/2014/main" id="{E67C5E99-3D2E-D622-493D-D386A84366EF}"/>
              </a:ext>
            </a:extLst>
          </p:cNvPr>
          <p:cNvSpPr/>
          <p:nvPr/>
        </p:nvSpPr>
        <p:spPr>
          <a:xfrm>
            <a:off x="5546235" y="1722173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weather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C4B9A7FF-2B02-C036-C7C4-277062EA046F}"/>
              </a:ext>
            </a:extLst>
          </p:cNvPr>
          <p:cNvSpPr/>
          <p:nvPr/>
        </p:nvSpPr>
        <p:spPr>
          <a:xfrm>
            <a:off x="5546235" y="265396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population</a:t>
            </a:r>
          </a:p>
        </p:txBody>
      </p:sp>
      <p:sp>
        <p:nvSpPr>
          <p:cNvPr id="57" name="Cylinder 56">
            <a:extLst>
              <a:ext uri="{FF2B5EF4-FFF2-40B4-BE49-F238E27FC236}">
                <a16:creationId xmlns:a16="http://schemas.microsoft.com/office/drawing/2014/main" id="{B8AC6F9D-5828-1328-2B04-937AE0E3450C}"/>
              </a:ext>
            </a:extLst>
          </p:cNvPr>
          <p:cNvSpPr/>
          <p:nvPr/>
        </p:nvSpPr>
        <p:spPr>
          <a:xfrm>
            <a:off x="5546235" y="354657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geodata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E60D5EE1-3313-9952-E8F9-E47EFC686B7E}"/>
              </a:ext>
            </a:extLst>
          </p:cNvPr>
          <p:cNvCxnSpPr>
            <a:cxnSpLocks/>
            <a:stCxn id="24" idx="4"/>
            <a:endCxn id="54" idx="2"/>
          </p:cNvCxnSpPr>
          <p:nvPr/>
        </p:nvCxnSpPr>
        <p:spPr>
          <a:xfrm>
            <a:off x="2706949" y="1188199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896E36F5-069C-EAEA-CAC4-821E43CDA152}"/>
              </a:ext>
            </a:extLst>
          </p:cNvPr>
          <p:cNvCxnSpPr>
            <a:cxnSpLocks/>
            <a:stCxn id="26" idx="4"/>
            <a:endCxn id="55" idx="2"/>
          </p:cNvCxnSpPr>
          <p:nvPr/>
        </p:nvCxnSpPr>
        <p:spPr>
          <a:xfrm>
            <a:off x="2706949" y="2099824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A98FB62D-7ACF-F8A5-F79B-4909AB1F1EAE}"/>
              </a:ext>
            </a:extLst>
          </p:cNvPr>
          <p:cNvCxnSpPr>
            <a:cxnSpLocks/>
            <a:stCxn id="31" idx="4"/>
            <a:endCxn id="56" idx="2"/>
          </p:cNvCxnSpPr>
          <p:nvPr/>
        </p:nvCxnSpPr>
        <p:spPr>
          <a:xfrm>
            <a:off x="2706949" y="3031612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1BF9B262-3220-9164-4B4A-5A87891083CB}"/>
              </a:ext>
            </a:extLst>
          </p:cNvPr>
          <p:cNvCxnSpPr>
            <a:cxnSpLocks/>
            <a:stCxn id="32" idx="4"/>
            <a:endCxn id="57" idx="2"/>
          </p:cNvCxnSpPr>
          <p:nvPr/>
        </p:nvCxnSpPr>
        <p:spPr>
          <a:xfrm>
            <a:off x="2706949" y="3924222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1AA084B1-48F7-1939-CD97-A3A4DE1AE9D8}"/>
              </a:ext>
            </a:extLst>
          </p:cNvPr>
          <p:cNvSpPr/>
          <p:nvPr/>
        </p:nvSpPr>
        <p:spPr>
          <a:xfrm>
            <a:off x="9144000" y="208200"/>
            <a:ext cx="1800000" cy="6230700"/>
          </a:xfrm>
          <a:prstGeom prst="roundRect">
            <a:avLst>
              <a:gd name="adj" fmla="val 681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Gold</a:t>
            </a: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B045776E-07C5-AE72-D3B5-54B0501A7639}"/>
              </a:ext>
            </a:extLst>
          </p:cNvPr>
          <p:cNvSpPr/>
          <p:nvPr/>
        </p:nvSpPr>
        <p:spPr>
          <a:xfrm>
            <a:off x="9347201" y="2851307"/>
            <a:ext cx="1407503" cy="996793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subzone_features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DCA498AC-8018-40C6-A610-2A8D846C9536}"/>
              </a:ext>
            </a:extLst>
          </p:cNvPr>
          <p:cNvCxnSpPr>
            <a:cxnSpLocks/>
            <a:stCxn id="54" idx="4"/>
            <a:endCxn id="73" idx="2"/>
          </p:cNvCxnSpPr>
          <p:nvPr/>
        </p:nvCxnSpPr>
        <p:spPr>
          <a:xfrm>
            <a:off x="6626235" y="1188199"/>
            <a:ext cx="2720966" cy="2161505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683C76FF-1FB9-9B54-E3A7-43F0E7151426}"/>
              </a:ext>
            </a:extLst>
          </p:cNvPr>
          <p:cNvCxnSpPr>
            <a:cxnSpLocks/>
            <a:stCxn id="55" idx="4"/>
            <a:endCxn id="73" idx="2"/>
          </p:cNvCxnSpPr>
          <p:nvPr/>
        </p:nvCxnSpPr>
        <p:spPr>
          <a:xfrm>
            <a:off x="6626235" y="2099824"/>
            <a:ext cx="2720966" cy="1249880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F69A8FF5-D35C-FA3F-7BC8-D78DDDA245E1}"/>
              </a:ext>
            </a:extLst>
          </p:cNvPr>
          <p:cNvCxnSpPr>
            <a:cxnSpLocks/>
            <a:stCxn id="56" idx="4"/>
            <a:endCxn id="73" idx="2"/>
          </p:cNvCxnSpPr>
          <p:nvPr/>
        </p:nvCxnSpPr>
        <p:spPr>
          <a:xfrm>
            <a:off x="6626235" y="3031612"/>
            <a:ext cx="2720966" cy="318092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2F58C242-7E70-CD30-3C30-87535965C589}"/>
              </a:ext>
            </a:extLst>
          </p:cNvPr>
          <p:cNvCxnSpPr>
            <a:cxnSpLocks/>
            <a:stCxn id="57" idx="4"/>
            <a:endCxn id="73" idx="2"/>
          </p:cNvCxnSpPr>
          <p:nvPr/>
        </p:nvCxnSpPr>
        <p:spPr>
          <a:xfrm flipV="1">
            <a:off x="6626235" y="3349704"/>
            <a:ext cx="2720966" cy="57451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2EC889C5-B08C-F86C-1A70-17EC32EB3CEE}"/>
              </a:ext>
            </a:extLst>
          </p:cNvPr>
          <p:cNvSpPr/>
          <p:nvPr/>
        </p:nvSpPr>
        <p:spPr>
          <a:xfrm>
            <a:off x="3212500" y="810548"/>
            <a:ext cx="1800000" cy="3344413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200" b="1" dirty="0">
                <a:solidFill>
                  <a:srgbClr val="6B7A7A"/>
                </a:solidFill>
                <a:latin typeface="Nunito" pitchFamily="2" charset="0"/>
              </a:rPr>
              <a:t>Pre-processing</a:t>
            </a:r>
            <a:endParaRPr lang="en-SG" sz="1050" b="1" dirty="0">
              <a:solidFill>
                <a:srgbClr val="6B7A7A"/>
              </a:solidFill>
              <a:latin typeface="Nunito" pitchFamily="2" charset="0"/>
            </a:endParaRP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Enforce schema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Handle null values and outliers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Remove duplicates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Repair geometrics</a:t>
            </a:r>
          </a:p>
        </p:txBody>
      </p:sp>
      <p:cxnSp>
        <p:nvCxnSpPr>
          <p:cNvPr id="238" name="Straight Arrow Connector 80">
            <a:extLst>
              <a:ext uri="{FF2B5EF4-FFF2-40B4-BE49-F238E27FC236}">
                <a16:creationId xmlns:a16="http://schemas.microsoft.com/office/drawing/2014/main" id="{A32BA164-24A9-EA41-36BB-FA166697DB17}"/>
              </a:ext>
            </a:extLst>
          </p:cNvPr>
          <p:cNvCxnSpPr>
            <a:cxnSpLocks/>
            <a:stCxn id="54" idx="4"/>
            <a:endCxn id="243" idx="1"/>
          </p:cNvCxnSpPr>
          <p:nvPr/>
        </p:nvCxnSpPr>
        <p:spPr>
          <a:xfrm>
            <a:off x="6626235" y="1188199"/>
            <a:ext cx="2720966" cy="34044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794AB138-03A3-C9CC-587F-5F56BED1C9CB}"/>
              </a:ext>
            </a:extLst>
          </p:cNvPr>
          <p:cNvSpPr txBox="1"/>
          <p:nvPr/>
        </p:nvSpPr>
        <p:spPr>
          <a:xfrm>
            <a:off x="9640422" y="2875290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43" name="Flowchart: Document 242">
            <a:extLst>
              <a:ext uri="{FF2B5EF4-FFF2-40B4-BE49-F238E27FC236}">
                <a16:creationId xmlns:a16="http://schemas.microsoft.com/office/drawing/2014/main" id="{0402E78F-25C2-A19D-BC77-6DBE066B4BBB}"/>
              </a:ext>
            </a:extLst>
          </p:cNvPr>
          <p:cNvSpPr/>
          <p:nvPr/>
        </p:nvSpPr>
        <p:spPr>
          <a:xfrm>
            <a:off x="9347201" y="1114191"/>
            <a:ext cx="1396998" cy="82890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subzone_features.parquet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67367E33-9FC4-3481-913B-08919EBC8CDF}"/>
              </a:ext>
            </a:extLst>
          </p:cNvPr>
          <p:cNvSpPr txBox="1"/>
          <p:nvPr/>
        </p:nvSpPr>
        <p:spPr>
          <a:xfrm>
            <a:off x="5735837" y="7995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7F8D649B-1969-CE23-155A-CA13A254CFA2}"/>
              </a:ext>
            </a:extLst>
          </p:cNvPr>
          <p:cNvSpPr txBox="1"/>
          <p:nvPr/>
        </p:nvSpPr>
        <p:spPr>
          <a:xfrm>
            <a:off x="5745081" y="17139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E85725E2-9492-8DC3-516F-B5159A5C897B}"/>
              </a:ext>
            </a:extLst>
          </p:cNvPr>
          <p:cNvSpPr txBox="1"/>
          <p:nvPr/>
        </p:nvSpPr>
        <p:spPr>
          <a:xfrm>
            <a:off x="5725573" y="26283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08811DF8-3B29-48C0-7E4F-276BBE31739F}"/>
              </a:ext>
            </a:extLst>
          </p:cNvPr>
          <p:cNvSpPr txBox="1"/>
          <p:nvPr/>
        </p:nvSpPr>
        <p:spPr>
          <a:xfrm>
            <a:off x="5735022" y="35427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5D9C8A94-6E87-94B8-C848-FF6DBDCC2155}"/>
              </a:ext>
            </a:extLst>
          </p:cNvPr>
          <p:cNvSpPr txBox="1"/>
          <p:nvPr/>
        </p:nvSpPr>
        <p:spPr>
          <a:xfrm>
            <a:off x="1801396" y="7995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735888DA-ED46-93FF-620C-3DB26BFE998E}"/>
              </a:ext>
            </a:extLst>
          </p:cNvPr>
          <p:cNvSpPr txBox="1"/>
          <p:nvPr/>
        </p:nvSpPr>
        <p:spPr>
          <a:xfrm>
            <a:off x="1810640" y="17139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E6504497-D4CA-0DF3-2E26-65A1CB47A2C8}"/>
              </a:ext>
            </a:extLst>
          </p:cNvPr>
          <p:cNvSpPr txBox="1"/>
          <p:nvPr/>
        </p:nvSpPr>
        <p:spPr>
          <a:xfrm>
            <a:off x="1791132" y="26283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081E346E-8E52-C657-3F16-2C1D73F523A0}"/>
              </a:ext>
            </a:extLst>
          </p:cNvPr>
          <p:cNvSpPr txBox="1"/>
          <p:nvPr/>
        </p:nvSpPr>
        <p:spPr>
          <a:xfrm>
            <a:off x="1800581" y="35427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6" name="Cylinder 255">
            <a:extLst>
              <a:ext uri="{FF2B5EF4-FFF2-40B4-BE49-F238E27FC236}">
                <a16:creationId xmlns:a16="http://schemas.microsoft.com/office/drawing/2014/main" id="{CA8D2D74-C8D5-3E40-D10A-BD0A6F8051C3}"/>
              </a:ext>
            </a:extLst>
          </p:cNvPr>
          <p:cNvSpPr/>
          <p:nvPr/>
        </p:nvSpPr>
        <p:spPr>
          <a:xfrm>
            <a:off x="9341949" y="4921020"/>
            <a:ext cx="1407503" cy="996793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dirty="0" err="1">
                <a:solidFill>
                  <a:srgbClr val="595959"/>
                </a:solidFill>
                <a:latin typeface="Nunito" pitchFamily="2" charset="0"/>
              </a:rPr>
              <a:t>current_week_case_count</a:t>
            </a:r>
            <a:endParaRPr lang="en-SG" sz="1050" dirty="0">
              <a:solidFill>
                <a:srgbClr val="595959"/>
              </a:solidFill>
              <a:latin typeface="Nunito" pitchFamily="2" charset="0"/>
            </a:endParaRPr>
          </a:p>
          <a:p>
            <a:pPr algn="ctr"/>
            <a:r>
              <a:rPr lang="en-SG" sz="1050" dirty="0" err="1">
                <a:solidFill>
                  <a:srgbClr val="595959"/>
                </a:solidFill>
                <a:latin typeface="Nunito" pitchFamily="2" charset="0"/>
              </a:rPr>
              <a:t>vulnerability_index</a:t>
            </a:r>
            <a:endParaRPr lang="en-SG" sz="1050" dirty="0">
              <a:solidFill>
                <a:srgbClr val="595959"/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45AD2177-1980-FD0C-AAE7-096D854818A5}"/>
              </a:ext>
            </a:extLst>
          </p:cNvPr>
          <p:cNvSpPr txBox="1"/>
          <p:nvPr/>
        </p:nvSpPr>
        <p:spPr>
          <a:xfrm>
            <a:off x="9725740" y="4921020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b="1" dirty="0">
                <a:solidFill>
                  <a:srgbClr val="1C334E"/>
                </a:solidFill>
                <a:latin typeface="Nunito" pitchFamily="2" charset="0"/>
              </a:rPr>
              <a:t>REDIS</a:t>
            </a:r>
          </a:p>
        </p:txBody>
      </p:sp>
      <p:cxnSp>
        <p:nvCxnSpPr>
          <p:cNvPr id="258" name="Straight Arrow Connector 89">
            <a:extLst>
              <a:ext uri="{FF2B5EF4-FFF2-40B4-BE49-F238E27FC236}">
                <a16:creationId xmlns:a16="http://schemas.microsoft.com/office/drawing/2014/main" id="{2CC8A330-965D-137C-E8C1-BB0BC0B8BB50}"/>
              </a:ext>
            </a:extLst>
          </p:cNvPr>
          <p:cNvCxnSpPr>
            <a:cxnSpLocks/>
            <a:stCxn id="56" idx="4"/>
            <a:endCxn id="526" idx="1"/>
          </p:cNvCxnSpPr>
          <p:nvPr/>
        </p:nvCxnSpPr>
        <p:spPr>
          <a:xfrm>
            <a:off x="6626235" y="3031612"/>
            <a:ext cx="2727609" cy="2211404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C7261AAA-9186-D531-3D53-D0AC9C176449}"/>
              </a:ext>
            </a:extLst>
          </p:cNvPr>
          <p:cNvSpPr/>
          <p:nvPr/>
        </p:nvSpPr>
        <p:spPr>
          <a:xfrm>
            <a:off x="7156767" y="799544"/>
            <a:ext cx="1800000" cy="3355418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200" b="1" dirty="0">
                <a:solidFill>
                  <a:srgbClr val="6B7A7A"/>
                </a:solidFill>
                <a:latin typeface="Nunito" pitchFamily="2" charset="0"/>
              </a:rPr>
              <a:t>Feature Engineering</a:t>
            </a: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Lag features (weather)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Rolling aggregates (clusters)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Spatial join (clusters × subzones)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Vulnerability index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Label creation</a:t>
            </a: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C2DA94B7-F80E-CBB2-A151-E009DBE9B690}"/>
              </a:ext>
            </a:extLst>
          </p:cNvPr>
          <p:cNvSpPr txBox="1"/>
          <p:nvPr/>
        </p:nvSpPr>
        <p:spPr>
          <a:xfrm>
            <a:off x="9227172" y="876925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Used for model dev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9AC7C176-CFE0-FA6D-B2FD-E6F5A546DB86}"/>
              </a:ext>
            </a:extLst>
          </p:cNvPr>
          <p:cNvSpPr txBox="1"/>
          <p:nvPr/>
        </p:nvSpPr>
        <p:spPr>
          <a:xfrm>
            <a:off x="9202871" y="2612009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Offline Feature Store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31148B6F-C315-5AB7-93CA-CFFE86F60F58}"/>
              </a:ext>
            </a:extLst>
          </p:cNvPr>
          <p:cNvSpPr txBox="1"/>
          <p:nvPr/>
        </p:nvSpPr>
        <p:spPr>
          <a:xfrm>
            <a:off x="9202871" y="4686300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Online Feature Store</a:t>
            </a: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3CC4E8DF-E69E-69AA-7E59-A4660C7ACA15}"/>
              </a:ext>
            </a:extLst>
          </p:cNvPr>
          <p:cNvSpPr/>
          <p:nvPr/>
        </p:nvSpPr>
        <p:spPr>
          <a:xfrm>
            <a:off x="11766233" y="6591300"/>
            <a:ext cx="5086089" cy="2479820"/>
          </a:xfrm>
          <a:prstGeom prst="roundRect">
            <a:avLst>
              <a:gd name="adj" fmla="val 420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b"/>
          <a:lstStyle/>
          <a:p>
            <a:pPr algn="ctr"/>
            <a:r>
              <a:rPr lang="en-SG" sz="1400" b="1" dirty="0">
                <a:solidFill>
                  <a:srgbClr val="595959"/>
                </a:solidFill>
                <a:latin typeface="Nunito" pitchFamily="2" charset="0"/>
              </a:rPr>
              <a:t>Model Registry (</a:t>
            </a:r>
            <a:r>
              <a:rPr lang="en-SG" sz="1400" b="1" dirty="0" err="1">
                <a:solidFill>
                  <a:srgbClr val="595959"/>
                </a:solidFill>
                <a:latin typeface="Nunito" pitchFamily="2" charset="0"/>
              </a:rPr>
              <a:t>MLflow</a:t>
            </a:r>
            <a:r>
              <a:rPr lang="en-SG" sz="1400" b="1" dirty="0">
                <a:solidFill>
                  <a:srgbClr val="595959"/>
                </a:solidFill>
                <a:latin typeface="Nunito" pitchFamily="2" charset="0"/>
              </a:rPr>
              <a:t>)</a:t>
            </a:r>
          </a:p>
        </p:txBody>
      </p:sp>
      <p:cxnSp>
        <p:nvCxnSpPr>
          <p:cNvPr id="276" name="Straight Arrow Connector 80">
            <a:extLst>
              <a:ext uri="{FF2B5EF4-FFF2-40B4-BE49-F238E27FC236}">
                <a16:creationId xmlns:a16="http://schemas.microsoft.com/office/drawing/2014/main" id="{DE1D690D-6AA0-AE7A-946A-E9364D8C7BD0}"/>
              </a:ext>
            </a:extLst>
          </p:cNvPr>
          <p:cNvCxnSpPr>
            <a:cxnSpLocks/>
            <a:stCxn id="243" idx="3"/>
            <a:endCxn id="280" idx="1"/>
          </p:cNvCxnSpPr>
          <p:nvPr/>
        </p:nvCxnSpPr>
        <p:spPr>
          <a:xfrm>
            <a:off x="10744199" y="1528646"/>
            <a:ext cx="841580" cy="1300231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80">
            <a:extLst>
              <a:ext uri="{FF2B5EF4-FFF2-40B4-BE49-F238E27FC236}">
                <a16:creationId xmlns:a16="http://schemas.microsoft.com/office/drawing/2014/main" id="{48803DBF-523D-B597-ADF4-6387E1902B8B}"/>
              </a:ext>
            </a:extLst>
          </p:cNvPr>
          <p:cNvCxnSpPr>
            <a:cxnSpLocks/>
            <a:stCxn id="334" idx="2"/>
            <a:endCxn id="332" idx="0"/>
          </p:cNvCxnSpPr>
          <p:nvPr/>
        </p:nvCxnSpPr>
        <p:spPr>
          <a:xfrm rot="16200000" flipH="1">
            <a:off x="12748472" y="5155679"/>
            <a:ext cx="1613229" cy="193893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: Single Corner Rounded 295">
            <a:extLst>
              <a:ext uri="{FF2B5EF4-FFF2-40B4-BE49-F238E27FC236}">
                <a16:creationId xmlns:a16="http://schemas.microsoft.com/office/drawing/2014/main" id="{37087BC3-8535-8DA4-1F42-D7328627334C}"/>
              </a:ext>
            </a:extLst>
          </p:cNvPr>
          <p:cNvSpPr/>
          <p:nvPr/>
        </p:nvSpPr>
        <p:spPr>
          <a:xfrm>
            <a:off x="12128417" y="6896100"/>
            <a:ext cx="914400" cy="814481"/>
          </a:xfrm>
          <a:prstGeom prst="round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model_v1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297" name="Rectangle: Single Corner Rounded 296">
            <a:extLst>
              <a:ext uri="{FF2B5EF4-FFF2-40B4-BE49-F238E27FC236}">
                <a16:creationId xmlns:a16="http://schemas.microsoft.com/office/drawing/2014/main" id="{C372D52C-9260-5E9B-B4F6-152A9EE78669}"/>
              </a:ext>
            </a:extLst>
          </p:cNvPr>
          <p:cNvSpPr/>
          <p:nvPr/>
        </p:nvSpPr>
        <p:spPr>
          <a:xfrm>
            <a:off x="13258800" y="6896100"/>
            <a:ext cx="914400" cy="814481"/>
          </a:xfrm>
          <a:prstGeom prst="round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model_v2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299" name="Straight Arrow Connector 80">
            <a:extLst>
              <a:ext uri="{FF2B5EF4-FFF2-40B4-BE49-F238E27FC236}">
                <a16:creationId xmlns:a16="http://schemas.microsoft.com/office/drawing/2014/main" id="{00D6CA47-8914-7172-AD7F-D533D26EA716}"/>
              </a:ext>
            </a:extLst>
          </p:cNvPr>
          <p:cNvCxnSpPr>
            <a:cxnSpLocks/>
            <a:stCxn id="336" idx="2"/>
            <a:endCxn id="303" idx="0"/>
          </p:cNvCxnSpPr>
          <p:nvPr/>
        </p:nvCxnSpPr>
        <p:spPr>
          <a:xfrm rot="16200000" flipH="1">
            <a:off x="14893670" y="5818446"/>
            <a:ext cx="1583009" cy="583183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TextBox 321">
            <a:extLst>
              <a:ext uri="{FF2B5EF4-FFF2-40B4-BE49-F238E27FC236}">
                <a16:creationId xmlns:a16="http://schemas.microsoft.com/office/drawing/2014/main" id="{5297D6FB-1433-946F-5343-2232F332165E}"/>
              </a:ext>
            </a:extLst>
          </p:cNvPr>
          <p:cNvSpPr txBox="1"/>
          <p:nvPr/>
        </p:nvSpPr>
        <p:spPr>
          <a:xfrm>
            <a:off x="12533738" y="5402633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output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candidate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A14A2572-3553-0F30-06C3-CDC672A39EC6}"/>
              </a:ext>
            </a:extLst>
          </p:cNvPr>
          <p:cNvSpPr txBox="1"/>
          <p:nvPr/>
        </p:nvSpPr>
        <p:spPr>
          <a:xfrm>
            <a:off x="13868400" y="5390244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evaluate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candidate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71410B19-E518-7903-A415-959778ED7C6F}"/>
              </a:ext>
            </a:extLst>
          </p:cNvPr>
          <p:cNvSpPr txBox="1"/>
          <p:nvPr/>
        </p:nvSpPr>
        <p:spPr>
          <a:xfrm>
            <a:off x="15344775" y="5402633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output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promoted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cxnSp>
        <p:nvCxnSpPr>
          <p:cNvPr id="325" name="Straight Arrow Connector 80">
            <a:extLst>
              <a:ext uri="{FF2B5EF4-FFF2-40B4-BE49-F238E27FC236}">
                <a16:creationId xmlns:a16="http://schemas.microsoft.com/office/drawing/2014/main" id="{3BA065FD-3576-F151-E32E-AB8889321934}"/>
              </a:ext>
            </a:extLst>
          </p:cNvPr>
          <p:cNvCxnSpPr>
            <a:cxnSpLocks/>
            <a:stCxn id="328" idx="0"/>
            <a:endCxn id="330" idx="2"/>
          </p:cNvCxnSpPr>
          <p:nvPr/>
        </p:nvCxnSpPr>
        <p:spPr>
          <a:xfrm rot="16200000" flipV="1">
            <a:off x="14161766" y="6003152"/>
            <a:ext cx="1624253" cy="25501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Rectangle 327">
            <a:extLst>
              <a:ext uri="{FF2B5EF4-FFF2-40B4-BE49-F238E27FC236}">
                <a16:creationId xmlns:a16="http://schemas.microsoft.com/office/drawing/2014/main" id="{2C6351CD-8C54-E670-1313-78D922E6AFAE}"/>
              </a:ext>
            </a:extLst>
          </p:cNvPr>
          <p:cNvSpPr/>
          <p:nvPr/>
        </p:nvSpPr>
        <p:spPr>
          <a:xfrm>
            <a:off x="15011400" y="694278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7E39ECA3-7917-FD90-6437-80F3D70BBB06}"/>
              </a:ext>
            </a:extLst>
          </p:cNvPr>
          <p:cNvSpPr/>
          <p:nvPr/>
        </p:nvSpPr>
        <p:spPr>
          <a:xfrm>
            <a:off x="14756383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3B441DEE-F1F8-9705-B68A-BF59715CDC27}"/>
              </a:ext>
            </a:extLst>
          </p:cNvPr>
          <p:cNvSpPr/>
          <p:nvPr/>
        </p:nvSpPr>
        <p:spPr>
          <a:xfrm>
            <a:off x="14434555" y="6931763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44795B03-B5B3-67E3-DB70-E53917AC623C}"/>
              </a:ext>
            </a:extLst>
          </p:cNvPr>
          <p:cNvSpPr/>
          <p:nvPr/>
        </p:nvSpPr>
        <p:spPr>
          <a:xfrm>
            <a:off x="12495617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C8C08278-8E3C-C5B2-4480-D19D1A8EAFB3}"/>
              </a:ext>
            </a:extLst>
          </p:cNvPr>
          <p:cNvSpPr/>
          <p:nvPr/>
        </p:nvSpPr>
        <p:spPr>
          <a:xfrm>
            <a:off x="15303583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E56337B1-3465-6535-393B-1E6E982AA5EA}"/>
              </a:ext>
            </a:extLst>
          </p:cNvPr>
          <p:cNvSpPr txBox="1"/>
          <p:nvPr/>
        </p:nvSpPr>
        <p:spPr>
          <a:xfrm>
            <a:off x="15554036" y="7433583"/>
            <a:ext cx="845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Active</a:t>
            </a:r>
          </a:p>
        </p:txBody>
      </p:sp>
      <p:sp>
        <p:nvSpPr>
          <p:cNvPr id="280" name="Rectangle: Folded Corner 279">
            <a:extLst>
              <a:ext uri="{FF2B5EF4-FFF2-40B4-BE49-F238E27FC236}">
                <a16:creationId xmlns:a16="http://schemas.microsoft.com/office/drawing/2014/main" id="{5FFBB9B3-12C8-5DEA-0529-2520158512A0}"/>
              </a:ext>
            </a:extLst>
          </p:cNvPr>
          <p:cNvSpPr/>
          <p:nvPr/>
        </p:nvSpPr>
        <p:spPr>
          <a:xfrm>
            <a:off x="11585779" y="324738"/>
            <a:ext cx="2664000" cy="5008278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train.py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Splits data temporally (Train/Val/Test/OOT)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Applies SMOTE on training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Runs 5-fold time-series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CV Trains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XGBoost</a:t>
            </a: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 and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LightGBM</a:t>
            </a: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Optuna</a:t>
            </a: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 tunes hyperparameters against validation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All runs logged to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endParaRPr lang="en-SG" sz="16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290" name="Rectangle: Folded Corner 289">
            <a:extLst>
              <a:ext uri="{FF2B5EF4-FFF2-40B4-BE49-F238E27FC236}">
                <a16:creationId xmlns:a16="http://schemas.microsoft.com/office/drawing/2014/main" id="{44B1CF7C-B6CB-A968-0D15-1F8E3D7B90C4}"/>
              </a:ext>
            </a:extLst>
          </p:cNvPr>
          <p:cNvSpPr/>
          <p:nvPr/>
        </p:nvSpPr>
        <p:spPr>
          <a:xfrm>
            <a:off x="14404800" y="324737"/>
            <a:ext cx="2664000" cy="5008277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evaluate.py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Test set metrics such as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Precision, Recall, F1, AUC-ROC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SHAP values generated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Spatial accuracy check run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Evaluate against OOT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PSI — measures if feature distributions have shifted vs training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CSI — measures if individual feature contributions have shifted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Promotion gate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Recall &gt; 0.70 on test set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OOT perf within acceptable degradation over time (OOT drop &lt; 10pp)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Register as Production in </a:t>
            </a:r>
            <a:r>
              <a:rPr lang="en-US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 if </a:t>
            </a:r>
            <a:r>
              <a:rPr lang="en-US" sz="1200" b="1" dirty="0">
                <a:solidFill>
                  <a:srgbClr val="6B7A7A"/>
                </a:solidFill>
                <a:latin typeface="Nunito" pitchFamily="2" charset="0"/>
              </a:rPr>
              <a:t>PASS</a:t>
            </a:r>
          </a:p>
        </p:txBody>
      </p:sp>
      <p:sp>
        <p:nvSpPr>
          <p:cNvPr id="298" name="Rectangle: Single Corner Rounded 297">
            <a:extLst>
              <a:ext uri="{FF2B5EF4-FFF2-40B4-BE49-F238E27FC236}">
                <a16:creationId xmlns:a16="http://schemas.microsoft.com/office/drawing/2014/main" id="{ACE61A64-6F87-CB11-8C75-E32E6000DE94}"/>
              </a:ext>
            </a:extLst>
          </p:cNvPr>
          <p:cNvSpPr/>
          <p:nvPr/>
        </p:nvSpPr>
        <p:spPr>
          <a:xfrm>
            <a:off x="14389183" y="6896100"/>
            <a:ext cx="914400" cy="814481"/>
          </a:xfrm>
          <a:prstGeom prst="round1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model_v3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3F0DEFF2-47F1-83D5-6880-06D29B339B1E}"/>
              </a:ext>
            </a:extLst>
          </p:cNvPr>
          <p:cNvSpPr txBox="1"/>
          <p:nvPr/>
        </p:nvSpPr>
        <p:spPr>
          <a:xfrm>
            <a:off x="14423653" y="7429501"/>
            <a:ext cx="845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Candidate</a:t>
            </a:r>
          </a:p>
        </p:txBody>
      </p:sp>
      <p:sp>
        <p:nvSpPr>
          <p:cNvPr id="378" name="Rounded Rectangle 45">
            <a:extLst>
              <a:ext uri="{FF2B5EF4-FFF2-40B4-BE49-F238E27FC236}">
                <a16:creationId xmlns:a16="http://schemas.microsoft.com/office/drawing/2014/main" id="{EE5F1516-CBA8-2E90-FC5A-81909733778D}"/>
              </a:ext>
            </a:extLst>
          </p:cNvPr>
          <p:cNvSpPr/>
          <p:nvPr/>
        </p:nvSpPr>
        <p:spPr>
          <a:xfrm>
            <a:off x="8103960" y="6734970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Reads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subzone_features</a:t>
            </a:r>
            <a:endParaRPr lang="en-US" sz="1000" b="1" dirty="0">
              <a:solidFill>
                <a:srgbClr val="1B4332"/>
              </a:solidFill>
              <a:latin typeface="Nunito" pitchFamily="2" charset="0"/>
            </a:endParaRP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(all 330 subzones)</a:t>
            </a:r>
          </a:p>
        </p:txBody>
      </p:sp>
      <p:cxnSp>
        <p:nvCxnSpPr>
          <p:cNvPr id="384" name="Straight Arrow Connector 80">
            <a:extLst>
              <a:ext uri="{FF2B5EF4-FFF2-40B4-BE49-F238E27FC236}">
                <a16:creationId xmlns:a16="http://schemas.microsoft.com/office/drawing/2014/main" id="{E218DD51-33B5-76D2-A96E-135962323066}"/>
              </a:ext>
            </a:extLst>
          </p:cNvPr>
          <p:cNvCxnSpPr>
            <a:cxnSpLocks/>
            <a:stCxn id="540" idx="3"/>
            <a:endCxn id="378" idx="0"/>
          </p:cNvCxnSpPr>
          <p:nvPr/>
        </p:nvCxnSpPr>
        <p:spPr>
          <a:xfrm flipH="1">
            <a:off x="8814480" y="3185168"/>
            <a:ext cx="1934972" cy="3549802"/>
          </a:xfrm>
          <a:prstGeom prst="bentConnector4">
            <a:avLst>
              <a:gd name="adj1" fmla="val -36755"/>
              <a:gd name="adj2" fmla="val 95631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Arrow Connector 80">
            <a:extLst>
              <a:ext uri="{FF2B5EF4-FFF2-40B4-BE49-F238E27FC236}">
                <a16:creationId xmlns:a16="http://schemas.microsoft.com/office/drawing/2014/main" id="{D3AA1005-E6FE-5D13-591A-219E9276B7F2}"/>
              </a:ext>
            </a:extLst>
          </p:cNvPr>
          <p:cNvCxnSpPr>
            <a:cxnSpLocks/>
            <a:stCxn id="350" idx="1"/>
            <a:endCxn id="378" idx="3"/>
          </p:cNvCxnSpPr>
          <p:nvPr/>
        </p:nvCxnSpPr>
        <p:spPr>
          <a:xfrm rot="10800000">
            <a:off x="9525001" y="7049858"/>
            <a:ext cx="400097" cy="444819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: Elbow 401">
            <a:extLst>
              <a:ext uri="{FF2B5EF4-FFF2-40B4-BE49-F238E27FC236}">
                <a16:creationId xmlns:a16="http://schemas.microsoft.com/office/drawing/2014/main" id="{4F1CAFD9-71DB-0136-7056-6CF8918861A5}"/>
              </a:ext>
            </a:extLst>
          </p:cNvPr>
          <p:cNvCxnSpPr>
            <a:cxnSpLocks/>
            <a:stCxn id="350" idx="3"/>
            <a:endCxn id="464" idx="2"/>
          </p:cNvCxnSpPr>
          <p:nvPr/>
        </p:nvCxnSpPr>
        <p:spPr>
          <a:xfrm>
            <a:off x="11346137" y="7494676"/>
            <a:ext cx="4299163" cy="198768"/>
          </a:xfrm>
          <a:prstGeom prst="bentConnector4">
            <a:avLst>
              <a:gd name="adj1" fmla="val 4937"/>
              <a:gd name="adj2" fmla="val 869917"/>
            </a:avLst>
          </a:prstGeom>
          <a:ln>
            <a:solidFill>
              <a:srgbClr val="1C3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Rounded Rectangle 45">
            <a:extLst>
              <a:ext uri="{FF2B5EF4-FFF2-40B4-BE49-F238E27FC236}">
                <a16:creationId xmlns:a16="http://schemas.microsoft.com/office/drawing/2014/main" id="{6FD0C912-59C9-CA39-0F28-00C5E957F3D8}"/>
              </a:ext>
            </a:extLst>
          </p:cNvPr>
          <p:cNvSpPr/>
          <p:nvPr/>
        </p:nvSpPr>
        <p:spPr>
          <a:xfrm>
            <a:off x="8103960" y="7677526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Model loaded from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MLflow</a:t>
            </a:r>
            <a:endParaRPr lang="en-US" sz="1000" i="1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411" name="Straight Arrow Connector 80">
            <a:extLst>
              <a:ext uri="{FF2B5EF4-FFF2-40B4-BE49-F238E27FC236}">
                <a16:creationId xmlns:a16="http://schemas.microsoft.com/office/drawing/2014/main" id="{D6EEC496-572C-05E0-0828-BCED2DA79A87}"/>
              </a:ext>
            </a:extLst>
          </p:cNvPr>
          <p:cNvCxnSpPr>
            <a:cxnSpLocks/>
            <a:stCxn id="350" idx="1"/>
            <a:endCxn id="409" idx="3"/>
          </p:cNvCxnSpPr>
          <p:nvPr/>
        </p:nvCxnSpPr>
        <p:spPr>
          <a:xfrm rot="10800000" flipV="1">
            <a:off x="9525001" y="7494675"/>
            <a:ext cx="400097" cy="49773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80">
            <a:extLst>
              <a:ext uri="{FF2B5EF4-FFF2-40B4-BE49-F238E27FC236}">
                <a16:creationId xmlns:a16="http://schemas.microsoft.com/office/drawing/2014/main" id="{13F2DDCB-6057-2AC0-8C16-27B406D5480B}"/>
              </a:ext>
            </a:extLst>
          </p:cNvPr>
          <p:cNvCxnSpPr>
            <a:cxnSpLocks/>
            <a:stCxn id="378" idx="1"/>
            <a:endCxn id="429" idx="4"/>
          </p:cNvCxnSpPr>
          <p:nvPr/>
        </p:nvCxnSpPr>
        <p:spPr>
          <a:xfrm rot="10800000">
            <a:off x="6879192" y="5756449"/>
            <a:ext cx="1224769" cy="129340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Arrow Connector 80">
            <a:extLst>
              <a:ext uri="{FF2B5EF4-FFF2-40B4-BE49-F238E27FC236}">
                <a16:creationId xmlns:a16="http://schemas.microsoft.com/office/drawing/2014/main" id="{54B15F1A-6DFB-2EF6-C2D2-F4F2D6CAD310}"/>
              </a:ext>
            </a:extLst>
          </p:cNvPr>
          <p:cNvCxnSpPr>
            <a:cxnSpLocks/>
            <a:stCxn id="409" idx="1"/>
            <a:endCxn id="429" idx="4"/>
          </p:cNvCxnSpPr>
          <p:nvPr/>
        </p:nvCxnSpPr>
        <p:spPr>
          <a:xfrm rot="10800000">
            <a:off x="6879192" y="5756449"/>
            <a:ext cx="1224769" cy="2235964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Cylinder 428">
            <a:extLst>
              <a:ext uri="{FF2B5EF4-FFF2-40B4-BE49-F238E27FC236}">
                <a16:creationId xmlns:a16="http://schemas.microsoft.com/office/drawing/2014/main" id="{B38DE5E1-375D-F2EB-439D-83914121E1DA}"/>
              </a:ext>
            </a:extLst>
          </p:cNvPr>
          <p:cNvSpPr/>
          <p:nvPr/>
        </p:nvSpPr>
        <p:spPr>
          <a:xfrm>
            <a:off x="5799191" y="537879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risk_tier</a:t>
            </a:r>
            <a:endParaRPr lang="en-SG" sz="12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2C97D3D0-9583-CC26-E4F9-67FFC1C86B78}"/>
              </a:ext>
            </a:extLst>
          </p:cNvPr>
          <p:cNvSpPr txBox="1"/>
          <p:nvPr/>
        </p:nvSpPr>
        <p:spPr>
          <a:xfrm>
            <a:off x="5982132" y="5351158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7B870D57-691C-9FB1-7D0F-A74F09C56141}"/>
              </a:ext>
            </a:extLst>
          </p:cNvPr>
          <p:cNvSpPr txBox="1"/>
          <p:nvPr/>
        </p:nvSpPr>
        <p:spPr>
          <a:xfrm>
            <a:off x="7467600" y="7154213"/>
            <a:ext cx="79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scores and output</a:t>
            </a:r>
          </a:p>
        </p:txBody>
      </p:sp>
      <p:pic>
        <p:nvPicPr>
          <p:cNvPr id="444" name="Picture 443" descr="Dashboard Icon PNG Images, Vectors Free Download - Pngtree">
            <a:extLst>
              <a:ext uri="{FF2B5EF4-FFF2-40B4-BE49-F238E27FC236}">
                <a16:creationId xmlns:a16="http://schemas.microsoft.com/office/drawing/2014/main" id="{3D87EC1B-15F2-5549-3746-028EC32061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47" t="15601" r="7810" b="14900"/>
          <a:stretch>
            <a:fillRect/>
          </a:stretch>
        </p:blipFill>
        <p:spPr>
          <a:xfrm>
            <a:off x="5709413" y="6942670"/>
            <a:ext cx="1235273" cy="1010678"/>
          </a:xfrm>
          <a:prstGeom prst="rect">
            <a:avLst/>
          </a:prstGeom>
        </p:spPr>
      </p:pic>
      <p:cxnSp>
        <p:nvCxnSpPr>
          <p:cNvPr id="447" name="Straight Arrow Connector 80">
            <a:extLst>
              <a:ext uri="{FF2B5EF4-FFF2-40B4-BE49-F238E27FC236}">
                <a16:creationId xmlns:a16="http://schemas.microsoft.com/office/drawing/2014/main" id="{4F22ABCD-3D02-DC63-6E2D-0D3C2DE4B00C}"/>
              </a:ext>
            </a:extLst>
          </p:cNvPr>
          <p:cNvCxnSpPr>
            <a:cxnSpLocks/>
            <a:stCxn id="429" idx="3"/>
            <a:endCxn id="444" idx="0"/>
          </p:cNvCxnSpPr>
          <p:nvPr/>
        </p:nvCxnSpPr>
        <p:spPr>
          <a:xfrm rot="5400000">
            <a:off x="5928836" y="6532315"/>
            <a:ext cx="808570" cy="12141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Rectangle 452">
            <a:extLst>
              <a:ext uri="{FF2B5EF4-FFF2-40B4-BE49-F238E27FC236}">
                <a16:creationId xmlns:a16="http://schemas.microsoft.com/office/drawing/2014/main" id="{017F0562-1D34-C6C4-44FF-4BED5F02598C}"/>
              </a:ext>
            </a:extLst>
          </p:cNvPr>
          <p:cNvSpPr/>
          <p:nvPr/>
        </p:nvSpPr>
        <p:spPr>
          <a:xfrm>
            <a:off x="6052763" y="6290491"/>
            <a:ext cx="540000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API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pic>
        <p:nvPicPr>
          <p:cNvPr id="454" name="Picture 453" descr="Sign Up for Banking Account Alerts | Community First Credit Union">
            <a:extLst>
              <a:ext uri="{FF2B5EF4-FFF2-40B4-BE49-F238E27FC236}">
                <a16:creationId xmlns:a16="http://schemas.microsoft.com/office/drawing/2014/main" id="{5120ADB9-DF20-3169-FB28-10E97AF174ED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1261" t="10517" r="24760" b="12979"/>
          <a:stretch>
            <a:fillRect/>
          </a:stretch>
        </p:blipFill>
        <p:spPr>
          <a:xfrm>
            <a:off x="3440616" y="7031059"/>
            <a:ext cx="841457" cy="795055"/>
          </a:xfrm>
          <a:prstGeom prst="rect">
            <a:avLst/>
          </a:prstGeom>
        </p:spPr>
      </p:pic>
      <p:sp>
        <p:nvSpPr>
          <p:cNvPr id="455" name="TextBox 454">
            <a:extLst>
              <a:ext uri="{FF2B5EF4-FFF2-40B4-BE49-F238E27FC236}">
                <a16:creationId xmlns:a16="http://schemas.microsoft.com/office/drawing/2014/main" id="{E79454C9-3612-304E-7C93-ACEA541298C4}"/>
              </a:ext>
            </a:extLst>
          </p:cNvPr>
          <p:cNvSpPr txBox="1"/>
          <p:nvPr/>
        </p:nvSpPr>
        <p:spPr>
          <a:xfrm>
            <a:off x="5801359" y="7968213"/>
            <a:ext cx="1091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Dashboard</a:t>
            </a:r>
          </a:p>
        </p:txBody>
      </p:sp>
      <p:sp>
        <p:nvSpPr>
          <p:cNvPr id="456" name="Rounded Rectangle 45">
            <a:extLst>
              <a:ext uri="{FF2B5EF4-FFF2-40B4-BE49-F238E27FC236}">
                <a16:creationId xmlns:a16="http://schemas.microsoft.com/office/drawing/2014/main" id="{8F88C75B-C8C0-090A-22D7-E8B22BF50096}"/>
              </a:ext>
            </a:extLst>
          </p:cNvPr>
          <p:cNvSpPr/>
          <p:nvPr/>
        </p:nvSpPr>
        <p:spPr>
          <a:xfrm>
            <a:off x="9906000" y="9059213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Model loaded at start-up and stored in memory.</a:t>
            </a:r>
            <a:endParaRPr lang="en-US" sz="1000" i="1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459" name="Connector: Elbow 458">
            <a:extLst>
              <a:ext uri="{FF2B5EF4-FFF2-40B4-BE49-F238E27FC236}">
                <a16:creationId xmlns:a16="http://schemas.microsoft.com/office/drawing/2014/main" id="{E55C0BA9-329E-F979-69CB-2BBB84DB3D63}"/>
              </a:ext>
            </a:extLst>
          </p:cNvPr>
          <p:cNvCxnSpPr>
            <a:cxnSpLocks/>
            <a:stCxn id="456" idx="3"/>
            <a:endCxn id="462" idx="2"/>
          </p:cNvCxnSpPr>
          <p:nvPr/>
        </p:nvCxnSpPr>
        <p:spPr>
          <a:xfrm flipV="1">
            <a:off x="11327040" y="7710582"/>
            <a:ext cx="4991692" cy="1663518"/>
          </a:xfrm>
          <a:prstGeom prst="bentConnector2">
            <a:avLst/>
          </a:prstGeom>
          <a:ln>
            <a:solidFill>
              <a:srgbClr val="1C3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Rounded Rectangle 45">
            <a:extLst>
              <a:ext uri="{FF2B5EF4-FFF2-40B4-BE49-F238E27FC236}">
                <a16:creationId xmlns:a16="http://schemas.microsoft.com/office/drawing/2014/main" id="{2CA4AA9D-2479-FC7B-84A3-17AC622DA5C7}"/>
              </a:ext>
            </a:extLst>
          </p:cNvPr>
          <p:cNvSpPr/>
          <p:nvPr/>
        </p:nvSpPr>
        <p:spPr>
          <a:xfrm>
            <a:off x="8096377" y="9059213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Reads both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subzone_features</a:t>
            </a:r>
            <a:endParaRPr lang="en-US" sz="1000" b="1" dirty="0">
              <a:solidFill>
                <a:srgbClr val="1B4332"/>
              </a:solidFill>
              <a:latin typeface="Nunito" pitchFamily="2" charset="0"/>
            </a:endParaRPr>
          </a:p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and REDIS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792904E3-7AE6-A485-860E-402CC13BEDA3}"/>
              </a:ext>
            </a:extLst>
          </p:cNvPr>
          <p:cNvSpPr txBox="1"/>
          <p:nvPr/>
        </p:nvSpPr>
        <p:spPr>
          <a:xfrm>
            <a:off x="3324859" y="7838301"/>
            <a:ext cx="1091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Mobile Alert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5FF61E14-0481-FBD5-FDA3-A7AE3A1F74DA}"/>
              </a:ext>
            </a:extLst>
          </p:cNvPr>
          <p:cNvSpPr txBox="1"/>
          <p:nvPr/>
        </p:nvSpPr>
        <p:spPr>
          <a:xfrm>
            <a:off x="49079" y="4612889"/>
            <a:ext cx="1551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Operational Data</a:t>
            </a:r>
          </a:p>
        </p:txBody>
      </p:sp>
      <p:sp>
        <p:nvSpPr>
          <p:cNvPr id="503" name="Cylinder 502">
            <a:extLst>
              <a:ext uri="{FF2B5EF4-FFF2-40B4-BE49-F238E27FC236}">
                <a16:creationId xmlns:a16="http://schemas.microsoft.com/office/drawing/2014/main" id="{9460250A-4BCC-258C-2356-9F42434A4737}"/>
              </a:ext>
            </a:extLst>
          </p:cNvPr>
          <p:cNvSpPr/>
          <p:nvPr/>
        </p:nvSpPr>
        <p:spPr>
          <a:xfrm>
            <a:off x="990600" y="537100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confirmed</a:t>
            </a:r>
          </a:p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cases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783D6E6D-D6E1-CEE4-9AC0-01BCEE1CC931}"/>
              </a:ext>
            </a:extLst>
          </p:cNvPr>
          <p:cNvSpPr txBox="1"/>
          <p:nvPr/>
        </p:nvSpPr>
        <p:spPr>
          <a:xfrm>
            <a:off x="1175080" y="5352656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05" name="Cylinder 504">
            <a:extLst>
              <a:ext uri="{FF2B5EF4-FFF2-40B4-BE49-F238E27FC236}">
                <a16:creationId xmlns:a16="http://schemas.microsoft.com/office/drawing/2014/main" id="{14AAD0F5-2CC5-9BBC-C8E2-E7C1B5DA3759}"/>
              </a:ext>
            </a:extLst>
          </p:cNvPr>
          <p:cNvSpPr/>
          <p:nvPr/>
        </p:nvSpPr>
        <p:spPr>
          <a:xfrm>
            <a:off x="3352800" y="533829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vulnerability</a:t>
            </a:r>
          </a:p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alerts</a:t>
            </a: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10B5E4BB-6928-A52B-7925-4A3EBDC21DE3}"/>
              </a:ext>
            </a:extLst>
          </p:cNvPr>
          <p:cNvSpPr txBox="1"/>
          <p:nvPr/>
        </p:nvSpPr>
        <p:spPr>
          <a:xfrm>
            <a:off x="3536773" y="5325818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60EA2855-B571-D4FB-FFFB-C8D45FC7C923}"/>
              </a:ext>
            </a:extLst>
          </p:cNvPr>
          <p:cNvSpPr txBox="1"/>
          <p:nvPr/>
        </p:nvSpPr>
        <p:spPr>
          <a:xfrm>
            <a:off x="-43911" y="7523704"/>
            <a:ext cx="103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Submission from Hospitals</a:t>
            </a:r>
          </a:p>
        </p:txBody>
      </p:sp>
      <p:sp>
        <p:nvSpPr>
          <p:cNvPr id="509" name="Flowchart: Document 508">
            <a:extLst>
              <a:ext uri="{FF2B5EF4-FFF2-40B4-BE49-F238E27FC236}">
                <a16:creationId xmlns:a16="http://schemas.microsoft.com/office/drawing/2014/main" id="{DFE8E068-5FC9-5EF6-D70F-C4FC84442CCB}"/>
              </a:ext>
            </a:extLst>
          </p:cNvPr>
          <p:cNvSpPr/>
          <p:nvPr/>
        </p:nvSpPr>
        <p:spPr>
          <a:xfrm>
            <a:off x="55665" y="6845547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confirmed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cases</a:t>
            </a:r>
          </a:p>
        </p:txBody>
      </p:sp>
      <p:cxnSp>
        <p:nvCxnSpPr>
          <p:cNvPr id="510" name="Straight Arrow Connector 80">
            <a:extLst>
              <a:ext uri="{FF2B5EF4-FFF2-40B4-BE49-F238E27FC236}">
                <a16:creationId xmlns:a16="http://schemas.microsoft.com/office/drawing/2014/main" id="{73D72D01-7335-7D93-4CB4-BDE91B7EE1FB}"/>
              </a:ext>
            </a:extLst>
          </p:cNvPr>
          <p:cNvCxnSpPr>
            <a:cxnSpLocks/>
            <a:stCxn id="509" idx="0"/>
            <a:endCxn id="503" idx="2"/>
          </p:cNvCxnSpPr>
          <p:nvPr/>
        </p:nvCxnSpPr>
        <p:spPr>
          <a:xfrm rot="5400000" flipH="1" flipV="1">
            <a:off x="185774" y="6040722"/>
            <a:ext cx="1096895" cy="512757"/>
          </a:xfrm>
          <a:prstGeom prst="bentConnector2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" name="Rectangle 512">
            <a:extLst>
              <a:ext uri="{FF2B5EF4-FFF2-40B4-BE49-F238E27FC236}">
                <a16:creationId xmlns:a16="http://schemas.microsoft.com/office/drawing/2014/main" id="{64255F13-646D-5A3B-BF6C-2F32B7F0187C}"/>
              </a:ext>
            </a:extLst>
          </p:cNvPr>
          <p:cNvSpPr/>
          <p:nvPr/>
        </p:nvSpPr>
        <p:spPr>
          <a:xfrm>
            <a:off x="252709" y="6273155"/>
            <a:ext cx="540000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API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cxnSp>
        <p:nvCxnSpPr>
          <p:cNvPr id="515" name="Straight Arrow Connector 80">
            <a:extLst>
              <a:ext uri="{FF2B5EF4-FFF2-40B4-BE49-F238E27FC236}">
                <a16:creationId xmlns:a16="http://schemas.microsoft.com/office/drawing/2014/main" id="{800DFA71-8768-89EE-BA47-517101DE2745}"/>
              </a:ext>
            </a:extLst>
          </p:cNvPr>
          <p:cNvCxnSpPr>
            <a:cxnSpLocks/>
            <a:stCxn id="504" idx="0"/>
            <a:endCxn id="528" idx="1"/>
          </p:cNvCxnSpPr>
          <p:nvPr/>
        </p:nvCxnSpPr>
        <p:spPr>
          <a:xfrm rot="16200000" flipH="1">
            <a:off x="5260153" y="1623609"/>
            <a:ext cx="364643" cy="7822737"/>
          </a:xfrm>
          <a:prstGeom prst="bentConnector4">
            <a:avLst>
              <a:gd name="adj1" fmla="val -141055"/>
              <a:gd name="adj2" fmla="val 79672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3" name="TextBox 522">
            <a:extLst>
              <a:ext uri="{FF2B5EF4-FFF2-40B4-BE49-F238E27FC236}">
                <a16:creationId xmlns:a16="http://schemas.microsoft.com/office/drawing/2014/main" id="{1D6073A6-ACF3-0CB5-F089-65BE0F6CF56F}"/>
              </a:ext>
            </a:extLst>
          </p:cNvPr>
          <p:cNvSpPr txBox="1"/>
          <p:nvPr/>
        </p:nvSpPr>
        <p:spPr>
          <a:xfrm>
            <a:off x="2731469" y="4727916"/>
            <a:ext cx="4531795" cy="246221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000" b="1">
                <a:solidFill>
                  <a:srgbClr val="6B7A7A"/>
                </a:solidFill>
                <a:latin typeface="Nunito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 err="1"/>
              <a:t>FastAPI</a:t>
            </a:r>
            <a:r>
              <a:rPr lang="en-US" dirty="0"/>
              <a:t> updates Redis</a:t>
            </a:r>
            <a:r>
              <a:rPr lang="en-US" b="0" dirty="0"/>
              <a:t>: </a:t>
            </a:r>
            <a:r>
              <a:rPr lang="en-US" b="0" dirty="0" err="1"/>
              <a:t>current_week_case_count</a:t>
            </a:r>
            <a:r>
              <a:rPr lang="en-US" b="0" dirty="0"/>
              <a:t> + 1 for that subzone</a:t>
            </a:r>
            <a:endParaRPr lang="en-SG" b="0" dirty="0"/>
          </a:p>
        </p:txBody>
      </p:sp>
      <p:cxnSp>
        <p:nvCxnSpPr>
          <p:cNvPr id="534" name="Straight Arrow Connector 80">
            <a:extLst>
              <a:ext uri="{FF2B5EF4-FFF2-40B4-BE49-F238E27FC236}">
                <a16:creationId xmlns:a16="http://schemas.microsoft.com/office/drawing/2014/main" id="{9785BC68-C168-DF07-3914-718002D12208}"/>
              </a:ext>
            </a:extLst>
          </p:cNvPr>
          <p:cNvCxnSpPr>
            <a:cxnSpLocks/>
            <a:stCxn id="505" idx="3"/>
            <a:endCxn id="454" idx="0"/>
          </p:cNvCxnSpPr>
          <p:nvPr/>
        </p:nvCxnSpPr>
        <p:spPr>
          <a:xfrm rot="5400000">
            <a:off x="3408344" y="6546602"/>
            <a:ext cx="937459" cy="31455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5" name="Rectangle 534">
            <a:extLst>
              <a:ext uri="{FF2B5EF4-FFF2-40B4-BE49-F238E27FC236}">
                <a16:creationId xmlns:a16="http://schemas.microsoft.com/office/drawing/2014/main" id="{9A52D3C8-E971-2597-4EFD-14226E5D8D7E}"/>
              </a:ext>
            </a:extLst>
          </p:cNvPr>
          <p:cNvSpPr/>
          <p:nvPr/>
        </p:nvSpPr>
        <p:spPr>
          <a:xfrm>
            <a:off x="3416563" y="6328590"/>
            <a:ext cx="869675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AWS SNS Push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cxnSp>
        <p:nvCxnSpPr>
          <p:cNvPr id="552" name="Straight Arrow Connector 80">
            <a:extLst>
              <a:ext uri="{FF2B5EF4-FFF2-40B4-BE49-F238E27FC236}">
                <a16:creationId xmlns:a16="http://schemas.microsoft.com/office/drawing/2014/main" id="{082240A0-E57F-9607-FCB8-9FC3E0995058}"/>
              </a:ext>
            </a:extLst>
          </p:cNvPr>
          <p:cNvCxnSpPr>
            <a:cxnSpLocks/>
            <a:stCxn id="456" idx="1"/>
            <a:endCxn id="471" idx="3"/>
          </p:cNvCxnSpPr>
          <p:nvPr/>
        </p:nvCxnSpPr>
        <p:spPr>
          <a:xfrm flipH="1">
            <a:off x="9517417" y="9374100"/>
            <a:ext cx="388583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Arrow Connector 80">
            <a:extLst>
              <a:ext uri="{FF2B5EF4-FFF2-40B4-BE49-F238E27FC236}">
                <a16:creationId xmlns:a16="http://schemas.microsoft.com/office/drawing/2014/main" id="{68CA512B-C605-989A-005C-67FB6E190C37}"/>
              </a:ext>
            </a:extLst>
          </p:cNvPr>
          <p:cNvCxnSpPr>
            <a:cxnSpLocks/>
            <a:stCxn id="471" idx="1"/>
            <a:endCxn id="505" idx="4"/>
          </p:cNvCxnSpPr>
          <p:nvPr/>
        </p:nvCxnSpPr>
        <p:spPr>
          <a:xfrm rot="10800000">
            <a:off x="4432801" y="5715950"/>
            <a:ext cx="3663577" cy="3658151"/>
          </a:xfrm>
          <a:prstGeom prst="bentConnector3">
            <a:avLst>
              <a:gd name="adj1" fmla="val 80852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TextBox 566">
            <a:extLst>
              <a:ext uri="{FF2B5EF4-FFF2-40B4-BE49-F238E27FC236}">
                <a16:creationId xmlns:a16="http://schemas.microsoft.com/office/drawing/2014/main" id="{D62AB414-35CD-4B56-3D77-E2C78C6DB9AB}"/>
              </a:ext>
            </a:extLst>
          </p:cNvPr>
          <p:cNvSpPr txBox="1"/>
          <p:nvPr/>
        </p:nvSpPr>
        <p:spPr>
          <a:xfrm>
            <a:off x="5078476" y="8991600"/>
            <a:ext cx="258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model scores subzone</a:t>
            </a:r>
          </a:p>
          <a:p>
            <a:r>
              <a:rPr lang="en-US" sz="1200" dirty="0">
                <a:solidFill>
                  <a:srgbClr val="1C334E"/>
                </a:solidFill>
                <a:latin typeface="Nunito" pitchFamily="2" charset="0"/>
              </a:rPr>
              <a:t>Pushed only if score &gt; threshold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</a:t>
            </a:r>
          </a:p>
        </p:txBody>
      </p:sp>
      <p:cxnSp>
        <p:nvCxnSpPr>
          <p:cNvPr id="530" name="Straight Arrow Connector 80">
            <a:extLst>
              <a:ext uri="{FF2B5EF4-FFF2-40B4-BE49-F238E27FC236}">
                <a16:creationId xmlns:a16="http://schemas.microsoft.com/office/drawing/2014/main" id="{25F9A16A-749B-88DC-8F65-EDF1A5DD6B7F}"/>
              </a:ext>
            </a:extLst>
          </p:cNvPr>
          <p:cNvCxnSpPr>
            <a:cxnSpLocks/>
            <a:stCxn id="541" idx="3"/>
            <a:endCxn id="573" idx="0"/>
          </p:cNvCxnSpPr>
          <p:nvPr/>
        </p:nvCxnSpPr>
        <p:spPr>
          <a:xfrm flipH="1">
            <a:off x="9317172" y="3600821"/>
            <a:ext cx="1432280" cy="5471786"/>
          </a:xfrm>
          <a:prstGeom prst="bentConnector4">
            <a:avLst>
              <a:gd name="adj1" fmla="val -39015"/>
              <a:gd name="adj2" fmla="val 94921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Arrow Connector 80">
            <a:extLst>
              <a:ext uri="{FF2B5EF4-FFF2-40B4-BE49-F238E27FC236}">
                <a16:creationId xmlns:a16="http://schemas.microsoft.com/office/drawing/2014/main" id="{B83FB1D2-E9FD-B6F8-6FBC-85F3E472782A}"/>
              </a:ext>
            </a:extLst>
          </p:cNvPr>
          <p:cNvCxnSpPr>
            <a:cxnSpLocks/>
            <a:stCxn id="256" idx="4"/>
            <a:endCxn id="572" idx="0"/>
          </p:cNvCxnSpPr>
          <p:nvPr/>
        </p:nvCxnSpPr>
        <p:spPr>
          <a:xfrm flipH="1">
            <a:off x="9054000" y="5419417"/>
            <a:ext cx="1695452" cy="3651703"/>
          </a:xfrm>
          <a:prstGeom prst="bentConnector4">
            <a:avLst>
              <a:gd name="adj1" fmla="val -24157"/>
              <a:gd name="adj2" fmla="val 88124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ounded Rectangle 45">
            <a:extLst>
              <a:ext uri="{FF2B5EF4-FFF2-40B4-BE49-F238E27FC236}">
                <a16:creationId xmlns:a16="http://schemas.microsoft.com/office/drawing/2014/main" id="{1B02E842-C506-31B6-3EA3-915DC63BA187}"/>
              </a:ext>
            </a:extLst>
          </p:cNvPr>
          <p:cNvSpPr/>
          <p:nvPr/>
        </p:nvSpPr>
        <p:spPr>
          <a:xfrm>
            <a:off x="9925097" y="7179789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Airflow trigger</a:t>
            </a: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Mon 06:00 SGT</a:t>
            </a:r>
          </a:p>
        </p:txBody>
      </p:sp>
      <p:sp>
        <p:nvSpPr>
          <p:cNvPr id="601" name="Rounded Rectangle 45">
            <a:extLst>
              <a:ext uri="{FF2B5EF4-FFF2-40B4-BE49-F238E27FC236}">
                <a16:creationId xmlns:a16="http://schemas.microsoft.com/office/drawing/2014/main" id="{3485E6BE-4D3C-34E7-D6F0-D385DAEFEF76}"/>
              </a:ext>
            </a:extLst>
          </p:cNvPr>
          <p:cNvSpPr/>
          <p:nvPr/>
        </p:nvSpPr>
        <p:spPr>
          <a:xfrm>
            <a:off x="65748" y="8982441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Airflow trigger</a:t>
            </a: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Wed 06:00 SGT</a:t>
            </a:r>
          </a:p>
        </p:txBody>
      </p:sp>
      <p:cxnSp>
        <p:nvCxnSpPr>
          <p:cNvPr id="602" name="Straight Arrow Connector 80">
            <a:extLst>
              <a:ext uri="{FF2B5EF4-FFF2-40B4-BE49-F238E27FC236}">
                <a16:creationId xmlns:a16="http://schemas.microsoft.com/office/drawing/2014/main" id="{B67B8A7D-7478-951D-099A-43FC0E6A3A3A}"/>
              </a:ext>
            </a:extLst>
          </p:cNvPr>
          <p:cNvCxnSpPr>
            <a:cxnSpLocks/>
            <a:stCxn id="601" idx="3"/>
            <a:endCxn id="600" idx="1"/>
          </p:cNvCxnSpPr>
          <p:nvPr/>
        </p:nvCxnSpPr>
        <p:spPr>
          <a:xfrm>
            <a:off x="1486788" y="9297328"/>
            <a:ext cx="512617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Arrow Connector 80">
            <a:extLst>
              <a:ext uri="{FF2B5EF4-FFF2-40B4-BE49-F238E27FC236}">
                <a16:creationId xmlns:a16="http://schemas.microsoft.com/office/drawing/2014/main" id="{78B48C45-E4AE-5C82-B178-A4B9086C8490}"/>
              </a:ext>
            </a:extLst>
          </p:cNvPr>
          <p:cNvCxnSpPr>
            <a:cxnSpLocks/>
            <a:stCxn id="610" idx="3"/>
            <a:endCxn id="280" idx="0"/>
          </p:cNvCxnSpPr>
          <p:nvPr/>
        </p:nvCxnSpPr>
        <p:spPr>
          <a:xfrm flipV="1">
            <a:off x="4218600" y="324738"/>
            <a:ext cx="8699179" cy="9757962"/>
          </a:xfrm>
          <a:prstGeom prst="bentConnector4">
            <a:avLst>
              <a:gd name="adj1" fmla="val 148771"/>
              <a:gd name="adj2" fmla="val 102343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0" name="Rectangle: Folded Corner 599">
            <a:extLst>
              <a:ext uri="{FF2B5EF4-FFF2-40B4-BE49-F238E27FC236}">
                <a16:creationId xmlns:a16="http://schemas.microsoft.com/office/drawing/2014/main" id="{70D37E08-322D-3B8D-7643-7F98B416F34C}"/>
              </a:ext>
            </a:extLst>
          </p:cNvPr>
          <p:cNvSpPr/>
          <p:nvPr/>
        </p:nvSpPr>
        <p:spPr>
          <a:xfrm>
            <a:off x="1999405" y="8345755"/>
            <a:ext cx="2664000" cy="1903145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monitor.py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Compares recent predictions against confirmed 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Logs PSI/CSI metrics to </a:t>
            </a:r>
            <a:r>
              <a:rPr lang="en-US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Raises a drift alarm if thresholds breached</a:t>
            </a:r>
            <a:endParaRPr lang="en-SG" sz="16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303" name="Rectangle: Single Corner Rounded 302">
            <a:extLst>
              <a:ext uri="{FF2B5EF4-FFF2-40B4-BE49-F238E27FC236}">
                <a16:creationId xmlns:a16="http://schemas.microsoft.com/office/drawing/2014/main" id="{2BF02362-CAF9-51F4-125B-3375612CBF86}"/>
              </a:ext>
            </a:extLst>
          </p:cNvPr>
          <p:cNvSpPr/>
          <p:nvPr/>
        </p:nvSpPr>
        <p:spPr>
          <a:xfrm>
            <a:off x="15519566" y="6901543"/>
            <a:ext cx="914400" cy="814481"/>
          </a:xfrm>
          <a:prstGeom prst="round1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model_v3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4087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rgbClr val="F4EDE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7A6EB2-1A5F-A75E-FA3B-9AF85EA97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Rectangle 609">
            <a:extLst>
              <a:ext uri="{FF2B5EF4-FFF2-40B4-BE49-F238E27FC236}">
                <a16:creationId xmlns:a16="http://schemas.microsoft.com/office/drawing/2014/main" id="{6EA83119-E5CE-FE6C-1805-72941AE6CCBA}"/>
              </a:ext>
            </a:extLst>
          </p:cNvPr>
          <p:cNvSpPr/>
          <p:nvPr/>
        </p:nvSpPr>
        <p:spPr>
          <a:xfrm>
            <a:off x="4038600" y="999270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462" name="Rectangle 461">
            <a:extLst>
              <a:ext uri="{FF2B5EF4-FFF2-40B4-BE49-F238E27FC236}">
                <a16:creationId xmlns:a16="http://schemas.microsoft.com/office/drawing/2014/main" id="{440049E4-6993-4B21-F3D1-D025F1E2EB2B}"/>
              </a:ext>
            </a:extLst>
          </p:cNvPr>
          <p:cNvSpPr/>
          <p:nvPr/>
        </p:nvSpPr>
        <p:spPr>
          <a:xfrm>
            <a:off x="16228732" y="7530582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464" name="Rectangle 463">
            <a:extLst>
              <a:ext uri="{FF2B5EF4-FFF2-40B4-BE49-F238E27FC236}">
                <a16:creationId xmlns:a16="http://schemas.microsoft.com/office/drawing/2014/main" id="{7511A610-EE9A-1DC8-C643-FA9411F5F64A}"/>
              </a:ext>
            </a:extLst>
          </p:cNvPr>
          <p:cNvSpPr/>
          <p:nvPr/>
        </p:nvSpPr>
        <p:spPr>
          <a:xfrm>
            <a:off x="15555300" y="751344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26" name="Rectangle 525">
            <a:extLst>
              <a:ext uri="{FF2B5EF4-FFF2-40B4-BE49-F238E27FC236}">
                <a16:creationId xmlns:a16="http://schemas.microsoft.com/office/drawing/2014/main" id="{73855044-50B2-B06E-F55F-4F93D7FA1697}"/>
              </a:ext>
            </a:extLst>
          </p:cNvPr>
          <p:cNvSpPr/>
          <p:nvPr/>
        </p:nvSpPr>
        <p:spPr>
          <a:xfrm>
            <a:off x="9353844" y="5153016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28" name="Rectangle 527">
            <a:extLst>
              <a:ext uri="{FF2B5EF4-FFF2-40B4-BE49-F238E27FC236}">
                <a16:creationId xmlns:a16="http://schemas.microsoft.com/office/drawing/2014/main" id="{532A6662-BA97-1502-501A-6767AA1960B1}"/>
              </a:ext>
            </a:extLst>
          </p:cNvPr>
          <p:cNvSpPr/>
          <p:nvPr/>
        </p:nvSpPr>
        <p:spPr>
          <a:xfrm>
            <a:off x="9353844" y="5627299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40" name="Rectangle 539">
            <a:extLst>
              <a:ext uri="{FF2B5EF4-FFF2-40B4-BE49-F238E27FC236}">
                <a16:creationId xmlns:a16="http://schemas.microsoft.com/office/drawing/2014/main" id="{4B8A36D4-D261-BCBA-0D67-F33CB5544131}"/>
              </a:ext>
            </a:extLst>
          </p:cNvPr>
          <p:cNvSpPr/>
          <p:nvPr/>
        </p:nvSpPr>
        <p:spPr>
          <a:xfrm>
            <a:off x="10569452" y="3095168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41" name="Rectangle 540">
            <a:extLst>
              <a:ext uri="{FF2B5EF4-FFF2-40B4-BE49-F238E27FC236}">
                <a16:creationId xmlns:a16="http://schemas.microsoft.com/office/drawing/2014/main" id="{F0A464EE-98F9-7E75-BBE5-EE1DEF05B812}"/>
              </a:ext>
            </a:extLst>
          </p:cNvPr>
          <p:cNvSpPr/>
          <p:nvPr/>
        </p:nvSpPr>
        <p:spPr>
          <a:xfrm>
            <a:off x="10569452" y="3510821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72" name="Rectangle 571">
            <a:extLst>
              <a:ext uri="{FF2B5EF4-FFF2-40B4-BE49-F238E27FC236}">
                <a16:creationId xmlns:a16="http://schemas.microsoft.com/office/drawing/2014/main" id="{0D0161BB-35AD-E399-DAFB-BE422DE1BAF5}"/>
              </a:ext>
            </a:extLst>
          </p:cNvPr>
          <p:cNvSpPr/>
          <p:nvPr/>
        </p:nvSpPr>
        <p:spPr>
          <a:xfrm>
            <a:off x="8964000" y="9071120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573" name="Rectangle 572">
            <a:extLst>
              <a:ext uri="{FF2B5EF4-FFF2-40B4-BE49-F238E27FC236}">
                <a16:creationId xmlns:a16="http://schemas.microsoft.com/office/drawing/2014/main" id="{7FA0EB40-D676-2434-36C1-FDA035EEE7F1}"/>
              </a:ext>
            </a:extLst>
          </p:cNvPr>
          <p:cNvSpPr/>
          <p:nvPr/>
        </p:nvSpPr>
        <p:spPr>
          <a:xfrm>
            <a:off x="9227172" y="907260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9540D3A3-70B6-4C62-A77E-FD3A64B4AA5E}"/>
              </a:ext>
            </a:extLst>
          </p:cNvPr>
          <p:cNvSpPr/>
          <p:nvPr/>
        </p:nvSpPr>
        <p:spPr>
          <a:xfrm>
            <a:off x="46698" y="4611955"/>
            <a:ext cx="11002302" cy="1903145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5660DEAD-73F6-13B5-B012-D8B04E5F4665}"/>
              </a:ext>
            </a:extLst>
          </p:cNvPr>
          <p:cNvSpPr/>
          <p:nvPr/>
        </p:nvSpPr>
        <p:spPr>
          <a:xfrm>
            <a:off x="46698" y="45536"/>
            <a:ext cx="11002302" cy="4487514"/>
          </a:xfrm>
          <a:prstGeom prst="rect">
            <a:avLst/>
          </a:prstGeom>
          <a:noFill/>
          <a:ln w="3175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253D1E3-E479-F0A2-4F51-A13474D353C2}"/>
              </a:ext>
            </a:extLst>
          </p:cNvPr>
          <p:cNvSpPr txBox="1"/>
          <p:nvPr/>
        </p:nvSpPr>
        <p:spPr>
          <a:xfrm>
            <a:off x="49079" y="47738"/>
            <a:ext cx="139343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Historical Data</a:t>
            </a:r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863B9C52-5E20-35D2-3F71-7AD4926464F2}"/>
              </a:ext>
            </a:extLst>
          </p:cNvPr>
          <p:cNvGrpSpPr/>
          <p:nvPr/>
        </p:nvGrpSpPr>
        <p:grpSpPr>
          <a:xfrm>
            <a:off x="17259300" y="0"/>
            <a:ext cx="3086100" cy="10287000"/>
            <a:chOff x="0" y="0"/>
            <a:chExt cx="812800" cy="2709333"/>
          </a:xfrm>
        </p:grpSpPr>
        <p:sp>
          <p:nvSpPr>
            <p:cNvPr id="3" name="Freeform 3">
              <a:extLst>
                <a:ext uri="{FF2B5EF4-FFF2-40B4-BE49-F238E27FC236}">
                  <a16:creationId xmlns:a16="http://schemas.microsoft.com/office/drawing/2014/main" id="{0EE7B4B7-D9A0-2DB5-226B-D5B269C2DB8F}"/>
                </a:ext>
              </a:extLst>
            </p:cNvPr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90311" y="0"/>
                  </a:moveTo>
                  <a:lnTo>
                    <a:pt x="722489" y="0"/>
                  </a:lnTo>
                  <a:cubicBezTo>
                    <a:pt x="746441" y="0"/>
                    <a:pt x="769412" y="9515"/>
                    <a:pt x="786348" y="26452"/>
                  </a:cubicBezTo>
                  <a:cubicBezTo>
                    <a:pt x="803285" y="43388"/>
                    <a:pt x="812800" y="66359"/>
                    <a:pt x="812800" y="90311"/>
                  </a:cubicBezTo>
                  <a:lnTo>
                    <a:pt x="812800" y="2619022"/>
                  </a:lnTo>
                  <a:cubicBezTo>
                    <a:pt x="812800" y="2642974"/>
                    <a:pt x="803285" y="2665945"/>
                    <a:pt x="786348" y="2682882"/>
                  </a:cubicBezTo>
                  <a:cubicBezTo>
                    <a:pt x="769412" y="2699818"/>
                    <a:pt x="746441" y="2709333"/>
                    <a:pt x="722489" y="2709333"/>
                  </a:cubicBezTo>
                  <a:lnTo>
                    <a:pt x="90311" y="2709333"/>
                  </a:lnTo>
                  <a:cubicBezTo>
                    <a:pt x="40434" y="2709333"/>
                    <a:pt x="0" y="2668900"/>
                    <a:pt x="0" y="2619022"/>
                  </a:cubicBezTo>
                  <a:lnTo>
                    <a:pt x="0" y="90311"/>
                  </a:lnTo>
                  <a:cubicBezTo>
                    <a:pt x="0" y="66359"/>
                    <a:pt x="9515" y="43388"/>
                    <a:pt x="26452" y="26452"/>
                  </a:cubicBezTo>
                  <a:cubicBezTo>
                    <a:pt x="43388" y="9515"/>
                    <a:pt x="66359" y="0"/>
                    <a:pt x="90311" y="0"/>
                  </a:cubicBezTo>
                  <a:close/>
                </a:path>
              </a:pathLst>
            </a:custGeom>
            <a:solidFill>
              <a:srgbClr val="303870"/>
            </a:solidFill>
          </p:spPr>
          <p:txBody>
            <a:bodyPr/>
            <a:lstStyle/>
            <a:p>
              <a:endParaRPr lang="en-US">
                <a:latin typeface="Nunito" pitchFamily="2" charset="0"/>
              </a:endParaRPr>
            </a:p>
          </p:txBody>
        </p:sp>
        <p:sp>
          <p:nvSpPr>
            <p:cNvPr id="4" name="TextBox 4">
              <a:extLst>
                <a:ext uri="{FF2B5EF4-FFF2-40B4-BE49-F238E27FC236}">
                  <a16:creationId xmlns:a16="http://schemas.microsoft.com/office/drawing/2014/main" id="{0264464D-4005-74FD-5E22-8D5925618E19}"/>
                </a:ext>
              </a:extLst>
            </p:cNvPr>
            <p:cNvSpPr txBox="1"/>
            <p:nvPr/>
          </p:nvSpPr>
          <p:spPr>
            <a:xfrm>
              <a:off x="0" y="-95250"/>
              <a:ext cx="812800" cy="2804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87"/>
                </a:lnSpc>
              </a:pPr>
              <a:endParaRPr>
                <a:latin typeface="Nunito" pitchFamily="2" charset="0"/>
              </a:endParaRPr>
            </a:p>
          </p:txBody>
        </p:sp>
      </p:grp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9C55ADFF-B937-615E-081F-EA717F28363F}"/>
              </a:ext>
            </a:extLst>
          </p:cNvPr>
          <p:cNvSpPr/>
          <p:nvPr/>
        </p:nvSpPr>
        <p:spPr>
          <a:xfrm>
            <a:off x="1262314" y="208219"/>
            <a:ext cx="1800000" cy="4248135"/>
          </a:xfrm>
          <a:prstGeom prst="roundRect">
            <a:avLst>
              <a:gd name="adj" fmla="val 6819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Bronze</a:t>
            </a:r>
          </a:p>
        </p:txBody>
      </p:sp>
      <p:sp>
        <p:nvSpPr>
          <p:cNvPr id="9" name="Flowchart: Document 8">
            <a:extLst>
              <a:ext uri="{FF2B5EF4-FFF2-40B4-BE49-F238E27FC236}">
                <a16:creationId xmlns:a16="http://schemas.microsoft.com/office/drawing/2014/main" id="{CC880A40-7A87-C1F1-6F4D-3D970C2E453E}"/>
              </a:ext>
            </a:extLst>
          </p:cNvPr>
          <p:cNvSpPr/>
          <p:nvPr/>
        </p:nvSpPr>
        <p:spPr>
          <a:xfrm>
            <a:off x="257721" y="845673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SGCharts</a:t>
            </a: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10" name="Flowchart: Document 9">
            <a:extLst>
              <a:ext uri="{FF2B5EF4-FFF2-40B4-BE49-F238E27FC236}">
                <a16:creationId xmlns:a16="http://schemas.microsoft.com/office/drawing/2014/main" id="{38BE22DC-3BC5-4AD6-8E5F-3B4B195DE990}"/>
              </a:ext>
            </a:extLst>
          </p:cNvPr>
          <p:cNvSpPr/>
          <p:nvPr/>
        </p:nvSpPr>
        <p:spPr>
          <a:xfrm>
            <a:off x="257719" y="1757299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MSS Weather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11" name="Flowchart: Document 10">
            <a:extLst>
              <a:ext uri="{FF2B5EF4-FFF2-40B4-BE49-F238E27FC236}">
                <a16:creationId xmlns:a16="http://schemas.microsoft.com/office/drawing/2014/main" id="{93E23F6E-6AD4-49F6-BF6E-35ECDFF847DD}"/>
              </a:ext>
            </a:extLst>
          </p:cNvPr>
          <p:cNvSpPr/>
          <p:nvPr/>
        </p:nvSpPr>
        <p:spPr>
          <a:xfrm>
            <a:off x="257719" y="2689388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SingStat</a:t>
            </a: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 .</a:t>
            </a:r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csv</a:t>
            </a:r>
          </a:p>
        </p:txBody>
      </p:sp>
      <p:sp>
        <p:nvSpPr>
          <p:cNvPr id="18" name="Flowchart: Document 17">
            <a:extLst>
              <a:ext uri="{FF2B5EF4-FFF2-40B4-BE49-F238E27FC236}">
                <a16:creationId xmlns:a16="http://schemas.microsoft.com/office/drawing/2014/main" id="{7C5ED42E-DD28-6DFD-EA07-F49E81CF970D}"/>
              </a:ext>
            </a:extLst>
          </p:cNvPr>
          <p:cNvSpPr/>
          <p:nvPr/>
        </p:nvSpPr>
        <p:spPr>
          <a:xfrm>
            <a:off x="252710" y="3581696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URA </a:t>
            </a:r>
            <a:r>
              <a:rPr lang="en-SG" sz="105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Geo.</a:t>
            </a:r>
            <a:r>
              <a:rPr lang="en-SG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json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sp>
        <p:nvSpPr>
          <p:cNvPr id="24" name="Cylinder 23">
            <a:extLst>
              <a:ext uri="{FF2B5EF4-FFF2-40B4-BE49-F238E27FC236}">
                <a16:creationId xmlns:a16="http://schemas.microsoft.com/office/drawing/2014/main" id="{3FF088F3-F7D5-46D2-0873-B28CF9B37EBF}"/>
              </a:ext>
            </a:extLst>
          </p:cNvPr>
          <p:cNvSpPr/>
          <p:nvPr/>
        </p:nvSpPr>
        <p:spPr>
          <a:xfrm>
            <a:off x="1626949" y="81054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  <a:b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</a:br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26" name="Cylinder 25">
            <a:extLst>
              <a:ext uri="{FF2B5EF4-FFF2-40B4-BE49-F238E27FC236}">
                <a16:creationId xmlns:a16="http://schemas.microsoft.com/office/drawing/2014/main" id="{4D23A8F0-055E-1FDD-C93C-1156352EDA1A}"/>
              </a:ext>
            </a:extLst>
          </p:cNvPr>
          <p:cNvSpPr/>
          <p:nvPr/>
        </p:nvSpPr>
        <p:spPr>
          <a:xfrm>
            <a:off x="1626949" y="1722173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weather</a:t>
            </a:r>
          </a:p>
        </p:txBody>
      </p:sp>
      <p:sp>
        <p:nvSpPr>
          <p:cNvPr id="31" name="Cylinder 30">
            <a:extLst>
              <a:ext uri="{FF2B5EF4-FFF2-40B4-BE49-F238E27FC236}">
                <a16:creationId xmlns:a16="http://schemas.microsoft.com/office/drawing/2014/main" id="{444D3F5C-DF29-5D62-84E5-39EBC33B27AC}"/>
              </a:ext>
            </a:extLst>
          </p:cNvPr>
          <p:cNvSpPr/>
          <p:nvPr/>
        </p:nvSpPr>
        <p:spPr>
          <a:xfrm>
            <a:off x="1626949" y="265396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population</a:t>
            </a:r>
          </a:p>
        </p:txBody>
      </p:sp>
      <p:sp>
        <p:nvSpPr>
          <p:cNvPr id="32" name="Cylinder 31">
            <a:extLst>
              <a:ext uri="{FF2B5EF4-FFF2-40B4-BE49-F238E27FC236}">
                <a16:creationId xmlns:a16="http://schemas.microsoft.com/office/drawing/2014/main" id="{D94ABB7C-D96E-EB99-3518-B60B116A1F12}"/>
              </a:ext>
            </a:extLst>
          </p:cNvPr>
          <p:cNvSpPr/>
          <p:nvPr/>
        </p:nvSpPr>
        <p:spPr>
          <a:xfrm>
            <a:off x="1626949" y="354657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raw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geodata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1BFF275-9B32-B71E-CF01-5CDC2CF66A9F}"/>
              </a:ext>
            </a:extLst>
          </p:cNvPr>
          <p:cNvCxnSpPr>
            <a:cxnSpLocks/>
            <a:stCxn id="9" idx="3"/>
            <a:endCxn id="24" idx="2"/>
          </p:cNvCxnSpPr>
          <p:nvPr/>
        </p:nvCxnSpPr>
        <p:spPr>
          <a:xfrm>
            <a:off x="1102076" y="1188198"/>
            <a:ext cx="524873" cy="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FC3036B1-A1E2-D05A-2402-04748E422304}"/>
              </a:ext>
            </a:extLst>
          </p:cNvPr>
          <p:cNvCxnSpPr>
            <a:cxnSpLocks/>
            <a:stCxn id="10" idx="3"/>
            <a:endCxn id="26" idx="2"/>
          </p:cNvCxnSpPr>
          <p:nvPr/>
        </p:nvCxnSpPr>
        <p:spPr>
          <a:xfrm>
            <a:off x="1102074" y="2099824"/>
            <a:ext cx="524875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0381F84-3E65-DAF1-10F0-528A71094C22}"/>
              </a:ext>
            </a:extLst>
          </p:cNvPr>
          <p:cNvCxnSpPr>
            <a:cxnSpLocks/>
            <a:stCxn id="11" idx="3"/>
            <a:endCxn id="31" idx="2"/>
          </p:cNvCxnSpPr>
          <p:nvPr/>
        </p:nvCxnSpPr>
        <p:spPr>
          <a:xfrm flipV="1">
            <a:off x="1102074" y="3031612"/>
            <a:ext cx="524875" cy="30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CB2B44FE-0C0A-054E-F800-6261389F5A94}"/>
              </a:ext>
            </a:extLst>
          </p:cNvPr>
          <p:cNvCxnSpPr>
            <a:cxnSpLocks/>
            <a:stCxn id="18" idx="3"/>
            <a:endCxn id="32" idx="2"/>
          </p:cNvCxnSpPr>
          <p:nvPr/>
        </p:nvCxnSpPr>
        <p:spPr>
          <a:xfrm>
            <a:off x="1097065" y="3924221"/>
            <a:ext cx="529884" cy="1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406AE2D-419E-005B-75FE-A0E427BC5517}"/>
              </a:ext>
            </a:extLst>
          </p:cNvPr>
          <p:cNvSpPr/>
          <p:nvPr/>
        </p:nvSpPr>
        <p:spPr>
          <a:xfrm>
            <a:off x="5181600" y="208200"/>
            <a:ext cx="1800000" cy="4248943"/>
          </a:xfrm>
          <a:prstGeom prst="roundRect">
            <a:avLst>
              <a:gd name="adj" fmla="val 6819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Silver</a:t>
            </a:r>
          </a:p>
        </p:txBody>
      </p:sp>
      <p:sp>
        <p:nvSpPr>
          <p:cNvPr id="54" name="Cylinder 53">
            <a:extLst>
              <a:ext uri="{FF2B5EF4-FFF2-40B4-BE49-F238E27FC236}">
                <a16:creationId xmlns:a16="http://schemas.microsoft.com/office/drawing/2014/main" id="{C1C88B60-28CE-7C6C-D8C7-EF3D9928EBAE}"/>
              </a:ext>
            </a:extLst>
          </p:cNvPr>
          <p:cNvSpPr/>
          <p:nvPr/>
        </p:nvSpPr>
        <p:spPr>
          <a:xfrm>
            <a:off x="5546235" y="81054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clusters</a:t>
            </a:r>
          </a:p>
        </p:txBody>
      </p:sp>
      <p:sp>
        <p:nvSpPr>
          <p:cNvPr id="55" name="Cylinder 54">
            <a:extLst>
              <a:ext uri="{FF2B5EF4-FFF2-40B4-BE49-F238E27FC236}">
                <a16:creationId xmlns:a16="http://schemas.microsoft.com/office/drawing/2014/main" id="{3EB7DA13-548C-60FD-F4E9-890B52532983}"/>
              </a:ext>
            </a:extLst>
          </p:cNvPr>
          <p:cNvSpPr/>
          <p:nvPr/>
        </p:nvSpPr>
        <p:spPr>
          <a:xfrm>
            <a:off x="5546235" y="1722173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weather</a:t>
            </a:r>
          </a:p>
        </p:txBody>
      </p:sp>
      <p:sp>
        <p:nvSpPr>
          <p:cNvPr id="56" name="Cylinder 55">
            <a:extLst>
              <a:ext uri="{FF2B5EF4-FFF2-40B4-BE49-F238E27FC236}">
                <a16:creationId xmlns:a16="http://schemas.microsoft.com/office/drawing/2014/main" id="{C84EF616-F722-1172-42DC-7F7666FEE3F4}"/>
              </a:ext>
            </a:extLst>
          </p:cNvPr>
          <p:cNvSpPr/>
          <p:nvPr/>
        </p:nvSpPr>
        <p:spPr>
          <a:xfrm>
            <a:off x="5546235" y="265396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population</a:t>
            </a:r>
          </a:p>
        </p:txBody>
      </p:sp>
      <p:sp>
        <p:nvSpPr>
          <p:cNvPr id="57" name="Cylinder 56">
            <a:extLst>
              <a:ext uri="{FF2B5EF4-FFF2-40B4-BE49-F238E27FC236}">
                <a16:creationId xmlns:a16="http://schemas.microsoft.com/office/drawing/2014/main" id="{AD6DA280-6DFE-CEBC-1E0D-E1FA3D938797}"/>
              </a:ext>
            </a:extLst>
          </p:cNvPr>
          <p:cNvSpPr/>
          <p:nvPr/>
        </p:nvSpPr>
        <p:spPr>
          <a:xfrm>
            <a:off x="5546235" y="354657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cleaned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geodata</a:t>
            </a:r>
          </a:p>
        </p:txBody>
      </p: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A23BB77F-FF43-FD00-5C8F-922E45879904}"/>
              </a:ext>
            </a:extLst>
          </p:cNvPr>
          <p:cNvCxnSpPr>
            <a:cxnSpLocks/>
            <a:stCxn id="24" idx="4"/>
            <a:endCxn id="54" idx="2"/>
          </p:cNvCxnSpPr>
          <p:nvPr/>
        </p:nvCxnSpPr>
        <p:spPr>
          <a:xfrm>
            <a:off x="2706949" y="1188199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3B798E9F-F4D5-C6E9-B283-43771E8E67CD}"/>
              </a:ext>
            </a:extLst>
          </p:cNvPr>
          <p:cNvCxnSpPr>
            <a:cxnSpLocks/>
            <a:stCxn id="26" idx="4"/>
            <a:endCxn id="55" idx="2"/>
          </p:cNvCxnSpPr>
          <p:nvPr/>
        </p:nvCxnSpPr>
        <p:spPr>
          <a:xfrm>
            <a:off x="2706949" y="2099824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39D62EAA-359B-5AE4-2522-96AAA740127A}"/>
              </a:ext>
            </a:extLst>
          </p:cNvPr>
          <p:cNvCxnSpPr>
            <a:cxnSpLocks/>
            <a:stCxn id="31" idx="4"/>
            <a:endCxn id="56" idx="2"/>
          </p:cNvCxnSpPr>
          <p:nvPr/>
        </p:nvCxnSpPr>
        <p:spPr>
          <a:xfrm>
            <a:off x="2706949" y="3031612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E0BF1F3-9333-07C1-9903-6A3ACAA439AD}"/>
              </a:ext>
            </a:extLst>
          </p:cNvPr>
          <p:cNvCxnSpPr>
            <a:cxnSpLocks/>
            <a:stCxn id="32" idx="4"/>
            <a:endCxn id="57" idx="2"/>
          </p:cNvCxnSpPr>
          <p:nvPr/>
        </p:nvCxnSpPr>
        <p:spPr>
          <a:xfrm>
            <a:off x="2706949" y="3924222"/>
            <a:ext cx="2839286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: Rounded Corners 69">
            <a:extLst>
              <a:ext uri="{FF2B5EF4-FFF2-40B4-BE49-F238E27FC236}">
                <a16:creationId xmlns:a16="http://schemas.microsoft.com/office/drawing/2014/main" id="{830B61D0-4DC9-2472-9E8C-C307644A11DF}"/>
              </a:ext>
            </a:extLst>
          </p:cNvPr>
          <p:cNvSpPr/>
          <p:nvPr/>
        </p:nvSpPr>
        <p:spPr>
          <a:xfrm>
            <a:off x="9144000" y="208200"/>
            <a:ext cx="1800000" cy="6230700"/>
          </a:xfrm>
          <a:prstGeom prst="roundRect">
            <a:avLst>
              <a:gd name="adj" fmla="val 6819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SG" sz="1050" b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Gold</a:t>
            </a:r>
          </a:p>
        </p:txBody>
      </p:sp>
      <p:sp>
        <p:nvSpPr>
          <p:cNvPr id="73" name="Cylinder 72">
            <a:extLst>
              <a:ext uri="{FF2B5EF4-FFF2-40B4-BE49-F238E27FC236}">
                <a16:creationId xmlns:a16="http://schemas.microsoft.com/office/drawing/2014/main" id="{0C7F82A5-A115-4E9B-F847-A376FF788DCF}"/>
              </a:ext>
            </a:extLst>
          </p:cNvPr>
          <p:cNvSpPr/>
          <p:nvPr/>
        </p:nvSpPr>
        <p:spPr>
          <a:xfrm>
            <a:off x="9347201" y="2851307"/>
            <a:ext cx="1407503" cy="996793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subzone_features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A41FFADD-A44B-6600-9767-B328FB014FB3}"/>
              </a:ext>
            </a:extLst>
          </p:cNvPr>
          <p:cNvCxnSpPr>
            <a:cxnSpLocks/>
            <a:stCxn id="54" idx="4"/>
            <a:endCxn id="73" idx="2"/>
          </p:cNvCxnSpPr>
          <p:nvPr/>
        </p:nvCxnSpPr>
        <p:spPr>
          <a:xfrm>
            <a:off x="6626235" y="1188199"/>
            <a:ext cx="2720966" cy="2161505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B4199CEA-BF50-9C5B-3774-B1C4ED8DDC36}"/>
              </a:ext>
            </a:extLst>
          </p:cNvPr>
          <p:cNvCxnSpPr>
            <a:cxnSpLocks/>
            <a:stCxn id="55" idx="4"/>
            <a:endCxn id="73" idx="2"/>
          </p:cNvCxnSpPr>
          <p:nvPr/>
        </p:nvCxnSpPr>
        <p:spPr>
          <a:xfrm>
            <a:off x="6626235" y="2099824"/>
            <a:ext cx="2720966" cy="1249880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35AD680A-E70B-5E0B-288A-34230693A7D7}"/>
              </a:ext>
            </a:extLst>
          </p:cNvPr>
          <p:cNvCxnSpPr>
            <a:cxnSpLocks/>
            <a:stCxn id="56" idx="4"/>
            <a:endCxn id="73" idx="2"/>
          </p:cNvCxnSpPr>
          <p:nvPr/>
        </p:nvCxnSpPr>
        <p:spPr>
          <a:xfrm>
            <a:off x="6626235" y="3031612"/>
            <a:ext cx="2720966" cy="318092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1CA9F79-9F30-0DED-EA47-166E6774FC74}"/>
              </a:ext>
            </a:extLst>
          </p:cNvPr>
          <p:cNvCxnSpPr>
            <a:cxnSpLocks/>
            <a:stCxn id="57" idx="4"/>
            <a:endCxn id="73" idx="2"/>
          </p:cNvCxnSpPr>
          <p:nvPr/>
        </p:nvCxnSpPr>
        <p:spPr>
          <a:xfrm flipV="1">
            <a:off x="6626235" y="3349704"/>
            <a:ext cx="2720966" cy="57451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>
            <a:extLst>
              <a:ext uri="{FF2B5EF4-FFF2-40B4-BE49-F238E27FC236}">
                <a16:creationId xmlns:a16="http://schemas.microsoft.com/office/drawing/2014/main" id="{FB5F9DC6-95DF-E9B3-72AE-D642DB4E6536}"/>
              </a:ext>
            </a:extLst>
          </p:cNvPr>
          <p:cNvSpPr/>
          <p:nvPr/>
        </p:nvSpPr>
        <p:spPr>
          <a:xfrm>
            <a:off x="3212500" y="810548"/>
            <a:ext cx="1800000" cy="3344413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200" b="1" dirty="0">
                <a:solidFill>
                  <a:srgbClr val="6B7A7A"/>
                </a:solidFill>
                <a:latin typeface="Nunito" pitchFamily="2" charset="0"/>
              </a:rPr>
              <a:t>Pre-processing</a:t>
            </a:r>
            <a:endParaRPr lang="en-SG" sz="1050" b="1" dirty="0">
              <a:solidFill>
                <a:srgbClr val="6B7A7A"/>
              </a:solidFill>
              <a:latin typeface="Nunito" pitchFamily="2" charset="0"/>
            </a:endParaRP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Enforce schema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Handle null values and outliers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Remove duplicates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Repair geometrics</a:t>
            </a:r>
          </a:p>
        </p:txBody>
      </p:sp>
      <p:cxnSp>
        <p:nvCxnSpPr>
          <p:cNvPr id="238" name="Straight Arrow Connector 80">
            <a:extLst>
              <a:ext uri="{FF2B5EF4-FFF2-40B4-BE49-F238E27FC236}">
                <a16:creationId xmlns:a16="http://schemas.microsoft.com/office/drawing/2014/main" id="{BF895BF3-A4BC-CE79-DEA3-C6354C2E61F3}"/>
              </a:ext>
            </a:extLst>
          </p:cNvPr>
          <p:cNvCxnSpPr>
            <a:cxnSpLocks/>
            <a:stCxn id="54" idx="4"/>
            <a:endCxn id="243" idx="1"/>
          </p:cNvCxnSpPr>
          <p:nvPr/>
        </p:nvCxnSpPr>
        <p:spPr>
          <a:xfrm>
            <a:off x="6626235" y="1188199"/>
            <a:ext cx="2720966" cy="34044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1" name="TextBox 240">
            <a:extLst>
              <a:ext uri="{FF2B5EF4-FFF2-40B4-BE49-F238E27FC236}">
                <a16:creationId xmlns:a16="http://schemas.microsoft.com/office/drawing/2014/main" id="{539954A2-F7D7-EBBD-229A-BA9ACD4784A0}"/>
              </a:ext>
            </a:extLst>
          </p:cNvPr>
          <p:cNvSpPr txBox="1"/>
          <p:nvPr/>
        </p:nvSpPr>
        <p:spPr>
          <a:xfrm>
            <a:off x="9640422" y="2875290"/>
            <a:ext cx="76655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43" name="Flowchart: Document 242">
            <a:extLst>
              <a:ext uri="{FF2B5EF4-FFF2-40B4-BE49-F238E27FC236}">
                <a16:creationId xmlns:a16="http://schemas.microsoft.com/office/drawing/2014/main" id="{F19D5B29-5C1F-F18B-085F-D512AC340CE4}"/>
              </a:ext>
            </a:extLst>
          </p:cNvPr>
          <p:cNvSpPr/>
          <p:nvPr/>
        </p:nvSpPr>
        <p:spPr>
          <a:xfrm>
            <a:off x="9347201" y="1114191"/>
            <a:ext cx="1396998" cy="82890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5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subzone_features.parquet</a:t>
            </a:r>
            <a:endParaRPr lang="en-SG" sz="105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248" name="TextBox 247">
            <a:extLst>
              <a:ext uri="{FF2B5EF4-FFF2-40B4-BE49-F238E27FC236}">
                <a16:creationId xmlns:a16="http://schemas.microsoft.com/office/drawing/2014/main" id="{FD411901-A553-EC2B-A340-D84C9B452A41}"/>
              </a:ext>
            </a:extLst>
          </p:cNvPr>
          <p:cNvSpPr txBox="1"/>
          <p:nvPr/>
        </p:nvSpPr>
        <p:spPr>
          <a:xfrm>
            <a:off x="5735837" y="7995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49" name="TextBox 248">
            <a:extLst>
              <a:ext uri="{FF2B5EF4-FFF2-40B4-BE49-F238E27FC236}">
                <a16:creationId xmlns:a16="http://schemas.microsoft.com/office/drawing/2014/main" id="{5BE2FFE3-38AC-473B-9983-19FD3837FEBD}"/>
              </a:ext>
            </a:extLst>
          </p:cNvPr>
          <p:cNvSpPr txBox="1"/>
          <p:nvPr/>
        </p:nvSpPr>
        <p:spPr>
          <a:xfrm>
            <a:off x="5745081" y="17139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0" name="TextBox 249">
            <a:extLst>
              <a:ext uri="{FF2B5EF4-FFF2-40B4-BE49-F238E27FC236}">
                <a16:creationId xmlns:a16="http://schemas.microsoft.com/office/drawing/2014/main" id="{EA2FD97C-BF4A-8D23-DF29-2975469A425A}"/>
              </a:ext>
            </a:extLst>
          </p:cNvPr>
          <p:cNvSpPr txBox="1"/>
          <p:nvPr/>
        </p:nvSpPr>
        <p:spPr>
          <a:xfrm>
            <a:off x="5725573" y="26283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1" name="TextBox 250">
            <a:extLst>
              <a:ext uri="{FF2B5EF4-FFF2-40B4-BE49-F238E27FC236}">
                <a16:creationId xmlns:a16="http://schemas.microsoft.com/office/drawing/2014/main" id="{E51AB8E3-EDBC-B20F-9248-50DD4629DE1B}"/>
              </a:ext>
            </a:extLst>
          </p:cNvPr>
          <p:cNvSpPr txBox="1"/>
          <p:nvPr/>
        </p:nvSpPr>
        <p:spPr>
          <a:xfrm>
            <a:off x="5735022" y="35427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2" name="TextBox 251">
            <a:extLst>
              <a:ext uri="{FF2B5EF4-FFF2-40B4-BE49-F238E27FC236}">
                <a16:creationId xmlns:a16="http://schemas.microsoft.com/office/drawing/2014/main" id="{C7AEF5C8-E3A4-2CA7-439A-26668C0A498B}"/>
              </a:ext>
            </a:extLst>
          </p:cNvPr>
          <p:cNvSpPr txBox="1"/>
          <p:nvPr/>
        </p:nvSpPr>
        <p:spPr>
          <a:xfrm>
            <a:off x="1801396" y="7995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3" name="TextBox 252">
            <a:extLst>
              <a:ext uri="{FF2B5EF4-FFF2-40B4-BE49-F238E27FC236}">
                <a16:creationId xmlns:a16="http://schemas.microsoft.com/office/drawing/2014/main" id="{1EEA2385-1DC9-FC39-F14E-AE0AC1AEA458}"/>
              </a:ext>
            </a:extLst>
          </p:cNvPr>
          <p:cNvSpPr txBox="1"/>
          <p:nvPr/>
        </p:nvSpPr>
        <p:spPr>
          <a:xfrm>
            <a:off x="1810640" y="17139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55042DC2-64A5-43ED-403C-40DA7C0F9B72}"/>
              </a:ext>
            </a:extLst>
          </p:cNvPr>
          <p:cNvSpPr txBox="1"/>
          <p:nvPr/>
        </p:nvSpPr>
        <p:spPr>
          <a:xfrm>
            <a:off x="1791132" y="26283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63BA3611-8913-68E1-E964-C1F6E96A1FAF}"/>
              </a:ext>
            </a:extLst>
          </p:cNvPr>
          <p:cNvSpPr txBox="1"/>
          <p:nvPr/>
        </p:nvSpPr>
        <p:spPr>
          <a:xfrm>
            <a:off x="1800581" y="3542743"/>
            <a:ext cx="6094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8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256" name="Cylinder 255">
            <a:extLst>
              <a:ext uri="{FF2B5EF4-FFF2-40B4-BE49-F238E27FC236}">
                <a16:creationId xmlns:a16="http://schemas.microsoft.com/office/drawing/2014/main" id="{20F4060D-14DD-6E45-1998-8AB33C777420}"/>
              </a:ext>
            </a:extLst>
          </p:cNvPr>
          <p:cNvSpPr/>
          <p:nvPr/>
        </p:nvSpPr>
        <p:spPr>
          <a:xfrm>
            <a:off x="9341949" y="4921020"/>
            <a:ext cx="1407503" cy="996793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dirty="0" err="1">
                <a:solidFill>
                  <a:srgbClr val="595959"/>
                </a:solidFill>
                <a:latin typeface="Nunito" pitchFamily="2" charset="0"/>
              </a:rPr>
              <a:t>current_week_case_count</a:t>
            </a:r>
            <a:endParaRPr lang="en-SG" sz="1050" dirty="0">
              <a:solidFill>
                <a:srgbClr val="595959"/>
              </a:solidFill>
              <a:latin typeface="Nunito" pitchFamily="2" charset="0"/>
            </a:endParaRPr>
          </a:p>
          <a:p>
            <a:pPr algn="ctr"/>
            <a:r>
              <a:rPr lang="en-SG" sz="1050" dirty="0" err="1">
                <a:solidFill>
                  <a:srgbClr val="595959"/>
                </a:solidFill>
                <a:latin typeface="Nunito" pitchFamily="2" charset="0"/>
              </a:rPr>
              <a:t>vulnerability_index</a:t>
            </a:r>
            <a:endParaRPr lang="en-SG" sz="1050" dirty="0">
              <a:solidFill>
                <a:srgbClr val="595959"/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22CF1E03-C884-6ACC-F890-57D7711FC567}"/>
              </a:ext>
            </a:extLst>
          </p:cNvPr>
          <p:cNvSpPr txBox="1"/>
          <p:nvPr/>
        </p:nvSpPr>
        <p:spPr>
          <a:xfrm>
            <a:off x="9725740" y="4921020"/>
            <a:ext cx="60305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50" b="1" dirty="0">
                <a:solidFill>
                  <a:srgbClr val="1C334E"/>
                </a:solidFill>
                <a:latin typeface="Nunito" pitchFamily="2" charset="0"/>
              </a:rPr>
              <a:t>REDIS</a:t>
            </a:r>
          </a:p>
        </p:txBody>
      </p:sp>
      <p:cxnSp>
        <p:nvCxnSpPr>
          <p:cNvPr id="258" name="Straight Arrow Connector 89">
            <a:extLst>
              <a:ext uri="{FF2B5EF4-FFF2-40B4-BE49-F238E27FC236}">
                <a16:creationId xmlns:a16="http://schemas.microsoft.com/office/drawing/2014/main" id="{95A57953-69EC-ECDE-35CE-474E3AF00FFA}"/>
              </a:ext>
            </a:extLst>
          </p:cNvPr>
          <p:cNvCxnSpPr>
            <a:cxnSpLocks/>
            <a:stCxn id="56" idx="4"/>
            <a:endCxn id="526" idx="1"/>
          </p:cNvCxnSpPr>
          <p:nvPr/>
        </p:nvCxnSpPr>
        <p:spPr>
          <a:xfrm>
            <a:off x="6626235" y="3031612"/>
            <a:ext cx="2727609" cy="2211404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Rectangle 126">
            <a:extLst>
              <a:ext uri="{FF2B5EF4-FFF2-40B4-BE49-F238E27FC236}">
                <a16:creationId xmlns:a16="http://schemas.microsoft.com/office/drawing/2014/main" id="{A0D0B7DA-EEC7-B5B8-203A-1B988E73C13B}"/>
              </a:ext>
            </a:extLst>
          </p:cNvPr>
          <p:cNvSpPr/>
          <p:nvPr/>
        </p:nvSpPr>
        <p:spPr>
          <a:xfrm>
            <a:off x="7156767" y="799544"/>
            <a:ext cx="1800000" cy="3355418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200" b="1" dirty="0">
                <a:solidFill>
                  <a:srgbClr val="6B7A7A"/>
                </a:solidFill>
                <a:latin typeface="Nunito" pitchFamily="2" charset="0"/>
              </a:rPr>
              <a:t>Feature Engineering</a:t>
            </a: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Lag features (weather)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Rolling aggregates (clusters)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Spatial join (clusters × subzones)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Vulnerability index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05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Label creation</a:t>
            </a:r>
          </a:p>
          <a:p>
            <a:pPr algn="ctr"/>
            <a:endParaRPr lang="en-SG" sz="105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55C0EFC8-A19E-3B9E-CFDE-B822B4C99BD4}"/>
              </a:ext>
            </a:extLst>
          </p:cNvPr>
          <p:cNvSpPr txBox="1"/>
          <p:nvPr/>
        </p:nvSpPr>
        <p:spPr>
          <a:xfrm>
            <a:off x="9227172" y="876925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Used for model dev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ED73B36A-998B-7B9A-44BE-00FDB8B4C871}"/>
              </a:ext>
            </a:extLst>
          </p:cNvPr>
          <p:cNvSpPr txBox="1"/>
          <p:nvPr/>
        </p:nvSpPr>
        <p:spPr>
          <a:xfrm>
            <a:off x="9202871" y="2612009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Offline Feature Store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654AC980-61FC-F636-4833-F87D60553A75}"/>
              </a:ext>
            </a:extLst>
          </p:cNvPr>
          <p:cNvSpPr txBox="1"/>
          <p:nvPr/>
        </p:nvSpPr>
        <p:spPr>
          <a:xfrm>
            <a:off x="9202871" y="4686300"/>
            <a:ext cx="164755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5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Online Feature Store</a:t>
            </a: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6A2562CF-2B60-27E1-D903-379646F9E09B}"/>
              </a:ext>
            </a:extLst>
          </p:cNvPr>
          <p:cNvSpPr/>
          <p:nvPr/>
        </p:nvSpPr>
        <p:spPr>
          <a:xfrm>
            <a:off x="11766233" y="6591300"/>
            <a:ext cx="5086089" cy="2479820"/>
          </a:xfrm>
          <a:prstGeom prst="roundRect">
            <a:avLst>
              <a:gd name="adj" fmla="val 4206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bIns="73152" rtlCol="0" anchor="b"/>
          <a:lstStyle/>
          <a:p>
            <a:pPr algn="ctr"/>
            <a:r>
              <a:rPr lang="en-SG" sz="1400" b="1" dirty="0">
                <a:solidFill>
                  <a:srgbClr val="595959"/>
                </a:solidFill>
                <a:latin typeface="Nunito" pitchFamily="2" charset="0"/>
              </a:rPr>
              <a:t>Model Registry (</a:t>
            </a:r>
            <a:r>
              <a:rPr lang="en-SG" sz="1400" b="1" dirty="0" err="1">
                <a:solidFill>
                  <a:srgbClr val="595959"/>
                </a:solidFill>
                <a:latin typeface="Nunito" pitchFamily="2" charset="0"/>
              </a:rPr>
              <a:t>MLflow</a:t>
            </a:r>
            <a:r>
              <a:rPr lang="en-SG" sz="1400" b="1" dirty="0">
                <a:solidFill>
                  <a:srgbClr val="595959"/>
                </a:solidFill>
                <a:latin typeface="Nunito" pitchFamily="2" charset="0"/>
              </a:rPr>
              <a:t>)</a:t>
            </a:r>
          </a:p>
        </p:txBody>
      </p:sp>
      <p:cxnSp>
        <p:nvCxnSpPr>
          <p:cNvPr id="276" name="Straight Arrow Connector 80">
            <a:extLst>
              <a:ext uri="{FF2B5EF4-FFF2-40B4-BE49-F238E27FC236}">
                <a16:creationId xmlns:a16="http://schemas.microsoft.com/office/drawing/2014/main" id="{12220CE0-291D-1D3D-9FB4-D58A13A82B27}"/>
              </a:ext>
            </a:extLst>
          </p:cNvPr>
          <p:cNvCxnSpPr>
            <a:cxnSpLocks/>
            <a:stCxn id="243" idx="3"/>
            <a:endCxn id="280" idx="1"/>
          </p:cNvCxnSpPr>
          <p:nvPr/>
        </p:nvCxnSpPr>
        <p:spPr>
          <a:xfrm>
            <a:off x="10744199" y="1528646"/>
            <a:ext cx="841580" cy="1300231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Straight Arrow Connector 80">
            <a:extLst>
              <a:ext uri="{FF2B5EF4-FFF2-40B4-BE49-F238E27FC236}">
                <a16:creationId xmlns:a16="http://schemas.microsoft.com/office/drawing/2014/main" id="{AA589611-A54B-8556-D397-6D402272812A}"/>
              </a:ext>
            </a:extLst>
          </p:cNvPr>
          <p:cNvCxnSpPr>
            <a:cxnSpLocks/>
            <a:stCxn id="334" idx="2"/>
            <a:endCxn id="332" idx="0"/>
          </p:cNvCxnSpPr>
          <p:nvPr/>
        </p:nvCxnSpPr>
        <p:spPr>
          <a:xfrm rot="16200000" flipH="1">
            <a:off x="12748472" y="5155679"/>
            <a:ext cx="1613229" cy="193893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6" name="Rectangle: Single Corner Rounded 295">
            <a:extLst>
              <a:ext uri="{FF2B5EF4-FFF2-40B4-BE49-F238E27FC236}">
                <a16:creationId xmlns:a16="http://schemas.microsoft.com/office/drawing/2014/main" id="{50EA1538-BE15-8DDB-A93E-01202D78527A}"/>
              </a:ext>
            </a:extLst>
          </p:cNvPr>
          <p:cNvSpPr/>
          <p:nvPr/>
        </p:nvSpPr>
        <p:spPr>
          <a:xfrm>
            <a:off x="12128417" y="6896100"/>
            <a:ext cx="914400" cy="814481"/>
          </a:xfrm>
          <a:prstGeom prst="round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model_v1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297" name="Rectangle: Single Corner Rounded 296">
            <a:extLst>
              <a:ext uri="{FF2B5EF4-FFF2-40B4-BE49-F238E27FC236}">
                <a16:creationId xmlns:a16="http://schemas.microsoft.com/office/drawing/2014/main" id="{00A0A750-DB17-6D17-669B-FA50A6D3F259}"/>
              </a:ext>
            </a:extLst>
          </p:cNvPr>
          <p:cNvSpPr/>
          <p:nvPr/>
        </p:nvSpPr>
        <p:spPr>
          <a:xfrm>
            <a:off x="13258800" y="6896100"/>
            <a:ext cx="914400" cy="814481"/>
          </a:xfrm>
          <a:prstGeom prst="round1Rect">
            <a:avLst/>
          </a:prstGeom>
          <a:solidFill>
            <a:schemeClr val="bg1">
              <a:lumMod val="6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model_v2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299" name="Straight Arrow Connector 80">
            <a:extLst>
              <a:ext uri="{FF2B5EF4-FFF2-40B4-BE49-F238E27FC236}">
                <a16:creationId xmlns:a16="http://schemas.microsoft.com/office/drawing/2014/main" id="{C9562056-FD5D-EE68-56B0-0B7E69247338}"/>
              </a:ext>
            </a:extLst>
          </p:cNvPr>
          <p:cNvCxnSpPr>
            <a:cxnSpLocks/>
            <a:stCxn id="336" idx="2"/>
            <a:endCxn id="303" idx="0"/>
          </p:cNvCxnSpPr>
          <p:nvPr/>
        </p:nvCxnSpPr>
        <p:spPr>
          <a:xfrm rot="16200000" flipH="1">
            <a:off x="14893670" y="5818446"/>
            <a:ext cx="1583009" cy="583183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" name="TextBox 321">
            <a:extLst>
              <a:ext uri="{FF2B5EF4-FFF2-40B4-BE49-F238E27FC236}">
                <a16:creationId xmlns:a16="http://schemas.microsoft.com/office/drawing/2014/main" id="{8FFA9821-913E-CD22-159E-2F85F916E71B}"/>
              </a:ext>
            </a:extLst>
          </p:cNvPr>
          <p:cNvSpPr txBox="1"/>
          <p:nvPr/>
        </p:nvSpPr>
        <p:spPr>
          <a:xfrm>
            <a:off x="12533738" y="5402633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output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candidate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sp>
        <p:nvSpPr>
          <p:cNvPr id="323" name="TextBox 322">
            <a:extLst>
              <a:ext uri="{FF2B5EF4-FFF2-40B4-BE49-F238E27FC236}">
                <a16:creationId xmlns:a16="http://schemas.microsoft.com/office/drawing/2014/main" id="{CE59335C-24E0-E8D1-C880-0CDF3BB01D65}"/>
              </a:ext>
            </a:extLst>
          </p:cNvPr>
          <p:cNvSpPr txBox="1"/>
          <p:nvPr/>
        </p:nvSpPr>
        <p:spPr>
          <a:xfrm>
            <a:off x="13868400" y="5390244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evaluate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candidate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67DAFFB9-7F4A-B863-96CD-BDB37734F11E}"/>
              </a:ext>
            </a:extLst>
          </p:cNvPr>
          <p:cNvSpPr txBox="1"/>
          <p:nvPr/>
        </p:nvSpPr>
        <p:spPr>
          <a:xfrm>
            <a:off x="15344775" y="5402633"/>
            <a:ext cx="1029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output </a:t>
            </a:r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promoted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model</a:t>
            </a:r>
          </a:p>
        </p:txBody>
      </p:sp>
      <p:cxnSp>
        <p:nvCxnSpPr>
          <p:cNvPr id="325" name="Straight Arrow Connector 80">
            <a:extLst>
              <a:ext uri="{FF2B5EF4-FFF2-40B4-BE49-F238E27FC236}">
                <a16:creationId xmlns:a16="http://schemas.microsoft.com/office/drawing/2014/main" id="{3090E2BA-0645-B77A-5544-168CA15E7D6B}"/>
              </a:ext>
            </a:extLst>
          </p:cNvPr>
          <p:cNvCxnSpPr>
            <a:cxnSpLocks/>
            <a:stCxn id="328" idx="0"/>
            <a:endCxn id="330" idx="2"/>
          </p:cNvCxnSpPr>
          <p:nvPr/>
        </p:nvCxnSpPr>
        <p:spPr>
          <a:xfrm rot="16200000" flipV="1">
            <a:off x="14161766" y="6003152"/>
            <a:ext cx="1624253" cy="25501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8" name="Rectangle 327">
            <a:extLst>
              <a:ext uri="{FF2B5EF4-FFF2-40B4-BE49-F238E27FC236}">
                <a16:creationId xmlns:a16="http://schemas.microsoft.com/office/drawing/2014/main" id="{DFC6DA69-9088-D1F5-78E5-F15ACAA1E01D}"/>
              </a:ext>
            </a:extLst>
          </p:cNvPr>
          <p:cNvSpPr/>
          <p:nvPr/>
        </p:nvSpPr>
        <p:spPr>
          <a:xfrm>
            <a:off x="15011400" y="6942787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0" name="Rectangle 329">
            <a:extLst>
              <a:ext uri="{FF2B5EF4-FFF2-40B4-BE49-F238E27FC236}">
                <a16:creationId xmlns:a16="http://schemas.microsoft.com/office/drawing/2014/main" id="{B927514E-E9E4-AE8B-5238-9254189DC85B}"/>
              </a:ext>
            </a:extLst>
          </p:cNvPr>
          <p:cNvSpPr/>
          <p:nvPr/>
        </p:nvSpPr>
        <p:spPr>
          <a:xfrm>
            <a:off x="14756383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2" name="Rectangle 331">
            <a:extLst>
              <a:ext uri="{FF2B5EF4-FFF2-40B4-BE49-F238E27FC236}">
                <a16:creationId xmlns:a16="http://schemas.microsoft.com/office/drawing/2014/main" id="{CD26FE16-71B8-BF99-A7DD-4159843210D5}"/>
              </a:ext>
            </a:extLst>
          </p:cNvPr>
          <p:cNvSpPr/>
          <p:nvPr/>
        </p:nvSpPr>
        <p:spPr>
          <a:xfrm>
            <a:off x="14434555" y="6931763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4" name="Rectangle 333">
            <a:extLst>
              <a:ext uri="{FF2B5EF4-FFF2-40B4-BE49-F238E27FC236}">
                <a16:creationId xmlns:a16="http://schemas.microsoft.com/office/drawing/2014/main" id="{B0F4CFCC-D0B2-C4CF-9D14-FB9BBE7DAADD}"/>
              </a:ext>
            </a:extLst>
          </p:cNvPr>
          <p:cNvSpPr/>
          <p:nvPr/>
        </p:nvSpPr>
        <p:spPr>
          <a:xfrm>
            <a:off x="12495617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336" name="Rectangle 335">
            <a:extLst>
              <a:ext uri="{FF2B5EF4-FFF2-40B4-BE49-F238E27FC236}">
                <a16:creationId xmlns:a16="http://schemas.microsoft.com/office/drawing/2014/main" id="{772E3C5A-6CB9-5E5B-671D-E6A48B747CD7}"/>
              </a:ext>
            </a:extLst>
          </p:cNvPr>
          <p:cNvSpPr/>
          <p:nvPr/>
        </p:nvSpPr>
        <p:spPr>
          <a:xfrm>
            <a:off x="15303583" y="5138534"/>
            <a:ext cx="180000" cy="18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>
              <a:latin typeface="Nunito" pitchFamily="2" charset="0"/>
            </a:endParaRPr>
          </a:p>
        </p:txBody>
      </p:sp>
      <p:sp>
        <p:nvSpPr>
          <p:cNvPr id="280" name="Rectangle: Folded Corner 279">
            <a:extLst>
              <a:ext uri="{FF2B5EF4-FFF2-40B4-BE49-F238E27FC236}">
                <a16:creationId xmlns:a16="http://schemas.microsoft.com/office/drawing/2014/main" id="{6B57744E-242E-BF15-1355-5ED85C115E5E}"/>
              </a:ext>
            </a:extLst>
          </p:cNvPr>
          <p:cNvSpPr/>
          <p:nvPr/>
        </p:nvSpPr>
        <p:spPr>
          <a:xfrm>
            <a:off x="11585779" y="324738"/>
            <a:ext cx="2664000" cy="5008278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train.py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Splits data temporally (Train/Val/Test/OOT)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Applies SMOTE on training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Runs 5-fold time-series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CV Trains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XGBoost</a:t>
            </a: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 and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LightGBM</a:t>
            </a: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Optuna</a:t>
            </a: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 tunes hyperparameters against validation set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SG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SG" sz="1200" dirty="0">
                <a:solidFill>
                  <a:srgbClr val="6B7A7A"/>
                </a:solidFill>
                <a:latin typeface="Nunito" pitchFamily="2" charset="0"/>
              </a:rPr>
              <a:t>All runs logged to </a:t>
            </a:r>
            <a:r>
              <a:rPr lang="en-SG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endParaRPr lang="en-SG" sz="16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290" name="Rectangle: Folded Corner 289">
            <a:extLst>
              <a:ext uri="{FF2B5EF4-FFF2-40B4-BE49-F238E27FC236}">
                <a16:creationId xmlns:a16="http://schemas.microsoft.com/office/drawing/2014/main" id="{B9F54292-5F31-63AC-D85C-06DE688DFB96}"/>
              </a:ext>
            </a:extLst>
          </p:cNvPr>
          <p:cNvSpPr/>
          <p:nvPr/>
        </p:nvSpPr>
        <p:spPr>
          <a:xfrm>
            <a:off x="14404800" y="324737"/>
            <a:ext cx="2664000" cy="5008277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evaluate.py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Test set metrics such as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Precision, Recall, F1, AUC-ROC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SHAP values generated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Spatial accuracy check run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Evaluate against OOT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PSI — measures if feature distributions have shifted vs training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CSI — measures if individual feature contributions have shifted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Promotion gate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Recall &gt; 0.70 on test set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OOT perf within acceptable degradation over time (OOT drop &lt; 10pp)</a:t>
            </a:r>
          </a:p>
          <a:p>
            <a:pPr marL="363538" lvl="1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Register as Production in </a:t>
            </a:r>
            <a:r>
              <a:rPr lang="en-US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 if </a:t>
            </a:r>
            <a:r>
              <a:rPr lang="en-US" sz="1200" b="1" dirty="0">
                <a:solidFill>
                  <a:srgbClr val="6B7A7A"/>
                </a:solidFill>
                <a:latin typeface="Nunito" pitchFamily="2" charset="0"/>
              </a:rPr>
              <a:t>PASS</a:t>
            </a:r>
          </a:p>
        </p:txBody>
      </p:sp>
      <p:sp>
        <p:nvSpPr>
          <p:cNvPr id="298" name="Rectangle: Single Corner Rounded 297">
            <a:extLst>
              <a:ext uri="{FF2B5EF4-FFF2-40B4-BE49-F238E27FC236}">
                <a16:creationId xmlns:a16="http://schemas.microsoft.com/office/drawing/2014/main" id="{29124DF6-D202-5A69-C90B-A788D2322763}"/>
              </a:ext>
            </a:extLst>
          </p:cNvPr>
          <p:cNvSpPr/>
          <p:nvPr/>
        </p:nvSpPr>
        <p:spPr>
          <a:xfrm>
            <a:off x="14389183" y="6896100"/>
            <a:ext cx="914400" cy="814481"/>
          </a:xfrm>
          <a:prstGeom prst="round1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model_v3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340" name="TextBox 339">
            <a:extLst>
              <a:ext uri="{FF2B5EF4-FFF2-40B4-BE49-F238E27FC236}">
                <a16:creationId xmlns:a16="http://schemas.microsoft.com/office/drawing/2014/main" id="{3A896610-8D7C-D68D-0D62-83736E007510}"/>
              </a:ext>
            </a:extLst>
          </p:cNvPr>
          <p:cNvSpPr txBox="1"/>
          <p:nvPr/>
        </p:nvSpPr>
        <p:spPr>
          <a:xfrm>
            <a:off x="14423653" y="7429501"/>
            <a:ext cx="845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Candidate</a:t>
            </a:r>
          </a:p>
        </p:txBody>
      </p:sp>
      <p:sp>
        <p:nvSpPr>
          <p:cNvPr id="378" name="Rounded Rectangle 45">
            <a:extLst>
              <a:ext uri="{FF2B5EF4-FFF2-40B4-BE49-F238E27FC236}">
                <a16:creationId xmlns:a16="http://schemas.microsoft.com/office/drawing/2014/main" id="{39C253B2-7DF0-1D43-986D-A5BF3A4DE417}"/>
              </a:ext>
            </a:extLst>
          </p:cNvPr>
          <p:cNvSpPr/>
          <p:nvPr/>
        </p:nvSpPr>
        <p:spPr>
          <a:xfrm>
            <a:off x="8103960" y="6734970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Reads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subzone_features</a:t>
            </a:r>
            <a:endParaRPr lang="en-US" sz="1000" b="1" dirty="0">
              <a:solidFill>
                <a:srgbClr val="1B4332"/>
              </a:solidFill>
              <a:latin typeface="Nunito" pitchFamily="2" charset="0"/>
            </a:endParaRP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(all 330 subzones)</a:t>
            </a:r>
          </a:p>
        </p:txBody>
      </p:sp>
      <p:cxnSp>
        <p:nvCxnSpPr>
          <p:cNvPr id="384" name="Straight Arrow Connector 80">
            <a:extLst>
              <a:ext uri="{FF2B5EF4-FFF2-40B4-BE49-F238E27FC236}">
                <a16:creationId xmlns:a16="http://schemas.microsoft.com/office/drawing/2014/main" id="{119D39FA-8984-D83A-2CBB-D5AAE3969204}"/>
              </a:ext>
            </a:extLst>
          </p:cNvPr>
          <p:cNvCxnSpPr>
            <a:cxnSpLocks/>
            <a:stCxn id="540" idx="3"/>
            <a:endCxn id="378" idx="0"/>
          </p:cNvCxnSpPr>
          <p:nvPr/>
        </p:nvCxnSpPr>
        <p:spPr>
          <a:xfrm flipH="1">
            <a:off x="8814480" y="3185168"/>
            <a:ext cx="1934972" cy="3549802"/>
          </a:xfrm>
          <a:prstGeom prst="bentConnector4">
            <a:avLst>
              <a:gd name="adj1" fmla="val -36755"/>
              <a:gd name="adj2" fmla="val 95631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6" name="Straight Arrow Connector 80">
            <a:extLst>
              <a:ext uri="{FF2B5EF4-FFF2-40B4-BE49-F238E27FC236}">
                <a16:creationId xmlns:a16="http://schemas.microsoft.com/office/drawing/2014/main" id="{19DDAA66-880C-79C6-F1E3-CF68745453E5}"/>
              </a:ext>
            </a:extLst>
          </p:cNvPr>
          <p:cNvCxnSpPr>
            <a:cxnSpLocks/>
            <a:stCxn id="350" idx="1"/>
            <a:endCxn id="378" idx="3"/>
          </p:cNvCxnSpPr>
          <p:nvPr/>
        </p:nvCxnSpPr>
        <p:spPr>
          <a:xfrm rot="10800000">
            <a:off x="9525001" y="7049858"/>
            <a:ext cx="400097" cy="444819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2" name="Connector: Elbow 401">
            <a:extLst>
              <a:ext uri="{FF2B5EF4-FFF2-40B4-BE49-F238E27FC236}">
                <a16:creationId xmlns:a16="http://schemas.microsoft.com/office/drawing/2014/main" id="{15D66599-FE08-AB8D-5943-2195C9911CFA}"/>
              </a:ext>
            </a:extLst>
          </p:cNvPr>
          <p:cNvCxnSpPr>
            <a:cxnSpLocks/>
            <a:stCxn id="350" idx="3"/>
            <a:endCxn id="464" idx="2"/>
          </p:cNvCxnSpPr>
          <p:nvPr/>
        </p:nvCxnSpPr>
        <p:spPr>
          <a:xfrm>
            <a:off x="11346137" y="7494676"/>
            <a:ext cx="4299163" cy="198768"/>
          </a:xfrm>
          <a:prstGeom prst="bentConnector4">
            <a:avLst>
              <a:gd name="adj1" fmla="val 4937"/>
              <a:gd name="adj2" fmla="val 869917"/>
            </a:avLst>
          </a:prstGeom>
          <a:ln>
            <a:solidFill>
              <a:srgbClr val="1C3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9" name="Rounded Rectangle 45">
            <a:extLst>
              <a:ext uri="{FF2B5EF4-FFF2-40B4-BE49-F238E27FC236}">
                <a16:creationId xmlns:a16="http://schemas.microsoft.com/office/drawing/2014/main" id="{4CEEC58B-4019-7575-24F9-9AE0A58DF407}"/>
              </a:ext>
            </a:extLst>
          </p:cNvPr>
          <p:cNvSpPr/>
          <p:nvPr/>
        </p:nvSpPr>
        <p:spPr>
          <a:xfrm>
            <a:off x="8103960" y="7677526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Model loaded from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MLflow</a:t>
            </a:r>
            <a:endParaRPr lang="en-US" sz="1000" i="1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411" name="Straight Arrow Connector 80">
            <a:extLst>
              <a:ext uri="{FF2B5EF4-FFF2-40B4-BE49-F238E27FC236}">
                <a16:creationId xmlns:a16="http://schemas.microsoft.com/office/drawing/2014/main" id="{878E57AB-E1F2-1AAC-E78D-E2238F244F07}"/>
              </a:ext>
            </a:extLst>
          </p:cNvPr>
          <p:cNvCxnSpPr>
            <a:cxnSpLocks/>
            <a:stCxn id="350" idx="1"/>
            <a:endCxn id="409" idx="3"/>
          </p:cNvCxnSpPr>
          <p:nvPr/>
        </p:nvCxnSpPr>
        <p:spPr>
          <a:xfrm rot="10800000" flipV="1">
            <a:off x="9525001" y="7494675"/>
            <a:ext cx="400097" cy="497737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4" name="Straight Arrow Connector 80">
            <a:extLst>
              <a:ext uri="{FF2B5EF4-FFF2-40B4-BE49-F238E27FC236}">
                <a16:creationId xmlns:a16="http://schemas.microsoft.com/office/drawing/2014/main" id="{17B29963-C219-683B-4D98-6D6422A58F10}"/>
              </a:ext>
            </a:extLst>
          </p:cNvPr>
          <p:cNvCxnSpPr>
            <a:cxnSpLocks/>
            <a:stCxn id="378" idx="1"/>
            <a:endCxn id="429" idx="4"/>
          </p:cNvCxnSpPr>
          <p:nvPr/>
        </p:nvCxnSpPr>
        <p:spPr>
          <a:xfrm rot="10800000">
            <a:off x="6879192" y="5756449"/>
            <a:ext cx="1224769" cy="1293408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7" name="Straight Arrow Connector 80">
            <a:extLst>
              <a:ext uri="{FF2B5EF4-FFF2-40B4-BE49-F238E27FC236}">
                <a16:creationId xmlns:a16="http://schemas.microsoft.com/office/drawing/2014/main" id="{A61228FA-4A49-55F3-55DA-0E46046533DA}"/>
              </a:ext>
            </a:extLst>
          </p:cNvPr>
          <p:cNvCxnSpPr>
            <a:cxnSpLocks/>
            <a:stCxn id="409" idx="1"/>
            <a:endCxn id="429" idx="4"/>
          </p:cNvCxnSpPr>
          <p:nvPr/>
        </p:nvCxnSpPr>
        <p:spPr>
          <a:xfrm rot="10800000">
            <a:off x="6879192" y="5756449"/>
            <a:ext cx="1224769" cy="2235964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9" name="Cylinder 428">
            <a:extLst>
              <a:ext uri="{FF2B5EF4-FFF2-40B4-BE49-F238E27FC236}">
                <a16:creationId xmlns:a16="http://schemas.microsoft.com/office/drawing/2014/main" id="{73BE24FD-FF11-2AF7-41BC-17A7CE904106}"/>
              </a:ext>
            </a:extLst>
          </p:cNvPr>
          <p:cNvSpPr/>
          <p:nvPr/>
        </p:nvSpPr>
        <p:spPr>
          <a:xfrm>
            <a:off x="5799191" y="537879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risk_tier</a:t>
            </a:r>
            <a:endParaRPr lang="en-SG" sz="1200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  <a:cs typeface="Arial" panose="020B0604020202020204" pitchFamily="34" charset="0"/>
            </a:endParaRPr>
          </a:p>
        </p:txBody>
      </p:sp>
      <p:sp>
        <p:nvSpPr>
          <p:cNvPr id="430" name="TextBox 429">
            <a:extLst>
              <a:ext uri="{FF2B5EF4-FFF2-40B4-BE49-F238E27FC236}">
                <a16:creationId xmlns:a16="http://schemas.microsoft.com/office/drawing/2014/main" id="{4765736A-4585-D195-1BB2-60A91A385B37}"/>
              </a:ext>
            </a:extLst>
          </p:cNvPr>
          <p:cNvSpPr txBox="1"/>
          <p:nvPr/>
        </p:nvSpPr>
        <p:spPr>
          <a:xfrm>
            <a:off x="5982132" y="5351158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433" name="TextBox 432">
            <a:extLst>
              <a:ext uri="{FF2B5EF4-FFF2-40B4-BE49-F238E27FC236}">
                <a16:creationId xmlns:a16="http://schemas.microsoft.com/office/drawing/2014/main" id="{F0DCDE1F-93B0-DBB8-2355-C1D60F2421C3}"/>
              </a:ext>
            </a:extLst>
          </p:cNvPr>
          <p:cNvSpPr txBox="1"/>
          <p:nvPr/>
        </p:nvSpPr>
        <p:spPr>
          <a:xfrm>
            <a:off x="7467600" y="7154213"/>
            <a:ext cx="7952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scores and output</a:t>
            </a:r>
          </a:p>
        </p:txBody>
      </p:sp>
      <p:pic>
        <p:nvPicPr>
          <p:cNvPr id="444" name="Picture 443" descr="Dashboard Icon PNG Images, Vectors Free Download - Pngtree">
            <a:extLst>
              <a:ext uri="{FF2B5EF4-FFF2-40B4-BE49-F238E27FC236}">
                <a16:creationId xmlns:a16="http://schemas.microsoft.com/office/drawing/2014/main" id="{5F64F205-84D1-5E7B-B433-23F56BBFD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247" t="15601" r="7810" b="14900"/>
          <a:stretch>
            <a:fillRect/>
          </a:stretch>
        </p:blipFill>
        <p:spPr>
          <a:xfrm>
            <a:off x="5709413" y="6942670"/>
            <a:ext cx="1235273" cy="1010678"/>
          </a:xfrm>
          <a:prstGeom prst="rect">
            <a:avLst/>
          </a:prstGeom>
        </p:spPr>
      </p:pic>
      <p:cxnSp>
        <p:nvCxnSpPr>
          <p:cNvPr id="447" name="Straight Arrow Connector 80">
            <a:extLst>
              <a:ext uri="{FF2B5EF4-FFF2-40B4-BE49-F238E27FC236}">
                <a16:creationId xmlns:a16="http://schemas.microsoft.com/office/drawing/2014/main" id="{E21C1EE6-A2B4-1D55-5765-2DBFB31116FC}"/>
              </a:ext>
            </a:extLst>
          </p:cNvPr>
          <p:cNvCxnSpPr>
            <a:cxnSpLocks/>
            <a:stCxn id="429" idx="3"/>
            <a:endCxn id="444" idx="0"/>
          </p:cNvCxnSpPr>
          <p:nvPr/>
        </p:nvCxnSpPr>
        <p:spPr>
          <a:xfrm rot="5400000">
            <a:off x="5928836" y="6532315"/>
            <a:ext cx="808570" cy="12141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3" name="Rectangle 452">
            <a:extLst>
              <a:ext uri="{FF2B5EF4-FFF2-40B4-BE49-F238E27FC236}">
                <a16:creationId xmlns:a16="http://schemas.microsoft.com/office/drawing/2014/main" id="{4D4AF615-6B77-C50C-10FE-A200652D4D42}"/>
              </a:ext>
            </a:extLst>
          </p:cNvPr>
          <p:cNvSpPr/>
          <p:nvPr/>
        </p:nvSpPr>
        <p:spPr>
          <a:xfrm>
            <a:off x="6052763" y="6290491"/>
            <a:ext cx="540000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API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pic>
        <p:nvPicPr>
          <p:cNvPr id="454" name="Picture 453" descr="Sign Up for Banking Account Alerts | Community First Credit Union">
            <a:extLst>
              <a:ext uri="{FF2B5EF4-FFF2-40B4-BE49-F238E27FC236}">
                <a16:creationId xmlns:a16="http://schemas.microsoft.com/office/drawing/2014/main" id="{7A036147-8844-3DDB-AE43-2D04D21A5186}"/>
              </a:ext>
            </a:extLst>
          </p:cNvPr>
          <p:cNvPicPr>
            <a:picLocks noChangeAspect="1"/>
          </p:cNvPicPr>
          <p:nvPr/>
        </p:nvPicPr>
        <p:blipFill>
          <a:blip r:embed="rId3">
            <a:biLevel thresh="50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</a14:imgLayer>
                </a14:imgProps>
              </a:ext>
            </a:extLst>
          </a:blip>
          <a:srcRect l="21261" t="10517" r="24760" b="12979"/>
          <a:stretch>
            <a:fillRect/>
          </a:stretch>
        </p:blipFill>
        <p:spPr>
          <a:xfrm>
            <a:off x="3440616" y="7031059"/>
            <a:ext cx="841457" cy="795055"/>
          </a:xfrm>
          <a:prstGeom prst="rect">
            <a:avLst/>
          </a:prstGeom>
        </p:spPr>
      </p:pic>
      <p:sp>
        <p:nvSpPr>
          <p:cNvPr id="455" name="TextBox 454">
            <a:extLst>
              <a:ext uri="{FF2B5EF4-FFF2-40B4-BE49-F238E27FC236}">
                <a16:creationId xmlns:a16="http://schemas.microsoft.com/office/drawing/2014/main" id="{554FE061-7C22-618A-E843-65CFEFAF0E44}"/>
              </a:ext>
            </a:extLst>
          </p:cNvPr>
          <p:cNvSpPr txBox="1"/>
          <p:nvPr/>
        </p:nvSpPr>
        <p:spPr>
          <a:xfrm>
            <a:off x="5801359" y="7968213"/>
            <a:ext cx="1091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Dashboard</a:t>
            </a:r>
          </a:p>
        </p:txBody>
      </p:sp>
      <p:sp>
        <p:nvSpPr>
          <p:cNvPr id="456" name="Rounded Rectangle 45">
            <a:extLst>
              <a:ext uri="{FF2B5EF4-FFF2-40B4-BE49-F238E27FC236}">
                <a16:creationId xmlns:a16="http://schemas.microsoft.com/office/drawing/2014/main" id="{4DB7E342-8090-EB29-88C7-4C17291EE616}"/>
              </a:ext>
            </a:extLst>
          </p:cNvPr>
          <p:cNvSpPr/>
          <p:nvPr/>
        </p:nvSpPr>
        <p:spPr>
          <a:xfrm>
            <a:off x="9906000" y="9059213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Model loaded at start-up and stored in memory.</a:t>
            </a:r>
            <a:endParaRPr lang="en-US" sz="1000" i="1" dirty="0">
              <a:solidFill>
                <a:srgbClr val="6B7A7A"/>
              </a:solidFill>
              <a:latin typeface="Nunito" pitchFamily="2" charset="0"/>
            </a:endParaRPr>
          </a:p>
        </p:txBody>
      </p:sp>
      <p:cxnSp>
        <p:nvCxnSpPr>
          <p:cNvPr id="459" name="Connector: Elbow 458">
            <a:extLst>
              <a:ext uri="{FF2B5EF4-FFF2-40B4-BE49-F238E27FC236}">
                <a16:creationId xmlns:a16="http://schemas.microsoft.com/office/drawing/2014/main" id="{6797E3BC-C50E-C8D9-2664-CFDA48B00D82}"/>
              </a:ext>
            </a:extLst>
          </p:cNvPr>
          <p:cNvCxnSpPr>
            <a:cxnSpLocks/>
            <a:stCxn id="456" idx="3"/>
            <a:endCxn id="462" idx="2"/>
          </p:cNvCxnSpPr>
          <p:nvPr/>
        </p:nvCxnSpPr>
        <p:spPr>
          <a:xfrm flipV="1">
            <a:off x="11327040" y="7710582"/>
            <a:ext cx="4991692" cy="1663518"/>
          </a:xfrm>
          <a:prstGeom prst="bentConnector2">
            <a:avLst/>
          </a:prstGeom>
          <a:ln>
            <a:solidFill>
              <a:srgbClr val="1C334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" name="Rounded Rectangle 45">
            <a:extLst>
              <a:ext uri="{FF2B5EF4-FFF2-40B4-BE49-F238E27FC236}">
                <a16:creationId xmlns:a16="http://schemas.microsoft.com/office/drawing/2014/main" id="{6E74516C-EC74-4593-6540-8865A77855FB}"/>
              </a:ext>
            </a:extLst>
          </p:cNvPr>
          <p:cNvSpPr/>
          <p:nvPr/>
        </p:nvSpPr>
        <p:spPr>
          <a:xfrm>
            <a:off x="8096377" y="9059213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Reads both </a:t>
            </a:r>
            <a:r>
              <a:rPr lang="en-US" sz="1000" b="1" dirty="0" err="1">
                <a:solidFill>
                  <a:srgbClr val="1B4332"/>
                </a:solidFill>
                <a:latin typeface="Nunito" pitchFamily="2" charset="0"/>
              </a:rPr>
              <a:t>subzone_features</a:t>
            </a:r>
            <a:endParaRPr lang="en-US" sz="1000" b="1" dirty="0">
              <a:solidFill>
                <a:srgbClr val="1B4332"/>
              </a:solidFill>
              <a:latin typeface="Nunito" pitchFamily="2" charset="0"/>
            </a:endParaRPr>
          </a:p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and REDIS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98CFFD24-608B-194F-9663-7615E96A8FB8}"/>
              </a:ext>
            </a:extLst>
          </p:cNvPr>
          <p:cNvSpPr txBox="1"/>
          <p:nvPr/>
        </p:nvSpPr>
        <p:spPr>
          <a:xfrm>
            <a:off x="3324859" y="7838301"/>
            <a:ext cx="109169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Mobile Alert</a:t>
            </a:r>
          </a:p>
        </p:txBody>
      </p:sp>
      <p:sp>
        <p:nvSpPr>
          <p:cNvPr id="494" name="TextBox 493">
            <a:extLst>
              <a:ext uri="{FF2B5EF4-FFF2-40B4-BE49-F238E27FC236}">
                <a16:creationId xmlns:a16="http://schemas.microsoft.com/office/drawing/2014/main" id="{F9DEE7C5-DEBF-BA9C-876E-1ADAB4B36596}"/>
              </a:ext>
            </a:extLst>
          </p:cNvPr>
          <p:cNvSpPr txBox="1"/>
          <p:nvPr/>
        </p:nvSpPr>
        <p:spPr>
          <a:xfrm>
            <a:off x="49079" y="4612889"/>
            <a:ext cx="15511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12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Operational Data</a:t>
            </a:r>
          </a:p>
        </p:txBody>
      </p:sp>
      <p:sp>
        <p:nvSpPr>
          <p:cNvPr id="503" name="Cylinder 502">
            <a:extLst>
              <a:ext uri="{FF2B5EF4-FFF2-40B4-BE49-F238E27FC236}">
                <a16:creationId xmlns:a16="http://schemas.microsoft.com/office/drawing/2014/main" id="{9F6DB0E5-8088-F6BB-5567-F6F421CA3354}"/>
              </a:ext>
            </a:extLst>
          </p:cNvPr>
          <p:cNvSpPr/>
          <p:nvPr/>
        </p:nvSpPr>
        <p:spPr>
          <a:xfrm>
            <a:off x="990600" y="5371001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confirmed</a:t>
            </a:r>
          </a:p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cases</a:t>
            </a:r>
          </a:p>
        </p:txBody>
      </p:sp>
      <p:sp>
        <p:nvSpPr>
          <p:cNvPr id="504" name="TextBox 503">
            <a:extLst>
              <a:ext uri="{FF2B5EF4-FFF2-40B4-BE49-F238E27FC236}">
                <a16:creationId xmlns:a16="http://schemas.microsoft.com/office/drawing/2014/main" id="{637D0EB3-69B8-A8FE-628D-E80CFA64F31E}"/>
              </a:ext>
            </a:extLst>
          </p:cNvPr>
          <p:cNvSpPr txBox="1"/>
          <p:nvPr/>
        </p:nvSpPr>
        <p:spPr>
          <a:xfrm>
            <a:off x="1175080" y="5352656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05" name="Cylinder 504">
            <a:extLst>
              <a:ext uri="{FF2B5EF4-FFF2-40B4-BE49-F238E27FC236}">
                <a16:creationId xmlns:a16="http://schemas.microsoft.com/office/drawing/2014/main" id="{75530072-90D5-E4E5-C434-CCB25F8FC7CC}"/>
              </a:ext>
            </a:extLst>
          </p:cNvPr>
          <p:cNvSpPr/>
          <p:nvPr/>
        </p:nvSpPr>
        <p:spPr>
          <a:xfrm>
            <a:off x="3352800" y="5338298"/>
            <a:ext cx="1080000" cy="755302"/>
          </a:xfrm>
          <a:prstGeom prst="can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vulnerability</a:t>
            </a:r>
          </a:p>
          <a:p>
            <a:pPr algn="ctr"/>
            <a:r>
              <a:rPr lang="en-SG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alerts</a:t>
            </a:r>
          </a:p>
        </p:txBody>
      </p:sp>
      <p:sp>
        <p:nvSpPr>
          <p:cNvPr id="506" name="TextBox 505">
            <a:extLst>
              <a:ext uri="{FF2B5EF4-FFF2-40B4-BE49-F238E27FC236}">
                <a16:creationId xmlns:a16="http://schemas.microsoft.com/office/drawing/2014/main" id="{91343E01-2B64-6151-1B12-8F4530ED5686}"/>
              </a:ext>
            </a:extLst>
          </p:cNvPr>
          <p:cNvSpPr txBox="1"/>
          <p:nvPr/>
        </p:nvSpPr>
        <p:spPr>
          <a:xfrm>
            <a:off x="3536773" y="5325818"/>
            <a:ext cx="7120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SG" sz="1000" b="1" dirty="0">
                <a:solidFill>
                  <a:srgbClr val="1C334E"/>
                </a:solidFill>
                <a:latin typeface="Nunito" pitchFamily="2" charset="0"/>
              </a:rPr>
              <a:t>Postgres</a:t>
            </a:r>
          </a:p>
        </p:txBody>
      </p:sp>
      <p:sp>
        <p:nvSpPr>
          <p:cNvPr id="508" name="TextBox 507">
            <a:extLst>
              <a:ext uri="{FF2B5EF4-FFF2-40B4-BE49-F238E27FC236}">
                <a16:creationId xmlns:a16="http://schemas.microsoft.com/office/drawing/2014/main" id="{9B61895C-2278-B155-010E-11F32ACAB54A}"/>
              </a:ext>
            </a:extLst>
          </p:cNvPr>
          <p:cNvSpPr txBox="1"/>
          <p:nvPr/>
        </p:nvSpPr>
        <p:spPr>
          <a:xfrm>
            <a:off x="-43911" y="7523704"/>
            <a:ext cx="10345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SG" sz="1200" b="1" dirty="0">
                <a:solidFill>
                  <a:srgbClr val="1C334E"/>
                </a:solidFill>
                <a:latin typeface="Nunito" pitchFamily="2" charset="0"/>
              </a:rPr>
              <a:t>Submission from Hospitals</a:t>
            </a:r>
          </a:p>
        </p:txBody>
      </p:sp>
      <p:sp>
        <p:nvSpPr>
          <p:cNvPr id="509" name="Flowchart: Document 508">
            <a:extLst>
              <a:ext uri="{FF2B5EF4-FFF2-40B4-BE49-F238E27FC236}">
                <a16:creationId xmlns:a16="http://schemas.microsoft.com/office/drawing/2014/main" id="{713AC15C-A2E6-F062-2055-34517AC0A7BD}"/>
              </a:ext>
            </a:extLst>
          </p:cNvPr>
          <p:cNvSpPr/>
          <p:nvPr/>
        </p:nvSpPr>
        <p:spPr>
          <a:xfrm>
            <a:off x="55665" y="6845547"/>
            <a:ext cx="844355" cy="685049"/>
          </a:xfrm>
          <a:prstGeom prst="flowChartDocumen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confirmed</a:t>
            </a:r>
          </a:p>
          <a:p>
            <a:pPr algn="ctr"/>
            <a:r>
              <a:rPr lang="en-SG" sz="1050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  <a:cs typeface="Arial" panose="020B0604020202020204" pitchFamily="34" charset="0"/>
              </a:rPr>
              <a:t>cases</a:t>
            </a:r>
          </a:p>
        </p:txBody>
      </p:sp>
      <p:cxnSp>
        <p:nvCxnSpPr>
          <p:cNvPr id="510" name="Straight Arrow Connector 80">
            <a:extLst>
              <a:ext uri="{FF2B5EF4-FFF2-40B4-BE49-F238E27FC236}">
                <a16:creationId xmlns:a16="http://schemas.microsoft.com/office/drawing/2014/main" id="{2BE69F4B-6C08-6E1A-5EA8-CBF8BF86E2FF}"/>
              </a:ext>
            </a:extLst>
          </p:cNvPr>
          <p:cNvCxnSpPr>
            <a:cxnSpLocks/>
            <a:stCxn id="509" idx="0"/>
            <a:endCxn id="503" idx="2"/>
          </p:cNvCxnSpPr>
          <p:nvPr/>
        </p:nvCxnSpPr>
        <p:spPr>
          <a:xfrm rot="5400000" flipH="1" flipV="1">
            <a:off x="185774" y="6040722"/>
            <a:ext cx="1096895" cy="512757"/>
          </a:xfrm>
          <a:prstGeom prst="bentConnector2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3" name="Rectangle 512">
            <a:extLst>
              <a:ext uri="{FF2B5EF4-FFF2-40B4-BE49-F238E27FC236}">
                <a16:creationId xmlns:a16="http://schemas.microsoft.com/office/drawing/2014/main" id="{F4400C4F-7B53-E14C-7870-FFB3887AA448}"/>
              </a:ext>
            </a:extLst>
          </p:cNvPr>
          <p:cNvSpPr/>
          <p:nvPr/>
        </p:nvSpPr>
        <p:spPr>
          <a:xfrm>
            <a:off x="252709" y="6273155"/>
            <a:ext cx="540000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API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cxnSp>
        <p:nvCxnSpPr>
          <p:cNvPr id="515" name="Straight Arrow Connector 80">
            <a:extLst>
              <a:ext uri="{FF2B5EF4-FFF2-40B4-BE49-F238E27FC236}">
                <a16:creationId xmlns:a16="http://schemas.microsoft.com/office/drawing/2014/main" id="{69881EC5-E36D-1268-0EB5-D098D96EDD1C}"/>
              </a:ext>
            </a:extLst>
          </p:cNvPr>
          <p:cNvCxnSpPr>
            <a:cxnSpLocks/>
            <a:stCxn id="504" idx="0"/>
            <a:endCxn id="528" idx="1"/>
          </p:cNvCxnSpPr>
          <p:nvPr/>
        </p:nvCxnSpPr>
        <p:spPr>
          <a:xfrm rot="16200000" flipH="1">
            <a:off x="5260153" y="1623609"/>
            <a:ext cx="364643" cy="7822737"/>
          </a:xfrm>
          <a:prstGeom prst="bentConnector4">
            <a:avLst>
              <a:gd name="adj1" fmla="val -141055"/>
              <a:gd name="adj2" fmla="val 79672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3" name="TextBox 522">
            <a:extLst>
              <a:ext uri="{FF2B5EF4-FFF2-40B4-BE49-F238E27FC236}">
                <a16:creationId xmlns:a16="http://schemas.microsoft.com/office/drawing/2014/main" id="{81CEC0F5-786A-0DFB-3205-0FE2627EA0B0}"/>
              </a:ext>
            </a:extLst>
          </p:cNvPr>
          <p:cNvSpPr txBox="1"/>
          <p:nvPr/>
        </p:nvSpPr>
        <p:spPr>
          <a:xfrm>
            <a:off x="2731469" y="4727916"/>
            <a:ext cx="4531795" cy="246221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>
            <a:defPPr>
              <a:defRPr lang="en-US"/>
            </a:defPPr>
            <a:lvl1pPr algn="ctr">
              <a:defRPr sz="1000" b="1">
                <a:solidFill>
                  <a:srgbClr val="6B7A7A"/>
                </a:solidFill>
                <a:latin typeface="Nunito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 err="1"/>
              <a:t>FastAPI</a:t>
            </a:r>
            <a:r>
              <a:rPr lang="en-US" dirty="0"/>
              <a:t> updates Redis</a:t>
            </a:r>
            <a:r>
              <a:rPr lang="en-US" b="0" dirty="0"/>
              <a:t>: </a:t>
            </a:r>
            <a:r>
              <a:rPr lang="en-US" b="0" dirty="0" err="1"/>
              <a:t>current_week_case_count</a:t>
            </a:r>
            <a:r>
              <a:rPr lang="en-US" b="0" dirty="0"/>
              <a:t> + 1 for that subzone</a:t>
            </a:r>
            <a:endParaRPr lang="en-SG" b="0" dirty="0"/>
          </a:p>
        </p:txBody>
      </p:sp>
      <p:cxnSp>
        <p:nvCxnSpPr>
          <p:cNvPr id="534" name="Straight Arrow Connector 80">
            <a:extLst>
              <a:ext uri="{FF2B5EF4-FFF2-40B4-BE49-F238E27FC236}">
                <a16:creationId xmlns:a16="http://schemas.microsoft.com/office/drawing/2014/main" id="{9A66529F-7FCF-8F54-7358-7A1862535859}"/>
              </a:ext>
            </a:extLst>
          </p:cNvPr>
          <p:cNvCxnSpPr>
            <a:cxnSpLocks/>
            <a:stCxn id="505" idx="3"/>
            <a:endCxn id="454" idx="0"/>
          </p:cNvCxnSpPr>
          <p:nvPr/>
        </p:nvCxnSpPr>
        <p:spPr>
          <a:xfrm rot="5400000">
            <a:off x="3408344" y="6546602"/>
            <a:ext cx="937459" cy="31455"/>
          </a:xfrm>
          <a:prstGeom prst="bentConnector3">
            <a:avLst>
              <a:gd name="adj1" fmla="val 50000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5" name="Rectangle 534">
            <a:extLst>
              <a:ext uri="{FF2B5EF4-FFF2-40B4-BE49-F238E27FC236}">
                <a16:creationId xmlns:a16="http://schemas.microsoft.com/office/drawing/2014/main" id="{F1904933-CC35-ADDD-C5A2-AA57507678DF}"/>
              </a:ext>
            </a:extLst>
          </p:cNvPr>
          <p:cNvSpPr/>
          <p:nvPr/>
        </p:nvSpPr>
        <p:spPr>
          <a:xfrm>
            <a:off x="3416563" y="6328590"/>
            <a:ext cx="869675" cy="384280"/>
          </a:xfrm>
          <a:prstGeom prst="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000" b="1" dirty="0">
                <a:solidFill>
                  <a:srgbClr val="6B7A7A"/>
                </a:solidFill>
                <a:latin typeface="Nunito" pitchFamily="2" charset="0"/>
              </a:rPr>
              <a:t>AWS SNS Push</a:t>
            </a:r>
            <a:endParaRPr lang="en-US" sz="800" i="1" dirty="0">
              <a:solidFill>
                <a:schemeClr val="tx1">
                  <a:lumMod val="65000"/>
                  <a:lumOff val="35000"/>
                </a:schemeClr>
              </a:solidFill>
              <a:latin typeface="Nunito" pitchFamily="2" charset="0"/>
            </a:endParaRPr>
          </a:p>
        </p:txBody>
      </p:sp>
      <p:cxnSp>
        <p:nvCxnSpPr>
          <p:cNvPr id="552" name="Straight Arrow Connector 80">
            <a:extLst>
              <a:ext uri="{FF2B5EF4-FFF2-40B4-BE49-F238E27FC236}">
                <a16:creationId xmlns:a16="http://schemas.microsoft.com/office/drawing/2014/main" id="{975B09C7-18BB-CF0D-72B0-D92F5CA115EF}"/>
              </a:ext>
            </a:extLst>
          </p:cNvPr>
          <p:cNvCxnSpPr>
            <a:cxnSpLocks/>
            <a:stCxn id="456" idx="1"/>
            <a:endCxn id="471" idx="3"/>
          </p:cNvCxnSpPr>
          <p:nvPr/>
        </p:nvCxnSpPr>
        <p:spPr>
          <a:xfrm flipH="1">
            <a:off x="9517417" y="9374100"/>
            <a:ext cx="388583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Arrow Connector 80">
            <a:extLst>
              <a:ext uri="{FF2B5EF4-FFF2-40B4-BE49-F238E27FC236}">
                <a16:creationId xmlns:a16="http://schemas.microsoft.com/office/drawing/2014/main" id="{69E2B35A-FA56-4F8A-2200-CD0130F2E987}"/>
              </a:ext>
            </a:extLst>
          </p:cNvPr>
          <p:cNvCxnSpPr>
            <a:cxnSpLocks/>
            <a:stCxn id="471" idx="1"/>
            <a:endCxn id="505" idx="4"/>
          </p:cNvCxnSpPr>
          <p:nvPr/>
        </p:nvCxnSpPr>
        <p:spPr>
          <a:xfrm rot="10800000">
            <a:off x="4432801" y="5715950"/>
            <a:ext cx="3663577" cy="3658151"/>
          </a:xfrm>
          <a:prstGeom prst="bentConnector3">
            <a:avLst>
              <a:gd name="adj1" fmla="val 80852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7" name="TextBox 566">
            <a:extLst>
              <a:ext uri="{FF2B5EF4-FFF2-40B4-BE49-F238E27FC236}">
                <a16:creationId xmlns:a16="http://schemas.microsoft.com/office/drawing/2014/main" id="{035D8246-E99E-0B34-1569-B48867E553FF}"/>
              </a:ext>
            </a:extLst>
          </p:cNvPr>
          <p:cNvSpPr txBox="1"/>
          <p:nvPr/>
        </p:nvSpPr>
        <p:spPr>
          <a:xfrm>
            <a:off x="5078476" y="8991600"/>
            <a:ext cx="258914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model scores subzone</a:t>
            </a:r>
          </a:p>
          <a:p>
            <a:r>
              <a:rPr lang="en-US" sz="1200" dirty="0">
                <a:solidFill>
                  <a:srgbClr val="1C334E"/>
                </a:solidFill>
                <a:latin typeface="Nunito" pitchFamily="2" charset="0"/>
              </a:rPr>
              <a:t>Pushed only if score &gt; threshold</a:t>
            </a:r>
            <a:r>
              <a:rPr lang="en-SG" sz="1200" dirty="0">
                <a:solidFill>
                  <a:srgbClr val="1C334E"/>
                </a:solidFill>
                <a:latin typeface="Nunito" pitchFamily="2" charset="0"/>
              </a:rPr>
              <a:t> </a:t>
            </a:r>
          </a:p>
        </p:txBody>
      </p:sp>
      <p:cxnSp>
        <p:nvCxnSpPr>
          <p:cNvPr id="530" name="Straight Arrow Connector 80">
            <a:extLst>
              <a:ext uri="{FF2B5EF4-FFF2-40B4-BE49-F238E27FC236}">
                <a16:creationId xmlns:a16="http://schemas.microsoft.com/office/drawing/2014/main" id="{C2202D12-E866-D3D6-1DEC-82F5E4F1003E}"/>
              </a:ext>
            </a:extLst>
          </p:cNvPr>
          <p:cNvCxnSpPr>
            <a:cxnSpLocks/>
            <a:stCxn id="541" idx="3"/>
            <a:endCxn id="573" idx="0"/>
          </p:cNvCxnSpPr>
          <p:nvPr/>
        </p:nvCxnSpPr>
        <p:spPr>
          <a:xfrm flipH="1">
            <a:off x="9317172" y="3600821"/>
            <a:ext cx="1432280" cy="5471786"/>
          </a:xfrm>
          <a:prstGeom prst="bentConnector4">
            <a:avLst>
              <a:gd name="adj1" fmla="val -39015"/>
              <a:gd name="adj2" fmla="val 94921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9" name="Straight Arrow Connector 80">
            <a:extLst>
              <a:ext uri="{FF2B5EF4-FFF2-40B4-BE49-F238E27FC236}">
                <a16:creationId xmlns:a16="http://schemas.microsoft.com/office/drawing/2014/main" id="{52BA2221-C8FD-622D-6280-F502959E3E7A}"/>
              </a:ext>
            </a:extLst>
          </p:cNvPr>
          <p:cNvCxnSpPr>
            <a:cxnSpLocks/>
            <a:stCxn id="256" idx="4"/>
            <a:endCxn id="572" idx="0"/>
          </p:cNvCxnSpPr>
          <p:nvPr/>
        </p:nvCxnSpPr>
        <p:spPr>
          <a:xfrm flipH="1">
            <a:off x="9054000" y="5419417"/>
            <a:ext cx="1695452" cy="3651703"/>
          </a:xfrm>
          <a:prstGeom prst="bentConnector4">
            <a:avLst>
              <a:gd name="adj1" fmla="val -24157"/>
              <a:gd name="adj2" fmla="val 88124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" name="Rounded Rectangle 45">
            <a:extLst>
              <a:ext uri="{FF2B5EF4-FFF2-40B4-BE49-F238E27FC236}">
                <a16:creationId xmlns:a16="http://schemas.microsoft.com/office/drawing/2014/main" id="{6DE9B3F3-20E2-697F-B450-7F23FF22AE15}"/>
              </a:ext>
            </a:extLst>
          </p:cNvPr>
          <p:cNvSpPr/>
          <p:nvPr/>
        </p:nvSpPr>
        <p:spPr>
          <a:xfrm>
            <a:off x="9925097" y="7179789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Airflow trigger</a:t>
            </a: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Mon 06:00 SGT</a:t>
            </a:r>
          </a:p>
        </p:txBody>
      </p:sp>
      <p:sp>
        <p:nvSpPr>
          <p:cNvPr id="601" name="Rounded Rectangle 45">
            <a:extLst>
              <a:ext uri="{FF2B5EF4-FFF2-40B4-BE49-F238E27FC236}">
                <a16:creationId xmlns:a16="http://schemas.microsoft.com/office/drawing/2014/main" id="{406C4675-C413-7C03-4245-6BE87E33A1E7}"/>
              </a:ext>
            </a:extLst>
          </p:cNvPr>
          <p:cNvSpPr/>
          <p:nvPr/>
        </p:nvSpPr>
        <p:spPr>
          <a:xfrm>
            <a:off x="65748" y="8982441"/>
            <a:ext cx="1421040" cy="629773"/>
          </a:xfrm>
          <a:prstGeom prst="roundRect">
            <a:avLst>
              <a:gd name="adj" fmla="val 9483"/>
            </a:avLst>
          </a:prstGeom>
          <a:solidFill>
            <a:srgbClr val="FFFFFF"/>
          </a:solidFill>
          <a:ln w="6350">
            <a:solidFill>
              <a:srgbClr val="1B43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rgbClr val="1B4332"/>
                </a:solidFill>
                <a:latin typeface="Nunito" pitchFamily="2" charset="0"/>
              </a:rPr>
              <a:t>Airflow trigger</a:t>
            </a:r>
          </a:p>
          <a:p>
            <a:pPr algn="ctr"/>
            <a:r>
              <a:rPr lang="en-US" sz="1000" i="1" dirty="0">
                <a:solidFill>
                  <a:srgbClr val="6B7A7A"/>
                </a:solidFill>
                <a:latin typeface="Nunito" pitchFamily="2" charset="0"/>
              </a:rPr>
              <a:t>Wed 06:00 SGT</a:t>
            </a:r>
          </a:p>
        </p:txBody>
      </p:sp>
      <p:cxnSp>
        <p:nvCxnSpPr>
          <p:cNvPr id="602" name="Straight Arrow Connector 80">
            <a:extLst>
              <a:ext uri="{FF2B5EF4-FFF2-40B4-BE49-F238E27FC236}">
                <a16:creationId xmlns:a16="http://schemas.microsoft.com/office/drawing/2014/main" id="{A4092927-0967-F94D-99A8-E0986C26F2A1}"/>
              </a:ext>
            </a:extLst>
          </p:cNvPr>
          <p:cNvCxnSpPr>
            <a:cxnSpLocks/>
            <a:stCxn id="601" idx="3"/>
            <a:endCxn id="600" idx="1"/>
          </p:cNvCxnSpPr>
          <p:nvPr/>
        </p:nvCxnSpPr>
        <p:spPr>
          <a:xfrm>
            <a:off x="1486788" y="9297328"/>
            <a:ext cx="512617" cy="0"/>
          </a:xfrm>
          <a:prstGeom prst="straightConnector1">
            <a:avLst/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5" name="Straight Arrow Connector 80">
            <a:extLst>
              <a:ext uri="{FF2B5EF4-FFF2-40B4-BE49-F238E27FC236}">
                <a16:creationId xmlns:a16="http://schemas.microsoft.com/office/drawing/2014/main" id="{38EB4751-AD52-6EFB-F55B-15FAB4D227F5}"/>
              </a:ext>
            </a:extLst>
          </p:cNvPr>
          <p:cNvCxnSpPr>
            <a:cxnSpLocks/>
            <a:stCxn id="610" idx="3"/>
            <a:endCxn id="280" idx="0"/>
          </p:cNvCxnSpPr>
          <p:nvPr/>
        </p:nvCxnSpPr>
        <p:spPr>
          <a:xfrm flipV="1">
            <a:off x="4218600" y="324738"/>
            <a:ext cx="8699179" cy="9757962"/>
          </a:xfrm>
          <a:prstGeom prst="bentConnector4">
            <a:avLst>
              <a:gd name="adj1" fmla="val 148771"/>
              <a:gd name="adj2" fmla="val 102343"/>
            </a:avLst>
          </a:prstGeom>
          <a:ln>
            <a:solidFill>
              <a:srgbClr val="1C33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0" name="Rectangle: Folded Corner 599">
            <a:extLst>
              <a:ext uri="{FF2B5EF4-FFF2-40B4-BE49-F238E27FC236}">
                <a16:creationId xmlns:a16="http://schemas.microsoft.com/office/drawing/2014/main" id="{314C432F-6B66-5F1F-8AB4-0D5BF3A4763D}"/>
              </a:ext>
            </a:extLst>
          </p:cNvPr>
          <p:cNvSpPr/>
          <p:nvPr/>
        </p:nvSpPr>
        <p:spPr>
          <a:xfrm>
            <a:off x="1999405" y="8345755"/>
            <a:ext cx="2664000" cy="1903145"/>
          </a:xfrm>
          <a:prstGeom prst="foldedCorner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/>
            <a:r>
              <a:rPr lang="en-SG" sz="1600" b="1" dirty="0">
                <a:solidFill>
                  <a:srgbClr val="6B7A7A"/>
                </a:solidFill>
                <a:latin typeface="Nunito" pitchFamily="2" charset="0"/>
              </a:rPr>
              <a:t>monitor.py</a:t>
            </a:r>
          </a:p>
          <a:p>
            <a:pPr algn="ctr"/>
            <a:endParaRPr lang="en-SG" sz="1600" b="1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Compares recent predictions against confirmed outcomes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Logs PSI/CSI metrics to </a:t>
            </a:r>
            <a:r>
              <a:rPr lang="en-US" sz="1200" dirty="0" err="1">
                <a:solidFill>
                  <a:srgbClr val="6B7A7A"/>
                </a:solidFill>
                <a:latin typeface="Nunito" pitchFamily="2" charset="0"/>
              </a:rPr>
              <a:t>Mlflow</a:t>
            </a: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>
              <a:solidFill>
                <a:srgbClr val="6B7A7A"/>
              </a:solidFill>
              <a:latin typeface="Nunito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6B7A7A"/>
                </a:solidFill>
                <a:latin typeface="Nunito" pitchFamily="2" charset="0"/>
              </a:rPr>
              <a:t>Raises a drift alarm if thresholds breached</a:t>
            </a:r>
            <a:endParaRPr lang="en-SG" sz="16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303" name="Rectangle: Single Corner Rounded 302">
            <a:extLst>
              <a:ext uri="{FF2B5EF4-FFF2-40B4-BE49-F238E27FC236}">
                <a16:creationId xmlns:a16="http://schemas.microsoft.com/office/drawing/2014/main" id="{564FB422-6DDC-7178-BF20-CA9E4F2CDEA0}"/>
              </a:ext>
            </a:extLst>
          </p:cNvPr>
          <p:cNvSpPr/>
          <p:nvPr/>
        </p:nvSpPr>
        <p:spPr>
          <a:xfrm>
            <a:off x="15519566" y="6901543"/>
            <a:ext cx="914400" cy="814481"/>
          </a:xfrm>
          <a:prstGeom prst="round1Rect">
            <a:avLst/>
          </a:prstGeom>
          <a:solidFill>
            <a:srgbClr val="F2F2F2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/>
            <a:r>
              <a:rPr lang="en-SG" sz="1100" b="1" dirty="0">
                <a:solidFill>
                  <a:srgbClr val="6B7A7A"/>
                </a:solidFill>
                <a:latin typeface="Nunito" pitchFamily="2" charset="0"/>
              </a:rPr>
              <a:t>model_v3</a:t>
            </a:r>
            <a:endParaRPr lang="en-SG" sz="1100" dirty="0">
              <a:solidFill>
                <a:srgbClr val="6B7A7A"/>
              </a:solidFill>
              <a:latin typeface="Nunito" pitchFamily="2" charset="0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71242A2D-47BA-8C11-5184-9DB7A3F24D51}"/>
              </a:ext>
            </a:extLst>
          </p:cNvPr>
          <p:cNvSpPr txBox="1"/>
          <p:nvPr/>
        </p:nvSpPr>
        <p:spPr>
          <a:xfrm>
            <a:off x="15554036" y="7433583"/>
            <a:ext cx="84545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1000" b="1" i="1" dirty="0">
                <a:solidFill>
                  <a:schemeClr val="tx1">
                    <a:lumMod val="65000"/>
                    <a:lumOff val="35000"/>
                  </a:schemeClr>
                </a:solidFill>
                <a:latin typeface="Nunito" pitchFamily="2" charset="0"/>
              </a:rPr>
              <a:t>Active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D1C6F6-B1D0-D6C1-44F9-6F9B60D5EC17}"/>
              </a:ext>
            </a:extLst>
          </p:cNvPr>
          <p:cNvSpPr/>
          <p:nvPr/>
        </p:nvSpPr>
        <p:spPr>
          <a:xfrm>
            <a:off x="46698" y="45536"/>
            <a:ext cx="11264304" cy="4581201"/>
          </a:xfrm>
          <a:prstGeom prst="rect">
            <a:avLst/>
          </a:prstGeom>
          <a:solidFill>
            <a:schemeClr val="accent1">
              <a:lumMod val="7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000" b="1" dirty="0">
                <a:solidFill>
                  <a:schemeClr val="bg1"/>
                </a:solidFill>
              </a:rPr>
              <a:t>Data Processing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B95759-7155-9EF5-AE91-E5FF4DEBDF1B}"/>
              </a:ext>
            </a:extLst>
          </p:cNvPr>
          <p:cNvSpPr/>
          <p:nvPr/>
        </p:nvSpPr>
        <p:spPr>
          <a:xfrm>
            <a:off x="11474532" y="45536"/>
            <a:ext cx="5711392" cy="10203364"/>
          </a:xfrm>
          <a:prstGeom prst="rect">
            <a:avLst/>
          </a:prstGeom>
          <a:solidFill>
            <a:schemeClr val="bg2">
              <a:lumMod val="2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000" b="1" dirty="0">
                <a:solidFill>
                  <a:schemeClr val="bg1"/>
                </a:solidFill>
              </a:rPr>
              <a:t>Model Development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666C668-133D-9DBA-BA76-2B4CD78A69C7}"/>
              </a:ext>
            </a:extLst>
          </p:cNvPr>
          <p:cNvSpPr/>
          <p:nvPr/>
        </p:nvSpPr>
        <p:spPr>
          <a:xfrm>
            <a:off x="46698" y="4740309"/>
            <a:ext cx="11264304" cy="3446868"/>
          </a:xfrm>
          <a:prstGeom prst="rect">
            <a:avLst/>
          </a:prstGeom>
          <a:solidFill>
            <a:schemeClr val="accent4">
              <a:lumMod val="7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000" b="1" dirty="0">
                <a:solidFill>
                  <a:schemeClr val="bg1"/>
                </a:solidFill>
              </a:rPr>
              <a:t>Model Deployment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0F86EFC-7D2B-9B52-25A5-B28702EFC9BF}"/>
              </a:ext>
            </a:extLst>
          </p:cNvPr>
          <p:cNvSpPr/>
          <p:nvPr/>
        </p:nvSpPr>
        <p:spPr>
          <a:xfrm>
            <a:off x="46698" y="8320263"/>
            <a:ext cx="11234281" cy="1903145"/>
          </a:xfrm>
          <a:prstGeom prst="rect">
            <a:avLst/>
          </a:prstGeom>
          <a:solidFill>
            <a:schemeClr val="accent5">
              <a:lumMod val="7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4000" b="1" dirty="0">
                <a:solidFill>
                  <a:schemeClr val="bg1"/>
                </a:solidFill>
              </a:rPr>
              <a:t>Model Monitoring - Retraining</a:t>
            </a:r>
          </a:p>
        </p:txBody>
      </p:sp>
    </p:spTree>
    <p:extLst>
      <p:ext uri="{BB962C8B-B14F-4D97-AF65-F5344CB8AC3E}">
        <p14:creationId xmlns:p14="http://schemas.microsoft.com/office/powerpoint/2010/main" val="2326533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>
                      <p:stCondLst>
                        <p:cond delay="indefinite"/>
                      </p:stCondLst>
                      <p:childTnLst>
                        <p:par>
                          <p:cTn id="162" fill="hold">
                            <p:stCondLst>
                              <p:cond delay="0"/>
                            </p:stCondLst>
                            <p:childTnLst>
                              <p:par>
                                <p:cTn id="1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>
                      <p:stCondLst>
                        <p:cond delay="indefinite"/>
                      </p:stCondLst>
                      <p:childTnLst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5" fill="hold">
                      <p:stCondLst>
                        <p:cond delay="indefinite"/>
                      </p:stCondLst>
                      <p:childTnLst>
                        <p:par>
                          <p:cTn id="266" fill="hold">
                            <p:stCondLst>
                              <p:cond delay="0"/>
                            </p:stCondLst>
                            <p:childTnLst>
                              <p:par>
                                <p:cTn id="2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0" grpId="0" animBg="1"/>
      <p:bldP spid="462" grpId="0" animBg="1"/>
      <p:bldP spid="464" grpId="0" animBg="1"/>
      <p:bldP spid="526" grpId="0" animBg="1"/>
      <p:bldP spid="528" grpId="0" animBg="1"/>
      <p:bldP spid="540" grpId="0" animBg="1"/>
      <p:bldP spid="541" grpId="0" animBg="1"/>
      <p:bldP spid="572" grpId="0" animBg="1"/>
      <p:bldP spid="573" grpId="0" animBg="1"/>
      <p:bldP spid="493" grpId="0" animBg="1"/>
      <p:bldP spid="489" grpId="0" animBg="1"/>
      <p:bldP spid="22" grpId="0"/>
      <p:bldP spid="33" grpId="0" animBg="1"/>
      <p:bldP spid="9" grpId="0" animBg="1"/>
      <p:bldP spid="10" grpId="0" animBg="1"/>
      <p:bldP spid="11" grpId="0" animBg="1"/>
      <p:bldP spid="18" grpId="0" animBg="1"/>
      <p:bldP spid="24" grpId="0" animBg="1"/>
      <p:bldP spid="26" grpId="0" animBg="1"/>
      <p:bldP spid="31" grpId="0" animBg="1"/>
      <p:bldP spid="32" grpId="0" animBg="1"/>
      <p:bldP spid="53" grpId="0" animBg="1"/>
      <p:bldP spid="54" grpId="0" animBg="1"/>
      <p:bldP spid="55" grpId="0" animBg="1"/>
      <p:bldP spid="56" grpId="0" animBg="1"/>
      <p:bldP spid="57" grpId="0" animBg="1"/>
      <p:bldP spid="70" grpId="0" animBg="1"/>
      <p:bldP spid="73" grpId="0" animBg="1"/>
      <p:bldP spid="120" grpId="0" animBg="1"/>
      <p:bldP spid="241" grpId="0"/>
      <p:bldP spid="243" grpId="0" animBg="1"/>
      <p:bldP spid="248" grpId="0"/>
      <p:bldP spid="249" grpId="0"/>
      <p:bldP spid="250" grpId="0"/>
      <p:bldP spid="251" grpId="0"/>
      <p:bldP spid="252" grpId="0"/>
      <p:bldP spid="253" grpId="0"/>
      <p:bldP spid="254" grpId="0"/>
      <p:bldP spid="255" grpId="0"/>
      <p:bldP spid="256" grpId="0" animBg="1"/>
      <p:bldP spid="257" grpId="0"/>
      <p:bldP spid="127" grpId="0" animBg="1"/>
      <p:bldP spid="263" grpId="0"/>
      <p:bldP spid="265" grpId="0"/>
      <p:bldP spid="266" grpId="0"/>
      <p:bldP spid="269" grpId="0" animBg="1"/>
      <p:bldP spid="296" grpId="0" animBg="1"/>
      <p:bldP spid="297" grpId="0" animBg="1"/>
      <p:bldP spid="322" grpId="0"/>
      <p:bldP spid="323" grpId="0"/>
      <p:bldP spid="324" grpId="0"/>
      <p:bldP spid="328" grpId="0" animBg="1"/>
      <p:bldP spid="330" grpId="0" animBg="1"/>
      <p:bldP spid="332" grpId="0" animBg="1"/>
      <p:bldP spid="334" grpId="0" animBg="1"/>
      <p:bldP spid="336" grpId="0" animBg="1"/>
      <p:bldP spid="280" grpId="0" animBg="1"/>
      <p:bldP spid="290" grpId="0" animBg="1"/>
      <p:bldP spid="298" grpId="0" animBg="1"/>
      <p:bldP spid="340" grpId="0"/>
      <p:bldP spid="378" grpId="0" animBg="1"/>
      <p:bldP spid="409" grpId="0" animBg="1"/>
      <p:bldP spid="429" grpId="0" animBg="1"/>
      <p:bldP spid="430" grpId="0"/>
      <p:bldP spid="433" grpId="0"/>
      <p:bldP spid="453" grpId="0" animBg="1"/>
      <p:bldP spid="455" grpId="0"/>
      <p:bldP spid="456" grpId="0" animBg="1"/>
      <p:bldP spid="471" grpId="0" animBg="1"/>
      <p:bldP spid="483" grpId="0"/>
      <p:bldP spid="494" grpId="0"/>
      <p:bldP spid="503" grpId="0" animBg="1"/>
      <p:bldP spid="504" grpId="0"/>
      <p:bldP spid="505" grpId="0" animBg="1"/>
      <p:bldP spid="506" grpId="0"/>
      <p:bldP spid="508" grpId="0"/>
      <p:bldP spid="509" grpId="0" animBg="1"/>
      <p:bldP spid="513" grpId="0" animBg="1"/>
      <p:bldP spid="523" grpId="0" animBg="1"/>
      <p:bldP spid="535" grpId="0" animBg="1"/>
      <p:bldP spid="567" grpId="0"/>
      <p:bldP spid="350" grpId="0" animBg="1"/>
      <p:bldP spid="601" grpId="0" animBg="1"/>
      <p:bldP spid="600" grpId="0" animBg="1"/>
      <p:bldP spid="303" grpId="0" animBg="1"/>
      <p:bldP spid="33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1381</TotalTime>
  <Words>1527</Words>
  <Application>Microsoft Office PowerPoint</Application>
  <PresentationFormat>Custom</PresentationFormat>
  <Paragraphs>519</Paragraphs>
  <Slides>4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Nunito</vt:lpstr>
      <vt:lpstr>Agrandir Wide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Ahana</dc:creator>
  <cp:lastModifiedBy>Gareth Wang</cp:lastModifiedBy>
  <cp:revision>83</cp:revision>
  <dcterms:created xsi:type="dcterms:W3CDTF">2006-08-16T00:00:00Z</dcterms:created>
  <dcterms:modified xsi:type="dcterms:W3CDTF">2026-05-21T05:35:57Z</dcterms:modified>
  <dc:identifier>DAHKGQr5GWU</dc:identifier>
</cp:coreProperties>
</file>