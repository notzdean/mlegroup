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s/modernComment_117_FA21B23F.xml" ContentType="application/vnd.ms-powerpoint.comments+xml"/>
  <Override PartName="/ppt/comments/modernComment_118_2A019E6A.xml" ContentType="application/vnd.ms-powerpoint.comment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9" r:id="rId4"/>
    <p:sldId id="259" r:id="rId5"/>
    <p:sldId id="260" r:id="rId6"/>
    <p:sldId id="273" r:id="rId7"/>
    <p:sldId id="278" r:id="rId8"/>
    <p:sldId id="283" r:id="rId9"/>
    <p:sldId id="279" r:id="rId10"/>
    <p:sldId id="280" r:id="rId11"/>
    <p:sldId id="281" r:id="rId12"/>
    <p:sldId id="282" r:id="rId13"/>
    <p:sldId id="266" r:id="rId14"/>
    <p:sldId id="261" r:id="rId15"/>
    <p:sldId id="284" r:id="rId16"/>
  </p:sldIdLst>
  <p:sldSz cx="18288000" cy="10287000"/>
  <p:notesSz cx="6858000" cy="9144000"/>
  <p:embeddedFontLst>
    <p:embeddedFont>
      <p:font typeface="Agrandir Wide Bold" panose="020B0604020202020204" charset="0"/>
      <p:regular r:id="rId18"/>
    </p:embeddedFont>
    <p:embeddedFont>
      <p:font typeface="Nunito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B8A76D-5CBB-EBA8-CAF3-63BA60B0AD7E}" name="Brian Chua" initials="BC" userId="d42f29b442bbaa03" providerId="Windows Live"/>
  <p188:author id="{DAE9628C-2BAF-2E0D-B06F-FD8E681DB4E4}" name="TRAN Nguyen Ngoc Nhu" initials="TNNN" userId="S::nnn.tran.2025@mitb.smu.edu.sg::9cb26665-c905-44cb-a483-365132f6ed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6F2"/>
    <a:srgbClr val="303870"/>
    <a:srgbClr val="F4E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FAF1DB-63F6-473A-874F-F3EA1B1D11EE}" v="11" dt="2026-06-22T03:32:11.435"/>
    <p1510:client id="{849DE9F9-B211-4F16-96CB-5FD64290E65C}" v="48" dt="2026-06-21T14:12:35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9" autoAdjust="0"/>
  </p:normalViewPr>
  <p:slideViewPr>
    <p:cSldViewPr snapToGrid="0">
      <p:cViewPr varScale="1">
        <p:scale>
          <a:sx n="49" d="100"/>
          <a:sy n="49" d="100"/>
        </p:scale>
        <p:origin x="380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Relationship Id="rId28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0E5C5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330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  <c:pt idx="3">
                  <c:v>AUC-ROC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0.98050000000000004</c:v>
                </c:pt>
                <c:pt idx="1">
                  <c:v>0.37809999999999999</c:v>
                </c:pt>
                <c:pt idx="2">
                  <c:v>0.54579999999999995</c:v>
                </c:pt>
                <c:pt idx="3">
                  <c:v>0.84740000000000004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6B-43A6-83F9-46AB34FE89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OOT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330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Recall</c:v>
                </c:pt>
                <c:pt idx="1">
                  <c:v>Precision</c:v>
                </c:pt>
                <c:pt idx="2">
                  <c:v>F1</c:v>
                </c:pt>
                <c:pt idx="3">
                  <c:v>AUC-ROC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0.94789999999999996</c:v>
                </c:pt>
                <c:pt idx="1">
                  <c:v>0.3226</c:v>
                </c:pt>
                <c:pt idx="2">
                  <c:v>0.48139999999999999</c:v>
                </c:pt>
                <c:pt idx="3">
                  <c:v>0.79510000000000003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86B-43A6-83F9-46AB34FE89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8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DC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8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330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0D4F4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30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rainfall_lag1w</c:v>
                </c:pt>
                <c:pt idx="1">
                  <c:v>vulnerability_index</c:v>
                </c:pt>
                <c:pt idx="2">
                  <c:v>area_km2</c:v>
                </c:pt>
                <c:pt idx="3">
                  <c:v>elderly_pct</c:v>
                </c:pt>
                <c:pt idx="4">
                  <c:v>population_density</c:v>
                </c:pt>
                <c:pt idx="5">
                  <c:v>cluster_count_rolling4w</c:v>
                </c:pt>
                <c:pt idx="6">
                  <c:v>cluster_count_rolling2w</c:v>
                </c:pt>
                <c:pt idx="7">
                  <c:v>population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2.93E-2</c:v>
                </c:pt>
                <c:pt idx="1">
                  <c:v>7.6499999999999999E-2</c:v>
                </c:pt>
                <c:pt idx="2">
                  <c:v>8.7300000000000003E-2</c:v>
                </c:pt>
                <c:pt idx="3">
                  <c:v>0.1114</c:v>
                </c:pt>
                <c:pt idx="4">
                  <c:v>0.16839999999999999</c:v>
                </c:pt>
                <c:pt idx="5">
                  <c:v>0.2316</c:v>
                </c:pt>
                <c:pt idx="6">
                  <c:v>0.3483</c:v>
                </c:pt>
                <c:pt idx="7">
                  <c:v>0.53129999999999999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72-48F4-AED2-B4A89FCD31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30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omments/modernComment_117_FA21B2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2DC603D-4171-403F-80BE-6561EDEA7561}" authorId="{08B8A76D-5CBB-EBA8-CAF3-63BA60B0AD7E}" created="2026-06-21T12:51:42.52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96512319" sldId="279"/>
      <ac:spMk id="9" creationId="{4CE7902E-0F7F-5752-AC7E-09B849FBE292}"/>
      <ac:txMk cp="0" len="5">
        <ac:context len="60" hash="2409057287"/>
      </ac:txMk>
    </ac:txMkLst>
    <p188:pos x="1086606" y="384442"/>
    <p188:txBody>
      <a:bodyPr/>
      <a:lstStyle/>
      <a:p>
        <a:r>
          <a:rPr lang="en-SG"/>
          <a:t>Do we still want to do SMOTE? Need to include the rationale for it?</a:t>
        </a:r>
      </a:p>
    </p188:txBody>
  </p188:cm>
</p188:cmLst>
</file>

<file path=ppt/comments/modernComment_118_2A019E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CFDB862-B0E3-4B1D-B1F0-2E114AB7F56B}" authorId="{DAE9628C-2BAF-2E0D-B06F-FD8E681DB4E4}" created="2026-06-22T03:26:53.35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04749162" sldId="280"/>
      <ac:spMk id="15" creationId="{F3045207-EB03-F2BF-347D-7DC907E17EF3}"/>
      <ac:txMk cp="141" len="11">
        <ac:context len="153" hash="1516439616"/>
      </ac:txMk>
    </ac:txMkLst>
    <p188:pos x="6200218" y="961531"/>
    <p188:txBody>
      <a:bodyPr/>
      <a:lstStyle/>
      <a:p>
        <a:r>
          <a:rPr lang="en-US"/>
          <a:t>Typo mistake?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27E143-D9FF-440C-BB5A-B6E017CCF52C}" type="datetimeFigureOut">
              <a:t>6/22/2026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A7CF3-7DCC-40E0-9BF9-742D8A224D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28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Let's start with the problem. In 2020, Singapore recorded over 35,000 dengue cases — the worst outbreak in its history. And yet the tools available to NEA and MOH were almost entirely reactive. By the time a cluster was confirmed and response teams were deployed, the outbreak had already taken hold.</a:t>
            </a:r>
          </a:p>
          <a:p>
            <a:r>
              <a:rPr lang="en-SG" dirty="0"/>
              <a:t>There's no system today that tells you </a:t>
            </a:r>
            <a:r>
              <a:rPr lang="en-SG" i="1" dirty="0"/>
              <a:t>which neighbourhoods are at risk before clusters form</a:t>
            </a:r>
            <a:r>
              <a:rPr lang="en-SG" dirty="0"/>
              <a:t>. That's the gap we're solving.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A7CF3-7DCC-40E0-9BF9-742D8A224D57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724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Our solution serves two distinct users with two distinct operational loops.</a:t>
            </a:r>
          </a:p>
          <a:p>
            <a:r>
              <a:rPr lang="en-SG" dirty="0"/>
              <a:t>The first is the NEA Operations team — they need a </a:t>
            </a:r>
            <a:r>
              <a:rPr lang="en-SG" b="1" dirty="0"/>
              <a:t>weekly risk map</a:t>
            </a:r>
            <a:r>
              <a:rPr lang="en-SG" dirty="0"/>
              <a:t> every Monday morning so they can pre-position fogging teams in high-risk subzones before clusters emerge.</a:t>
            </a:r>
          </a:p>
          <a:p>
            <a:r>
              <a:rPr lang="en-SG" dirty="0"/>
              <a:t>The second is the MOH officer — they need an </a:t>
            </a:r>
            <a:r>
              <a:rPr lang="en-SG" b="1" dirty="0"/>
              <a:t>event-driven alert</a:t>
            </a:r>
            <a:r>
              <a:rPr lang="en-SG" dirty="0"/>
              <a:t> the moment a confirmed case comes in, with a vulnerability score and nearby cluster context to decide whether to send a home visit, an advisory, or a testing van.</a:t>
            </a:r>
          </a:p>
          <a:p>
            <a:r>
              <a:rPr lang="en-SG" dirty="0"/>
              <a:t>The key insight is that both loops share the same underlying model. We're not building two systems — we're serving one trained artifact two ways, with different freshness contracts and different decision thresholds.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A7CF3-7DCC-40E0-9BF9-742D8A224D57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4549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Our data has four components. The anchor is </a:t>
            </a:r>
            <a:r>
              <a:rPr lang="en-SG" b="1" dirty="0" err="1"/>
              <a:t>SGCharts</a:t>
            </a:r>
            <a:r>
              <a:rPr lang="en-SG" b="1" dirty="0"/>
              <a:t> dengue cluster snapshots</a:t>
            </a:r>
            <a:r>
              <a:rPr lang="en-SG" dirty="0"/>
              <a:t> — seven years of real spatial cluster data, covering 250-plus bi-weekly snapshots right through the 2020 record outbreak.</a:t>
            </a:r>
          </a:p>
          <a:p>
            <a:r>
              <a:rPr lang="en-SG" dirty="0"/>
              <a:t>We complement that with </a:t>
            </a:r>
            <a:r>
              <a:rPr lang="en-SG" b="1" dirty="0"/>
              <a:t>MSS weather station records</a:t>
            </a:r>
            <a:r>
              <a:rPr lang="en-SG" dirty="0"/>
              <a:t> for rainfall lag features, </a:t>
            </a:r>
            <a:r>
              <a:rPr lang="en-SG" b="1" dirty="0" err="1"/>
              <a:t>SingStat</a:t>
            </a:r>
            <a:r>
              <a:rPr lang="en-SG" b="1" dirty="0"/>
              <a:t> Census 2020</a:t>
            </a:r>
            <a:r>
              <a:rPr lang="en-SG" dirty="0"/>
              <a:t> and </a:t>
            </a:r>
            <a:r>
              <a:rPr lang="en-SG" b="1" dirty="0"/>
              <a:t>URA Master Plan geodata</a:t>
            </a:r>
            <a:r>
              <a:rPr lang="en-SG" dirty="0"/>
              <a:t> for demographics and subzone boundaries. Crucially, we chose MSS over the NEA API because MSS extends all the way back to 2013, giving us the full training window.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A7CF3-7DCC-40E0-9BF9-742D8A224D57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1246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diagram captures the core architecture. On the left, our features — cluster history, weather, demographics, geography. In the middle, one trained model that produces a probability score per subzone. On the right, that single score fans out into two inference paths: the strategic weekly batch for NEA, and the tactical event-driven path for MOH. Same model, different freshness, different thresholds, different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A7CF3-7DCC-40E0-9BF9-742D8A224D57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37266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Finally, the rationale for our key design decisions. We trained on the full 2013–2020 window to capture the concept drift event. We scored at subzone granularity — 330 subzones — because planning area level is too coarse for operational fogging. We chose </a:t>
            </a:r>
            <a:r>
              <a:rPr lang="en-SG" dirty="0" err="1"/>
              <a:t>XGBoost</a:t>
            </a:r>
            <a:r>
              <a:rPr lang="en-SG" dirty="0"/>
              <a:t> and </a:t>
            </a:r>
            <a:r>
              <a:rPr lang="en-SG" dirty="0" err="1"/>
              <a:t>LightGBM</a:t>
            </a:r>
            <a:r>
              <a:rPr lang="en-SG" dirty="0"/>
              <a:t> over deep learning because tabular spatial-temporal data doesn't benefit from deep architectures, and interpretability through SHAP is a hard requirement. And we used time-series sliding-window cross-validation because standard k-fold would leak future cluster activity into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A7CF3-7DCC-40E0-9BF9-742D8A224D57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3222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(pause for introduction</a:t>
            </a:r>
          </a:p>
          <a:p>
            <a:r>
              <a:rPr lang="en-SG" dirty="0"/>
              <a:t>This is the full end-to-end pipeline — from raw data ingestion through the medallion layers, feature store, model training, evaluation, serving, and monitoring. We'll walk through the most important stages of this now. only)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A7CF3-7DCC-40E0-9BF9-742D8A224D57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7516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FAB8-B3EB-3939-D1D2-F425010E9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8BB2E-9B3A-23FF-469F-E96682A04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97228-E875-5371-7812-1733ECB1D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Let's start with how we handle data. We use a three-layer medallion architecture.</a:t>
            </a:r>
          </a:p>
          <a:p>
            <a:r>
              <a:rPr lang="en-SG" dirty="0"/>
              <a:t>In the </a:t>
            </a:r>
            <a:r>
              <a:rPr lang="en-SG" b="1" dirty="0"/>
              <a:t>Bronze layer</a:t>
            </a:r>
            <a:r>
              <a:rPr lang="en-SG" dirty="0"/>
              <a:t>, we ingest the four raw sources as-is — schema enforcement and type casting only, no filtering. This gives us a clean audit trail of exactly what came in.</a:t>
            </a:r>
          </a:p>
          <a:p>
            <a:r>
              <a:rPr lang="en-SG" dirty="0"/>
              <a:t>In the </a:t>
            </a:r>
            <a:r>
              <a:rPr lang="en-SG" b="1" dirty="0"/>
              <a:t>Silver layer</a:t>
            </a:r>
            <a:r>
              <a:rPr lang="en-SG" dirty="0"/>
              <a:t>, each source gets its own cleaning ruleset. For clusters, we filter to the reliable 2015-onwards data, apply a Singapore bounding box to drop out-of-boundary coordinates, and remove zero-case rows and duplicates. For weather, we drop temperature and wind columns — EDA showed they had less than 30% coverage — cap rainfall outliers at 300mm per day, and aggregate to a daily island-wide mean. For population, we standardise subzone names and derive the elderly percentage. And for geodata, we filter out 49 non-residential subzones, repair invalid geometries, and compute areas in the SVY21 projection.</a:t>
            </a:r>
          </a:p>
          <a:p>
            <a:r>
              <a:rPr lang="en-SG" dirty="0"/>
              <a:t>In the </a:t>
            </a:r>
            <a:r>
              <a:rPr lang="en-SG" b="1" dirty="0"/>
              <a:t>Gold layer</a:t>
            </a:r>
            <a:r>
              <a:rPr lang="en-SG" dirty="0"/>
              <a:t>, we engineer 10 features across four groups: rainfall lags at 1, 2, and 4 weeks to capture the mosquito breeding cycle; rolling cluster counts at 2 and 4 weeks for island-wide momentum; spatial features for cluster overlap and proximity; and demographic features including a PCA-derived vulnerability index. Finally, we attach the label — 1 if an active cluster overlaps the subzone in the next 14 days. This is a strictly forward-looking window, so there's no data leakage.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2ABE2-46F1-B7B5-DFE9-CB8FA73CA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71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91F86-82DC-761D-C272-E8F11EACE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A0306D-3BD9-E5DB-8A0E-9DFC0A8F6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201081-0D05-F1F9-9920-B1C40D125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2F418-22DD-AA60-D733-33E16278D1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13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A125C-058F-97D8-AC7E-69479A9F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E6713-9C72-AEBC-BF33-F10197CD9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5779F-32DD-1321-5454-478132DED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why choose </a:t>
            </a:r>
            <a:r>
              <a:rPr lang="en-US" dirty="0" err="1"/>
              <a:t>XGBoost</a:t>
            </a:r>
            <a:r>
              <a:rPr lang="en-US" dirty="0"/>
              <a:t>/</a:t>
            </a:r>
            <a:r>
              <a:rPr lang="en-US" dirty="0" err="1"/>
              <a:t>lightGBM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66DE8-F904-E750-4227-70323F723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52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5BE7F-7870-13DB-DA68-0EEE9B62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2DED8-8746-69FF-3DC9-278346357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A9A01-BEA3-B48F-F855-EDB003249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99762-5E13-B52C-DF5B-052EDA441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81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A1F8B-8361-B12F-6DDC-79E2B1C58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FE61D6-D4E2-A76D-2518-D5FD72309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8B9A2-7530-7EF7-B8F3-3E7239934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E78E4-921B-D17C-09BD-9CDE26FFF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89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66500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microsoft.com/office/2018/10/relationships/comments" Target="../comments/modernComment_117_FA21B23F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microsoft.com/office/2018/10/relationships/comments" Target="../comments/modernComment_118_2A019E6A.xml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905330"/>
            <a:ext cx="14275874" cy="2556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8000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DENGUE OUTBREAK RISK PREDICTION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7012" y="6031338"/>
            <a:ext cx="6594356" cy="556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dirty="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Final Presentation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7012" y="8699209"/>
            <a:ext cx="6680614" cy="559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40"/>
              </a:lnSpc>
            </a:pPr>
            <a:r>
              <a:rPr lang="en-US" sz="32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Group 4 </a:t>
            </a:r>
            <a:endParaRPr lang="en-US" sz="3243">
              <a:solidFill>
                <a:srgbClr val="30387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28711" y="5505111"/>
            <a:ext cx="14080594" cy="0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24666" y="3082121"/>
            <a:ext cx="9809969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4"/>
              </a:lnSpc>
            </a:pPr>
            <a:r>
              <a:rPr lang="en-US" sz="5600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The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51057" y="4365351"/>
            <a:ext cx="12412680" cy="2774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245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Singapore's 2020 dengue outbreak saw over </a:t>
            </a:r>
            <a:r>
              <a:rPr lang="en-US" sz="2450" b="1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35,000 cases</a:t>
            </a:r>
            <a:r>
              <a:rPr lang="en-US" sz="245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, yet the tools used to respond were </a:t>
            </a:r>
            <a:r>
              <a:rPr lang="en-US" sz="2450" b="1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largely reactive</a:t>
            </a:r>
            <a:r>
              <a:rPr lang="en-US" sz="245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. ​</a:t>
            </a:r>
          </a:p>
          <a:p>
            <a:pPr algn="ctr">
              <a:lnSpc>
                <a:spcPts val="4399"/>
              </a:lnSpc>
            </a:pPr>
            <a:r>
              <a:rPr lang="en-US" sz="2450">
                <a:solidFill>
                  <a:srgbClr val="303870"/>
                </a:solidFill>
                <a:latin typeface="Nunito"/>
                <a:ea typeface="Nunito"/>
                <a:cs typeface="Times New Roman"/>
                <a:sym typeface="Nunito"/>
              </a:rPr>
              <a:t>There is </a:t>
            </a:r>
            <a:r>
              <a:rPr lang="en-US" sz="2450" b="1">
                <a:solidFill>
                  <a:srgbClr val="303870"/>
                </a:solidFill>
                <a:latin typeface="Nunito"/>
                <a:ea typeface="Nunito"/>
                <a:cs typeface="Times New Roman"/>
                <a:sym typeface="Nunito"/>
              </a:rPr>
              <a:t>no system</a:t>
            </a:r>
            <a:r>
              <a:rPr lang="en-US" sz="2450">
                <a:solidFill>
                  <a:srgbClr val="303870"/>
                </a:solidFill>
                <a:latin typeface="Nunito"/>
                <a:ea typeface="Nunito"/>
                <a:cs typeface="Times New Roman"/>
                <a:sym typeface="Nunito"/>
              </a:rPr>
              <a:t> to predict which neighborhoods were at risk before clusters formed, leaving National Environment Agency (NEA) and Ministry of Health (MOH) </a:t>
            </a:r>
            <a:r>
              <a:rPr lang="en-US" sz="2450" b="1">
                <a:solidFill>
                  <a:srgbClr val="303870"/>
                </a:solidFill>
                <a:latin typeface="Nunito"/>
                <a:ea typeface="Nunito"/>
                <a:cs typeface="Times New Roman"/>
                <a:sym typeface="Nunito"/>
              </a:rPr>
              <a:t>struggling to catch up</a:t>
            </a:r>
            <a:r>
              <a:rPr lang="en-US" sz="2450">
                <a:solidFill>
                  <a:srgbClr val="303870"/>
                </a:solidFill>
                <a:latin typeface="Nunito"/>
                <a:ea typeface="Nunito"/>
                <a:cs typeface="Times New Roman"/>
                <a:sym typeface="Nunito"/>
              </a:rPr>
              <a:t> rather than getting ahead of the outbreak</a:t>
            </a:r>
            <a:endParaRPr lang="en-US" sz="2450">
              <a:solidFill>
                <a:srgbClr val="303870"/>
              </a:solidFill>
              <a:latin typeface="Nunito"/>
              <a:ea typeface="Nunito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2AF27-BFD0-D3AF-7563-AF61ED00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1488671-9745-53F3-A303-61B7009C8DE5}"/>
              </a:ext>
            </a:extLst>
          </p:cNvPr>
          <p:cNvSpPr/>
          <p:nvPr/>
        </p:nvSpPr>
        <p:spPr>
          <a:xfrm>
            <a:off x="1693333" y="4050256"/>
            <a:ext cx="6337109" cy="5260302"/>
          </a:xfrm>
          <a:prstGeom prst="rect">
            <a:avLst/>
          </a:prstGeom>
          <a:solidFill>
            <a:srgbClr val="F4EDE2"/>
          </a:solidFill>
          <a:ln w="889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039B6F4-5453-0CDF-8AFE-77E2AAA524C4}"/>
              </a:ext>
            </a:extLst>
          </p:cNvPr>
          <p:cNvSpPr/>
          <p:nvPr/>
        </p:nvSpPr>
        <p:spPr>
          <a:xfrm>
            <a:off x="8477520" y="4050256"/>
            <a:ext cx="6337109" cy="5260302"/>
          </a:xfrm>
          <a:prstGeom prst="rect">
            <a:avLst/>
          </a:prstGeom>
          <a:solidFill>
            <a:srgbClr val="F4EDE2"/>
          </a:solidFill>
          <a:ln w="889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09F65D52-E88E-137F-0A9A-B8A50FC3BE5A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FEBA04-80A9-BF40-3482-0B304CEF95C0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391DA9A-04A4-FBF8-02BD-4AB2E3FA665B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D37C82C-ABDC-2BD8-40C9-D8F8754A4881}"/>
              </a:ext>
            </a:extLst>
          </p:cNvPr>
          <p:cNvSpPr/>
          <p:nvPr/>
        </p:nvSpPr>
        <p:spPr>
          <a:xfrm>
            <a:off x="4197507" y="2805810"/>
            <a:ext cx="1262188" cy="1262188"/>
          </a:xfrm>
          <a:custGeom>
            <a:avLst/>
            <a:gdLst/>
            <a:ahLst/>
            <a:cxnLst/>
            <a:rect l="l" t="t" r="r" b="b"/>
            <a:pathLst>
              <a:path w="1262188" h="1262188">
                <a:moveTo>
                  <a:pt x="0" y="0"/>
                </a:moveTo>
                <a:lnTo>
                  <a:pt x="1262188" y="0"/>
                </a:lnTo>
                <a:lnTo>
                  <a:pt x="1262188" y="1262188"/>
                </a:ln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A23E208-BCC3-7211-9624-776FA1CAA951}"/>
              </a:ext>
            </a:extLst>
          </p:cNvPr>
          <p:cNvSpPr/>
          <p:nvPr/>
        </p:nvSpPr>
        <p:spPr>
          <a:xfrm>
            <a:off x="11314656" y="2828670"/>
            <a:ext cx="1262188" cy="1262188"/>
          </a:xfrm>
          <a:custGeom>
            <a:avLst/>
            <a:gdLst/>
            <a:ahLst/>
            <a:cxnLst/>
            <a:rect l="l" t="t" r="r" b="b"/>
            <a:pathLst>
              <a:path w="1262188" h="1262188">
                <a:moveTo>
                  <a:pt x="0" y="0"/>
                </a:moveTo>
                <a:lnTo>
                  <a:pt x="1262188" y="0"/>
                </a:lnTo>
                <a:lnTo>
                  <a:pt x="1262188" y="1262188"/>
                </a:ln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5F53DBC-CFEB-CC1F-72D8-CE37072F498E}"/>
              </a:ext>
            </a:extLst>
          </p:cNvPr>
          <p:cNvSpPr txBox="1"/>
          <p:nvPr/>
        </p:nvSpPr>
        <p:spPr>
          <a:xfrm>
            <a:off x="1028700" y="895350"/>
            <a:ext cx="1395455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5600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Proposed Solution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FF73808-8EF6-9CA5-FC4E-76FC1B0843A1}"/>
              </a:ext>
            </a:extLst>
          </p:cNvPr>
          <p:cNvSpPr txBox="1"/>
          <p:nvPr/>
        </p:nvSpPr>
        <p:spPr>
          <a:xfrm>
            <a:off x="2558958" y="4255802"/>
            <a:ext cx="4688757" cy="59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303870"/>
                </a:solidFill>
                <a:latin typeface="Nunito" pitchFamily="2" charset="0"/>
                <a:ea typeface="Canva Sans"/>
                <a:cs typeface="Times New Roman" panose="02020603050405020304" pitchFamily="18" charset="0"/>
                <a:sym typeface="Canva Sans"/>
              </a:rPr>
              <a:t>NEA Operations Team 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5F111D2-7FC6-EDD4-3382-C4DE430CB812}"/>
              </a:ext>
            </a:extLst>
          </p:cNvPr>
          <p:cNvSpPr txBox="1"/>
          <p:nvPr/>
        </p:nvSpPr>
        <p:spPr>
          <a:xfrm>
            <a:off x="9800619" y="4342527"/>
            <a:ext cx="4353035" cy="59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50" b="1">
                <a:solidFill>
                  <a:srgbClr val="303870"/>
                </a:solidFill>
                <a:latin typeface="Nunito"/>
                <a:ea typeface="Canva Sans"/>
                <a:cs typeface="Times New Roman"/>
                <a:sym typeface="Canva Sans"/>
              </a:rPr>
              <a:t>MOH Officer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7FB1B-7BC3-4DD1-4379-B04E4629B423}"/>
              </a:ext>
            </a:extLst>
          </p:cNvPr>
          <p:cNvSpPr txBox="1"/>
          <p:nvPr/>
        </p:nvSpPr>
        <p:spPr>
          <a:xfrm>
            <a:off x="4038248" y="4908398"/>
            <a:ext cx="21889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>
                <a:solidFill>
                  <a:schemeClr val="tx2"/>
                </a:solidFill>
                <a:latin typeface="Nunito" pitchFamily="2" charset="0"/>
                <a:ea typeface="Calibri"/>
                <a:cs typeface="Times New Roman" panose="02020603050405020304" pitchFamily="18" charset="0"/>
              </a:rPr>
              <a:t>Primary User</a:t>
            </a:r>
            <a:endParaRPr lang="en-GB" sz="2000">
              <a:solidFill>
                <a:schemeClr val="tx2"/>
              </a:solidFill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5F060-9B92-E266-95E7-5B163F012C73}"/>
              </a:ext>
            </a:extLst>
          </p:cNvPr>
          <p:cNvSpPr txBox="1"/>
          <p:nvPr/>
        </p:nvSpPr>
        <p:spPr>
          <a:xfrm>
            <a:off x="10747188" y="4975807"/>
            <a:ext cx="3406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tx2"/>
                </a:solidFill>
                <a:latin typeface="Nunito" pitchFamily="2" charset="0"/>
                <a:ea typeface="Calibri"/>
                <a:cs typeface="Times New Roman" panose="02020603050405020304" pitchFamily="18" charset="0"/>
              </a:rPr>
              <a:t>Real Time New User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150BE-F39D-9097-416F-887BE70F70DE}"/>
              </a:ext>
            </a:extLst>
          </p:cNvPr>
          <p:cNvSpPr txBox="1"/>
          <p:nvPr/>
        </p:nvSpPr>
        <p:spPr>
          <a:xfrm>
            <a:off x="2245781" y="6802593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When</a:t>
            </a:r>
            <a:r>
              <a:rPr lang="en-US">
                <a:latin typeface="Nunito" pitchFamily="2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467760-9818-840A-F2ED-A97E43EBE477}"/>
              </a:ext>
            </a:extLst>
          </p:cNvPr>
          <p:cNvSpPr txBox="1"/>
          <p:nvPr/>
        </p:nvSpPr>
        <p:spPr>
          <a:xfrm>
            <a:off x="2245781" y="7408308"/>
            <a:ext cx="112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Receives</a:t>
            </a:r>
            <a:r>
              <a:rPr lang="en-US">
                <a:latin typeface="Nunito" pitchFamily="2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0BBE88-FDF3-2870-2B1C-1897BCFAFC28}"/>
              </a:ext>
            </a:extLst>
          </p:cNvPr>
          <p:cNvSpPr/>
          <p:nvPr/>
        </p:nvSpPr>
        <p:spPr>
          <a:xfrm>
            <a:off x="2250353" y="7397482"/>
            <a:ext cx="1122172" cy="35427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C19B8B-1DE1-A115-291D-0822D896120C}"/>
              </a:ext>
            </a:extLst>
          </p:cNvPr>
          <p:cNvSpPr/>
          <p:nvPr/>
        </p:nvSpPr>
        <p:spPr>
          <a:xfrm>
            <a:off x="2250353" y="6772823"/>
            <a:ext cx="112217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767D6C-C366-FD08-C6B7-150510DFF9B2}"/>
              </a:ext>
            </a:extLst>
          </p:cNvPr>
          <p:cNvSpPr/>
          <p:nvPr/>
        </p:nvSpPr>
        <p:spPr>
          <a:xfrm>
            <a:off x="2256195" y="8198493"/>
            <a:ext cx="1122172" cy="35427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651046-7E10-38C8-102C-E3E517696D6A}"/>
              </a:ext>
            </a:extLst>
          </p:cNvPr>
          <p:cNvSpPr txBox="1"/>
          <p:nvPr/>
        </p:nvSpPr>
        <p:spPr>
          <a:xfrm>
            <a:off x="2245781" y="8204873"/>
            <a:ext cx="104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Action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3413C7-F543-5955-1020-6C8837A41FC7}"/>
              </a:ext>
            </a:extLst>
          </p:cNvPr>
          <p:cNvSpPr/>
          <p:nvPr/>
        </p:nvSpPr>
        <p:spPr>
          <a:xfrm>
            <a:off x="3760336" y="7329965"/>
            <a:ext cx="3521663" cy="71715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278784-F7AD-E42F-12D4-AE6819141D58}"/>
              </a:ext>
            </a:extLst>
          </p:cNvPr>
          <p:cNvSpPr/>
          <p:nvPr/>
        </p:nvSpPr>
        <p:spPr>
          <a:xfrm>
            <a:off x="3743402" y="8198493"/>
            <a:ext cx="3521663" cy="71715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589B2E-6741-A849-FD59-3562E58C368D}"/>
              </a:ext>
            </a:extLst>
          </p:cNvPr>
          <p:cNvSpPr/>
          <p:nvPr/>
        </p:nvSpPr>
        <p:spPr>
          <a:xfrm>
            <a:off x="3743403" y="6630850"/>
            <a:ext cx="3521663" cy="48930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EBE361-565C-C0E9-CC29-C53585DDB8E0}"/>
              </a:ext>
            </a:extLst>
          </p:cNvPr>
          <p:cNvSpPr/>
          <p:nvPr/>
        </p:nvSpPr>
        <p:spPr>
          <a:xfrm>
            <a:off x="9420623" y="7449252"/>
            <a:ext cx="1122172" cy="35427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581935-22E1-6B06-A8F1-DA7A6A4A0E4F}"/>
              </a:ext>
            </a:extLst>
          </p:cNvPr>
          <p:cNvSpPr/>
          <p:nvPr/>
        </p:nvSpPr>
        <p:spPr>
          <a:xfrm>
            <a:off x="9420623" y="6824593"/>
            <a:ext cx="1122172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1A38C1-8E1D-5C2A-6538-ED20847F4C48}"/>
              </a:ext>
            </a:extLst>
          </p:cNvPr>
          <p:cNvSpPr txBox="1"/>
          <p:nvPr/>
        </p:nvSpPr>
        <p:spPr>
          <a:xfrm>
            <a:off x="9420623" y="8246234"/>
            <a:ext cx="104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Action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5577E0F-AB12-13D3-D6F0-1430B7388E97}"/>
              </a:ext>
            </a:extLst>
          </p:cNvPr>
          <p:cNvSpPr/>
          <p:nvPr/>
        </p:nvSpPr>
        <p:spPr>
          <a:xfrm>
            <a:off x="10930606" y="7381735"/>
            <a:ext cx="3521663" cy="66538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331E20-143A-BD66-5D52-47305ABE0C28}"/>
              </a:ext>
            </a:extLst>
          </p:cNvPr>
          <p:cNvSpPr/>
          <p:nvPr/>
        </p:nvSpPr>
        <p:spPr>
          <a:xfrm>
            <a:off x="10927234" y="8267555"/>
            <a:ext cx="3521663" cy="7239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D500099-F34E-9262-4709-94F51CDE2B88}"/>
              </a:ext>
            </a:extLst>
          </p:cNvPr>
          <p:cNvSpPr/>
          <p:nvPr/>
        </p:nvSpPr>
        <p:spPr>
          <a:xfrm>
            <a:off x="10913673" y="6682620"/>
            <a:ext cx="3521663" cy="48930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FCF2A76-6AEB-4855-995B-5ACBE1AD0738}"/>
              </a:ext>
            </a:extLst>
          </p:cNvPr>
          <p:cNvSpPr/>
          <p:nvPr/>
        </p:nvSpPr>
        <p:spPr>
          <a:xfrm>
            <a:off x="9420623" y="8247338"/>
            <a:ext cx="1122172" cy="35427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189739-8633-A440-1DAC-CE0486335256}"/>
              </a:ext>
            </a:extLst>
          </p:cNvPr>
          <p:cNvSpPr txBox="1"/>
          <p:nvPr/>
        </p:nvSpPr>
        <p:spPr>
          <a:xfrm>
            <a:off x="9399456" y="7449252"/>
            <a:ext cx="112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Receives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4B3557-A04A-B1FF-4255-305B93110E59}"/>
              </a:ext>
            </a:extLst>
          </p:cNvPr>
          <p:cNvSpPr txBox="1"/>
          <p:nvPr/>
        </p:nvSpPr>
        <p:spPr>
          <a:xfrm>
            <a:off x="9399456" y="6837706"/>
            <a:ext cx="1045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Nunito" pitchFamily="2" charset="0"/>
                <a:cs typeface="Times New Roman" panose="02020603050405020304" pitchFamily="18" charset="0"/>
              </a:rPr>
              <a:t>When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84C49BE-80FD-D1B5-263A-AF910A73B5A8}"/>
              </a:ext>
            </a:extLst>
          </p:cNvPr>
          <p:cNvSpPr txBox="1"/>
          <p:nvPr/>
        </p:nvSpPr>
        <p:spPr>
          <a:xfrm>
            <a:off x="3834297" y="6719637"/>
            <a:ext cx="3447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Weekly – Every Monday Morning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463F8E-1877-DD17-EF77-556738D778F7}"/>
              </a:ext>
            </a:extLst>
          </p:cNvPr>
          <p:cNvSpPr txBox="1"/>
          <p:nvPr/>
        </p:nvSpPr>
        <p:spPr>
          <a:xfrm>
            <a:off x="3834297" y="7414439"/>
            <a:ext cx="3413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Model-predicted risk score per subzone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CF1145-19C5-2510-E438-205AA5A954B1}"/>
              </a:ext>
            </a:extLst>
          </p:cNvPr>
          <p:cNvSpPr txBox="1"/>
          <p:nvPr/>
        </p:nvSpPr>
        <p:spPr>
          <a:xfrm>
            <a:off x="3830016" y="8260834"/>
            <a:ext cx="3431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Pre-deploy fogging teams to </a:t>
            </a:r>
          </a:p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High-risk zones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D6243A-08D5-F418-D6AC-B0D780C5B20D}"/>
              </a:ext>
            </a:extLst>
          </p:cNvPr>
          <p:cNvSpPr txBox="1"/>
          <p:nvPr/>
        </p:nvSpPr>
        <p:spPr>
          <a:xfrm>
            <a:off x="10974663" y="6752091"/>
            <a:ext cx="34268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Event Driven – Per confirmed case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21F977-32C1-AB92-652B-FD5F5D98D57B}"/>
              </a:ext>
            </a:extLst>
          </p:cNvPr>
          <p:cNvSpPr txBox="1"/>
          <p:nvPr/>
        </p:nvSpPr>
        <p:spPr>
          <a:xfrm>
            <a:off x="10943306" y="7400787"/>
            <a:ext cx="3426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ML vulnerability score and 200m radius features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A35339-295A-2420-876B-593A6495AE37}"/>
              </a:ext>
            </a:extLst>
          </p:cNvPr>
          <p:cNvSpPr txBox="1"/>
          <p:nvPr/>
        </p:nvSpPr>
        <p:spPr>
          <a:xfrm>
            <a:off x="10913673" y="8321986"/>
            <a:ext cx="3426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Nunito" pitchFamily="2" charset="0"/>
                <a:cs typeface="Times New Roman" panose="02020603050405020304" pitchFamily="18" charset="0"/>
              </a:rPr>
              <a:t>Triage: Home Visit, Advisory, Testing van dispatch 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75CC2553-14E6-1C94-3D84-6FC932C345C7}"/>
              </a:ext>
            </a:extLst>
          </p:cNvPr>
          <p:cNvSpPr txBox="1"/>
          <p:nvPr/>
        </p:nvSpPr>
        <p:spPr>
          <a:xfrm>
            <a:off x="2396137" y="5643504"/>
            <a:ext cx="501439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>
                <a:solidFill>
                  <a:srgbClr val="303870"/>
                </a:solidFill>
                <a:latin typeface="Nunito" pitchFamily="2" charset="0"/>
                <a:ea typeface="Canva Sans"/>
                <a:cs typeface="Times New Roman" panose="02020603050405020304" pitchFamily="18" charset="0"/>
                <a:sym typeface="Canva Sans"/>
              </a:rPr>
              <a:t>Where should fogging be deployed next week ?</a:t>
            </a: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5C913D1E-213E-15BA-0327-246281E5ACBC}"/>
              </a:ext>
            </a:extLst>
          </p:cNvPr>
          <p:cNvSpPr txBox="1"/>
          <p:nvPr/>
        </p:nvSpPr>
        <p:spPr>
          <a:xfrm>
            <a:off x="9469936" y="5643504"/>
            <a:ext cx="5014398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>
                <a:solidFill>
                  <a:srgbClr val="303870"/>
                </a:solidFill>
                <a:latin typeface="Nunito" pitchFamily="2" charset="0"/>
                <a:ea typeface="Canva Sans"/>
                <a:cs typeface="Times New Roman" panose="02020603050405020304" pitchFamily="18" charset="0"/>
                <a:sym typeface="Canva Sans"/>
              </a:rPr>
              <a:t>Who needs same day outreach right now 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B2073A-5DBE-303C-8F0E-E3A66002972D}"/>
              </a:ext>
            </a:extLst>
          </p:cNvPr>
          <p:cNvSpPr txBox="1"/>
          <p:nvPr/>
        </p:nvSpPr>
        <p:spPr>
          <a:xfrm>
            <a:off x="970183" y="1600146"/>
            <a:ext cx="15280833" cy="11721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4399"/>
              </a:lnSpc>
            </a:pPr>
            <a:r>
              <a:rPr lang="en-US" sz="240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Dengue Control is a </a:t>
            </a:r>
            <a:r>
              <a:rPr lang="en-US" sz="2400" b="1" dirty="0">
                <a:solidFill>
                  <a:schemeClr val="accent1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Two Speed Problem</a:t>
            </a:r>
            <a:r>
              <a:rPr lang="en-US" sz="240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 | </a:t>
            </a:r>
            <a:r>
              <a:rPr lang="en-US" sz="2400" b="1" dirty="0">
                <a:solidFill>
                  <a:schemeClr val="accent1"/>
                </a:solidFill>
                <a:latin typeface="Nunito" pitchFamily="2" charset="0"/>
                <a:cs typeface="Times New Roman"/>
                <a:sym typeface="Nunito"/>
              </a:rPr>
              <a:t>Two Cost Functions</a:t>
            </a:r>
            <a:r>
              <a:rPr lang="en-US" sz="240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 | </a:t>
            </a:r>
            <a:r>
              <a:rPr lang="en-US" sz="2400" b="1" dirty="0">
                <a:solidFill>
                  <a:schemeClr val="accent1"/>
                </a:solidFill>
                <a:latin typeface="Nunito" pitchFamily="2" charset="0"/>
                <a:cs typeface="Times New Roman"/>
                <a:sym typeface="Nunito"/>
              </a:rPr>
              <a:t>Two Cadences</a:t>
            </a:r>
            <a:r>
              <a:rPr lang="en-US" sz="2400" dirty="0">
                <a:solidFill>
                  <a:srgbClr val="303870"/>
                </a:solidFill>
                <a:latin typeface="Nunito" pitchFamily="2" charset="0"/>
                <a:ea typeface="Nunito"/>
                <a:cs typeface="Times New Roman"/>
                <a:sym typeface="Nunito"/>
              </a:rPr>
              <a:t> | One underlying Model Serving Both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44E4FE-9EB3-CD41-C578-8477664B19AB}"/>
              </a:ext>
            </a:extLst>
          </p:cNvPr>
          <p:cNvSpPr txBox="1"/>
          <p:nvPr/>
        </p:nvSpPr>
        <p:spPr>
          <a:xfrm>
            <a:off x="8523867" y="3627484"/>
            <a:ext cx="2459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tx2"/>
                </a:solidFill>
                <a:latin typeface="Nunito" pitchFamily="2" charset="0"/>
                <a:ea typeface="Calibri"/>
                <a:cs typeface="Times New Roman" panose="02020603050405020304" pitchFamily="18" charset="0"/>
              </a:rPr>
              <a:t>Tactical Loop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A7515CB-1C17-9B94-6A33-EE36CB37E8F4}"/>
              </a:ext>
            </a:extLst>
          </p:cNvPr>
          <p:cNvSpPr txBox="1"/>
          <p:nvPr/>
        </p:nvSpPr>
        <p:spPr>
          <a:xfrm>
            <a:off x="1596993" y="3627484"/>
            <a:ext cx="2459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tx2"/>
                </a:solidFill>
                <a:latin typeface="Nunito" pitchFamily="2" charset="0"/>
                <a:ea typeface="Calibri"/>
                <a:cs typeface="Times New Roman" panose="02020603050405020304" pitchFamily="18" charset="0"/>
              </a:rPr>
              <a:t>Strategic Loop</a:t>
            </a:r>
          </a:p>
        </p:txBody>
      </p:sp>
    </p:spTree>
    <p:extLst>
      <p:ext uri="{BB962C8B-B14F-4D97-AF65-F5344CB8AC3E}">
        <p14:creationId xmlns:p14="http://schemas.microsoft.com/office/powerpoint/2010/main" val="1708219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74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0" name="TextBox 8">
            <a:extLst>
              <a:ext uri="{FF2B5EF4-FFF2-40B4-BE49-F238E27FC236}">
                <a16:creationId xmlns:a16="http://schemas.microsoft.com/office/drawing/2014/main" id="{0651FF1A-8850-DDD2-5ACC-7FDCD693E4C4}"/>
              </a:ext>
            </a:extLst>
          </p:cNvPr>
          <p:cNvSpPr txBox="1"/>
          <p:nvPr/>
        </p:nvSpPr>
        <p:spPr>
          <a:xfrm>
            <a:off x="1066800" y="975932"/>
            <a:ext cx="13954558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5600" b="1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The Dataset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D5D442D-CF8B-5FAB-5ACC-1EFB5C68F897}"/>
              </a:ext>
            </a:extLst>
          </p:cNvPr>
          <p:cNvSpPr/>
          <p:nvPr/>
        </p:nvSpPr>
        <p:spPr>
          <a:xfrm>
            <a:off x="1168590" y="2109717"/>
            <a:ext cx="7086600" cy="3657600"/>
          </a:xfrm>
          <a:prstGeom prst="rect">
            <a:avLst/>
          </a:prstGeom>
          <a:solidFill>
            <a:srgbClr val="F4ED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F4B8DF6-E6EE-CBAE-B7B9-5036CA04E7F4}"/>
              </a:ext>
            </a:extLst>
          </p:cNvPr>
          <p:cNvSpPr/>
          <p:nvPr/>
        </p:nvSpPr>
        <p:spPr>
          <a:xfrm>
            <a:off x="8554453" y="2090382"/>
            <a:ext cx="7086600" cy="3657600"/>
          </a:xfrm>
          <a:prstGeom prst="rect">
            <a:avLst/>
          </a:prstGeom>
          <a:solidFill>
            <a:srgbClr val="F4ED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DACF60E-165B-FA5D-C710-7699E165386C}"/>
              </a:ext>
            </a:extLst>
          </p:cNvPr>
          <p:cNvSpPr/>
          <p:nvPr/>
        </p:nvSpPr>
        <p:spPr>
          <a:xfrm>
            <a:off x="8534400" y="6060460"/>
            <a:ext cx="7086600" cy="3657600"/>
          </a:xfrm>
          <a:prstGeom prst="rect">
            <a:avLst/>
          </a:prstGeom>
          <a:solidFill>
            <a:srgbClr val="F4ED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94103E8-F37E-DC8F-0F23-DA99B187403E}"/>
              </a:ext>
            </a:extLst>
          </p:cNvPr>
          <p:cNvSpPr/>
          <p:nvPr/>
        </p:nvSpPr>
        <p:spPr>
          <a:xfrm>
            <a:off x="1169334" y="6047697"/>
            <a:ext cx="7086600" cy="3657600"/>
          </a:xfrm>
          <a:prstGeom prst="rect">
            <a:avLst/>
          </a:prstGeom>
          <a:solidFill>
            <a:srgbClr val="F4ED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047857D-15A8-42E4-D98A-9E8B356FC744}"/>
              </a:ext>
            </a:extLst>
          </p:cNvPr>
          <p:cNvSpPr/>
          <p:nvPr/>
        </p:nvSpPr>
        <p:spPr>
          <a:xfrm>
            <a:off x="1155890" y="2090382"/>
            <a:ext cx="7086600" cy="53851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4EA97E3-6AF6-AE2E-5E19-08D5C5656A34}"/>
              </a:ext>
            </a:extLst>
          </p:cNvPr>
          <p:cNvSpPr/>
          <p:nvPr/>
        </p:nvSpPr>
        <p:spPr>
          <a:xfrm>
            <a:off x="1169334" y="6060460"/>
            <a:ext cx="7086600" cy="53851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EBCAC49-07CE-DD98-D3E2-4A8792FA8303}"/>
              </a:ext>
            </a:extLst>
          </p:cNvPr>
          <p:cNvSpPr/>
          <p:nvPr/>
        </p:nvSpPr>
        <p:spPr>
          <a:xfrm>
            <a:off x="8540087" y="2090382"/>
            <a:ext cx="7086600" cy="53851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D488933-5A58-0836-D59D-8AAD8B77A343}"/>
              </a:ext>
            </a:extLst>
          </p:cNvPr>
          <p:cNvSpPr/>
          <p:nvPr/>
        </p:nvSpPr>
        <p:spPr>
          <a:xfrm>
            <a:off x="8534400" y="6051930"/>
            <a:ext cx="7086600" cy="53851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Nunito" pitchFamily="2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37DB7A-04F1-3A0F-8E40-84BC4D63E1AD}"/>
              </a:ext>
            </a:extLst>
          </p:cNvPr>
          <p:cNvSpPr txBox="1"/>
          <p:nvPr/>
        </p:nvSpPr>
        <p:spPr>
          <a:xfrm>
            <a:off x="1168589" y="2109148"/>
            <a:ext cx="2667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solidFill>
                  <a:schemeClr val="bg1"/>
                </a:solidFill>
                <a:latin typeface="Nunito" pitchFamily="2" charset="0"/>
                <a:cs typeface="Times New Roman" panose="02020603050405020304" pitchFamily="18" charset="0"/>
              </a:rPr>
              <a:t>ANCHOR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C0C4F8-D2BC-52F1-8769-C9AED7C1DEBB}"/>
              </a:ext>
            </a:extLst>
          </p:cNvPr>
          <p:cNvSpPr txBox="1"/>
          <p:nvPr/>
        </p:nvSpPr>
        <p:spPr>
          <a:xfrm>
            <a:off x="8540086" y="2109148"/>
            <a:ext cx="365191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solidFill>
                  <a:schemeClr val="bg1"/>
                </a:solidFill>
                <a:latin typeface="Nunito" pitchFamily="2" charset="0"/>
                <a:cs typeface="Times New Roman" panose="02020603050405020304" pitchFamily="18" charset="0"/>
              </a:rPr>
              <a:t>AUXILIARY | Weather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FBB54B-C636-5D87-C428-8C1C0418C52C}"/>
              </a:ext>
            </a:extLst>
          </p:cNvPr>
          <p:cNvSpPr txBox="1"/>
          <p:nvPr/>
        </p:nvSpPr>
        <p:spPr>
          <a:xfrm>
            <a:off x="8604913" y="6091192"/>
            <a:ext cx="2667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solidFill>
                  <a:schemeClr val="bg1"/>
                </a:solidFill>
                <a:latin typeface="Nunito" pitchFamily="2" charset="0"/>
                <a:cs typeface="Times New Roman" panose="02020603050405020304" pitchFamily="18" charset="0"/>
              </a:rPr>
              <a:t>LABEL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107BE0-FFC2-9E01-6FE0-48E0D53D3C97}"/>
              </a:ext>
            </a:extLst>
          </p:cNvPr>
          <p:cNvSpPr txBox="1"/>
          <p:nvPr/>
        </p:nvSpPr>
        <p:spPr>
          <a:xfrm>
            <a:off x="1181100" y="6091827"/>
            <a:ext cx="7010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>
                <a:solidFill>
                  <a:schemeClr val="bg1"/>
                </a:solidFill>
                <a:latin typeface="Nunito" pitchFamily="2" charset="0"/>
                <a:cs typeface="Times New Roman" panose="02020603050405020304" pitchFamily="18" charset="0"/>
              </a:rPr>
              <a:t>AUXILIARY | Demographics &amp; Geometry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2FB0C0-A2E5-BB05-C4D9-B9D6705B2256}"/>
              </a:ext>
            </a:extLst>
          </p:cNvPr>
          <p:cNvSpPr txBox="1"/>
          <p:nvPr/>
        </p:nvSpPr>
        <p:spPr>
          <a:xfrm>
            <a:off x="1371600" y="3588276"/>
            <a:ext cx="6781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>
                <a:latin typeface="Nunito" pitchFamily="2" charset="0"/>
                <a:cs typeface="Times New Roman" panose="02020603050405020304" pitchFamily="18" charset="0"/>
              </a:rPr>
              <a:t>• Lat/long cluster boundaries and case counts​</a:t>
            </a:r>
          </a:p>
          <a:p>
            <a:pPr fontAlgn="base"/>
            <a:endParaRPr lang="en-US">
              <a:latin typeface="Nunito" pitchFamily="2" charset="0"/>
              <a:cs typeface="Times New Roman" panose="02020603050405020304" pitchFamily="18" charset="0"/>
            </a:endParaRPr>
          </a:p>
          <a:p>
            <a:pPr fontAlgn="base"/>
            <a:r>
              <a:rPr lang="en-US">
                <a:latin typeface="Nunito" pitchFamily="2" charset="0"/>
                <a:cs typeface="Times New Roman" panose="02020603050405020304" pitchFamily="18" charset="0"/>
              </a:rPr>
              <a:t>• 7 years of real spatial cluster data​</a:t>
            </a:r>
          </a:p>
          <a:p>
            <a:pPr fontAlgn="base"/>
            <a:endParaRPr lang="en-US">
              <a:latin typeface="Nunito" pitchFamily="2" charset="0"/>
              <a:cs typeface="Times New Roman" panose="02020603050405020304" pitchFamily="18" charset="0"/>
            </a:endParaRPr>
          </a:p>
          <a:p>
            <a:pPr fontAlgn="base"/>
            <a:r>
              <a:rPr lang="en-US">
                <a:latin typeface="Nunito" pitchFamily="2" charset="0"/>
                <a:cs typeface="Times New Roman" panose="02020603050405020304" pitchFamily="18" charset="0"/>
              </a:rPr>
              <a:t>• Covers 2020 record outbreak (35k+ cases) - concept drift event</a:t>
            </a:r>
          </a:p>
          <a:p>
            <a:endParaRPr lang="en-US">
              <a:latin typeface="Nunito" pitchFamily="2" charset="0"/>
              <a:cs typeface="Times New Roman" panose="02020603050405020304" pitchFamily="18" charset="0"/>
            </a:endParaRPr>
          </a:p>
        </p:txBody>
      </p:sp>
      <p:sp>
        <p:nvSpPr>
          <p:cNvPr id="71" name="TextBox 8">
            <a:extLst>
              <a:ext uri="{FF2B5EF4-FFF2-40B4-BE49-F238E27FC236}">
                <a16:creationId xmlns:a16="http://schemas.microsoft.com/office/drawing/2014/main" id="{FE85003D-9573-1F43-5CD2-E54FA8964613}"/>
              </a:ext>
            </a:extLst>
          </p:cNvPr>
          <p:cNvSpPr txBox="1"/>
          <p:nvPr/>
        </p:nvSpPr>
        <p:spPr>
          <a:xfrm>
            <a:off x="1545149" y="3188809"/>
            <a:ext cx="6222946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 i="1">
                <a:latin typeface="Nunito" pitchFamily="2" charset="0"/>
              </a:rPr>
              <a:t>May 2013 → Nov 2020  </a:t>
            </a:r>
            <a:r>
              <a:rPr lang="en-US" sz="1100" i="1">
                <a:latin typeface="Nunito" pitchFamily="2" charset="0"/>
              </a:rPr>
              <a:t>|</a:t>
            </a:r>
            <a:r>
              <a:rPr sz="1100" b="0" i="1">
                <a:latin typeface="Nunito" pitchFamily="2" charset="0"/>
              </a:rPr>
              <a:t> 250+ bi-weekly snapshots  </a:t>
            </a:r>
            <a:r>
              <a:rPr lang="en-US" sz="1100" b="0" i="1">
                <a:latin typeface="Nunito" pitchFamily="2" charset="0"/>
              </a:rPr>
              <a:t>|</a:t>
            </a:r>
            <a:r>
              <a:rPr sz="1100" b="0" i="1">
                <a:latin typeface="Nunito" pitchFamily="2" charset="0"/>
              </a:rPr>
              <a:t>  Community CSV</a:t>
            </a:r>
          </a:p>
        </p:txBody>
      </p:sp>
      <p:sp>
        <p:nvSpPr>
          <p:cNvPr id="72" name="TextBox 7">
            <a:extLst>
              <a:ext uri="{FF2B5EF4-FFF2-40B4-BE49-F238E27FC236}">
                <a16:creationId xmlns:a16="http://schemas.microsoft.com/office/drawing/2014/main" id="{C1A01C01-C8F9-53B3-E9AB-3A2C21FCD02E}"/>
              </a:ext>
            </a:extLst>
          </p:cNvPr>
          <p:cNvSpPr txBox="1"/>
          <p:nvPr/>
        </p:nvSpPr>
        <p:spPr>
          <a:xfrm>
            <a:off x="2646947" y="2807166"/>
            <a:ext cx="5054466" cy="381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i="0" err="1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SGCharts</a:t>
            </a:r>
            <a:r>
              <a:rPr sz="2000" b="1" i="0">
                <a:solidFill>
                  <a:srgbClr val="1B4332"/>
                </a:solidFill>
                <a:latin typeface="Nunito" pitchFamily="2" charset="0"/>
              </a:rPr>
              <a:t> Dengue Cluster Snapshots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890F16-1E73-8A57-99A3-EA6B9EC784E8}"/>
              </a:ext>
            </a:extLst>
          </p:cNvPr>
          <p:cNvSpPr txBox="1"/>
          <p:nvPr/>
        </p:nvSpPr>
        <p:spPr>
          <a:xfrm>
            <a:off x="8664008" y="3587667"/>
            <a:ext cx="678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>
                <a:latin typeface="Nunito" pitchFamily="2" charset="0"/>
              </a:rPr>
              <a:t>• Rainfall, temperature, relative humidity per station</a:t>
            </a:r>
          </a:p>
          <a:p>
            <a:r>
              <a:rPr lang="en-US">
                <a:latin typeface="Nunito" pitchFamily="2" charset="0"/>
              </a:rPr>
              <a:t>​</a:t>
            </a:r>
          </a:p>
          <a:p>
            <a:r>
              <a:rPr lang="en-US">
                <a:latin typeface="Nunito" pitchFamily="2" charset="0"/>
              </a:rPr>
              <a:t>• Replaces NEA </a:t>
            </a:r>
            <a:r>
              <a:rPr lang="en-US" err="1">
                <a:latin typeface="Nunito" pitchFamily="2" charset="0"/>
              </a:rPr>
              <a:t>realtime</a:t>
            </a:r>
            <a:r>
              <a:rPr lang="en-US">
                <a:latin typeface="Nunito" pitchFamily="2" charset="0"/>
              </a:rPr>
              <a:t> API; extends usable training window</a:t>
            </a:r>
          </a:p>
          <a:p>
            <a:r>
              <a:rPr lang="en-US">
                <a:latin typeface="Nunito" pitchFamily="2" charset="0"/>
              </a:rPr>
              <a:t>​</a:t>
            </a:r>
          </a:p>
          <a:p>
            <a:r>
              <a:rPr lang="en-US">
                <a:latin typeface="Nunito" pitchFamily="2" charset="0"/>
              </a:rPr>
              <a:t>• Drives lag features: 1w / 2w / 4w rainfall, 4w temp mean</a:t>
            </a:r>
          </a:p>
          <a:p>
            <a:endParaRPr lang="en-US">
              <a:latin typeface="Nunito" pitchFamily="2" charset="0"/>
            </a:endParaRPr>
          </a:p>
        </p:txBody>
      </p:sp>
      <p:sp>
        <p:nvSpPr>
          <p:cNvPr id="74" name="TextBox 8">
            <a:extLst>
              <a:ext uri="{FF2B5EF4-FFF2-40B4-BE49-F238E27FC236}">
                <a16:creationId xmlns:a16="http://schemas.microsoft.com/office/drawing/2014/main" id="{DBE74BB5-1ABD-4A8A-7F04-1D3853FBF07F}"/>
              </a:ext>
            </a:extLst>
          </p:cNvPr>
          <p:cNvSpPr txBox="1"/>
          <p:nvPr/>
        </p:nvSpPr>
        <p:spPr>
          <a:xfrm>
            <a:off x="8837557" y="3188200"/>
            <a:ext cx="6222946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0" i="1">
                <a:latin typeface="Nunito" pitchFamily="2" charset="0"/>
              </a:rPr>
              <a:t>M</a:t>
            </a:r>
            <a:r>
              <a:rPr lang="en-US" sz="1100" b="0" i="1">
                <a:latin typeface="Nunito" pitchFamily="2" charset="0"/>
              </a:rPr>
              <a:t>et Service Singapore</a:t>
            </a:r>
            <a:r>
              <a:rPr lang="en-US" sz="1100" i="1">
                <a:latin typeface="Nunito" pitchFamily="2" charset="0"/>
              </a:rPr>
              <a:t>|</a:t>
            </a:r>
            <a:r>
              <a:rPr sz="1100" b="0" i="1">
                <a:latin typeface="Nunito" pitchFamily="2" charset="0"/>
              </a:rPr>
              <a:t> </a:t>
            </a:r>
            <a:r>
              <a:rPr lang="en-US" sz="1100" b="0" i="1">
                <a:latin typeface="Nunito" pitchFamily="2" charset="0"/>
              </a:rPr>
              <a:t>Station-level Daily</a:t>
            </a:r>
            <a:r>
              <a:rPr sz="1100" b="0" i="1">
                <a:latin typeface="Nunito" pitchFamily="2" charset="0"/>
              </a:rPr>
              <a:t>  </a:t>
            </a:r>
            <a:r>
              <a:rPr lang="en-US" sz="1100" b="0" i="1">
                <a:latin typeface="Nunito" pitchFamily="2" charset="0"/>
              </a:rPr>
              <a:t>|</a:t>
            </a:r>
            <a:r>
              <a:rPr sz="1100" b="0" i="1">
                <a:latin typeface="Nunito" pitchFamily="2" charset="0"/>
              </a:rPr>
              <a:t>  </a:t>
            </a:r>
            <a:r>
              <a:rPr lang="en-US" sz="1100" i="1">
                <a:latin typeface="Nunito" pitchFamily="2" charset="0"/>
              </a:rPr>
              <a:t>2013 - Present</a:t>
            </a:r>
            <a:endParaRPr sz="1100" b="0" i="1">
              <a:latin typeface="Nunito" pitchFamily="2" charset="0"/>
            </a:endParaRPr>
          </a:p>
        </p:txBody>
      </p:sp>
      <p:sp>
        <p:nvSpPr>
          <p:cNvPr id="75" name="TextBox 7">
            <a:extLst>
              <a:ext uri="{FF2B5EF4-FFF2-40B4-BE49-F238E27FC236}">
                <a16:creationId xmlns:a16="http://schemas.microsoft.com/office/drawing/2014/main" id="{D467A1CB-AA86-09E6-79B7-99B6ADDAB7BB}"/>
              </a:ext>
            </a:extLst>
          </p:cNvPr>
          <p:cNvSpPr txBox="1"/>
          <p:nvPr/>
        </p:nvSpPr>
        <p:spPr>
          <a:xfrm>
            <a:off x="9939355" y="2806557"/>
            <a:ext cx="5054466" cy="381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MSS Weather Station Records</a:t>
            </a:r>
            <a:endParaRPr sz="2000" b="1" i="0">
              <a:solidFill>
                <a:srgbClr val="1B4332"/>
              </a:solidFill>
              <a:latin typeface="Nunito" pitchFamily="2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78E395C-2DF5-3E0A-D7FB-C27AEA1D1D07}"/>
              </a:ext>
            </a:extLst>
          </p:cNvPr>
          <p:cNvSpPr txBox="1"/>
          <p:nvPr/>
        </p:nvSpPr>
        <p:spPr>
          <a:xfrm>
            <a:off x="8691545" y="7753822"/>
            <a:ext cx="678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>
                <a:latin typeface="Nunito" pitchFamily="2" charset="0"/>
              </a:rPr>
              <a:t>• URA subzones intersected with </a:t>
            </a:r>
            <a:r>
              <a:rPr lang="en-US" err="1">
                <a:latin typeface="Nunito" pitchFamily="2" charset="0"/>
              </a:rPr>
              <a:t>SGCharts</a:t>
            </a:r>
            <a:r>
              <a:rPr lang="en-US">
                <a:latin typeface="Nunito" pitchFamily="2" charset="0"/>
              </a:rPr>
              <a:t> cluster polygons</a:t>
            </a:r>
          </a:p>
          <a:p>
            <a:r>
              <a:rPr lang="en-US">
                <a:latin typeface="Nunito" pitchFamily="2" charset="0"/>
              </a:rPr>
              <a:t>​</a:t>
            </a:r>
          </a:p>
          <a:p>
            <a:r>
              <a:rPr lang="en-US">
                <a:latin typeface="Nunito" pitchFamily="2" charset="0"/>
              </a:rPr>
              <a:t>• Label = 1 if active cluster in subzone in next 14 days​</a:t>
            </a:r>
          </a:p>
          <a:p>
            <a:endParaRPr lang="en-US">
              <a:latin typeface="Nunito" pitchFamily="2" charset="0"/>
            </a:endParaRPr>
          </a:p>
          <a:p>
            <a:r>
              <a:rPr lang="en-US">
                <a:latin typeface="Nunito" pitchFamily="2" charset="0"/>
              </a:rPr>
              <a:t>• No synthetic data; every label traces to real cluster</a:t>
            </a:r>
          </a:p>
          <a:p>
            <a:endParaRPr lang="en-US">
              <a:latin typeface="Nunito" pitchFamily="2" charset="0"/>
            </a:endParaRPr>
          </a:p>
        </p:txBody>
      </p:sp>
      <p:sp>
        <p:nvSpPr>
          <p:cNvPr id="77" name="TextBox 8">
            <a:extLst>
              <a:ext uri="{FF2B5EF4-FFF2-40B4-BE49-F238E27FC236}">
                <a16:creationId xmlns:a16="http://schemas.microsoft.com/office/drawing/2014/main" id="{EB7B00EB-A917-5335-F607-EF299924E649}"/>
              </a:ext>
            </a:extLst>
          </p:cNvPr>
          <p:cNvSpPr txBox="1"/>
          <p:nvPr/>
        </p:nvSpPr>
        <p:spPr>
          <a:xfrm>
            <a:off x="9526203" y="7354355"/>
            <a:ext cx="4319404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i="1">
                <a:latin typeface="Nunito" pitchFamily="2" charset="0"/>
              </a:rPr>
              <a:t>Derived from Anchor | Fully Transparent Process</a:t>
            </a:r>
            <a:endParaRPr sz="1100" b="0" i="1">
              <a:latin typeface="Nunito" pitchFamily="2" charset="0"/>
            </a:endParaRPr>
          </a:p>
        </p:txBody>
      </p:sp>
      <p:sp>
        <p:nvSpPr>
          <p:cNvPr id="78" name="TextBox 7">
            <a:extLst>
              <a:ext uri="{FF2B5EF4-FFF2-40B4-BE49-F238E27FC236}">
                <a16:creationId xmlns:a16="http://schemas.microsoft.com/office/drawing/2014/main" id="{7522AE2B-615A-0BF6-2A7D-3AC50DDB907D}"/>
              </a:ext>
            </a:extLst>
          </p:cNvPr>
          <p:cNvSpPr txBox="1"/>
          <p:nvPr/>
        </p:nvSpPr>
        <p:spPr>
          <a:xfrm>
            <a:off x="10083477" y="6991772"/>
            <a:ext cx="5054466" cy="381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i="0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S</a:t>
            </a:r>
            <a:r>
              <a:rPr lang="en-US" sz="2000" b="1" i="0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patial Join </a:t>
            </a:r>
            <a:r>
              <a:rPr lang="en-US" sz="2000" b="1" i="0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  <a:sym typeface="Wingdings" panose="05000000000000000000" pitchFamily="2" charset="2"/>
              </a:rPr>
              <a:t> Binary Label</a:t>
            </a:r>
            <a:endParaRPr sz="2000" b="1" i="0">
              <a:solidFill>
                <a:srgbClr val="1B4332"/>
              </a:solidFill>
              <a:latin typeface="Nunito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4796E6A-C51A-CD29-939A-D5A9CFEE8AB0}"/>
              </a:ext>
            </a:extLst>
          </p:cNvPr>
          <p:cNvSpPr txBox="1"/>
          <p:nvPr/>
        </p:nvSpPr>
        <p:spPr>
          <a:xfrm>
            <a:off x="1298766" y="7758087"/>
            <a:ext cx="678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fontAlgn="base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>
                <a:latin typeface="Nunito" pitchFamily="2" charset="0"/>
              </a:rPr>
              <a:t>• Subzone-level population, age, comorbidity proxies​</a:t>
            </a:r>
          </a:p>
          <a:p>
            <a:endParaRPr lang="en-US">
              <a:latin typeface="Nunito" pitchFamily="2" charset="0"/>
            </a:endParaRPr>
          </a:p>
          <a:p>
            <a:r>
              <a:rPr lang="en-US">
                <a:latin typeface="Nunito" pitchFamily="2" charset="0"/>
              </a:rPr>
              <a:t>• Vulnerability index (% elderly + chronic) for tactical layer</a:t>
            </a:r>
          </a:p>
          <a:p>
            <a:r>
              <a:rPr lang="en-US">
                <a:latin typeface="Nunito" pitchFamily="2" charset="0"/>
              </a:rPr>
              <a:t>​</a:t>
            </a:r>
          </a:p>
          <a:p>
            <a:r>
              <a:rPr lang="en-US">
                <a:latin typeface="Nunito" pitchFamily="2" charset="0"/>
              </a:rPr>
              <a:t>• URA polygons → spatial join target for label derivation</a:t>
            </a:r>
          </a:p>
          <a:p>
            <a:endParaRPr lang="en-US">
              <a:latin typeface="Nunito" pitchFamily="2" charset="0"/>
            </a:endParaRPr>
          </a:p>
        </p:txBody>
      </p:sp>
      <p:sp>
        <p:nvSpPr>
          <p:cNvPr id="80" name="TextBox 8">
            <a:extLst>
              <a:ext uri="{FF2B5EF4-FFF2-40B4-BE49-F238E27FC236}">
                <a16:creationId xmlns:a16="http://schemas.microsoft.com/office/drawing/2014/main" id="{34CBC0D7-C12B-FB92-C695-6DA15C8FA1E9}"/>
              </a:ext>
            </a:extLst>
          </p:cNvPr>
          <p:cNvSpPr txBox="1"/>
          <p:nvPr/>
        </p:nvSpPr>
        <p:spPr>
          <a:xfrm>
            <a:off x="2524994" y="7374754"/>
            <a:ext cx="4110855" cy="2431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i="1">
                <a:latin typeface="Nunito" pitchFamily="2" charset="0"/>
              </a:rPr>
              <a:t>Census 2020</a:t>
            </a:r>
            <a:r>
              <a:rPr sz="1100" b="0" i="1">
                <a:latin typeface="Nunito" pitchFamily="2" charset="0"/>
              </a:rPr>
              <a:t> </a:t>
            </a:r>
            <a:r>
              <a:rPr lang="en-US" sz="1100" i="1">
                <a:latin typeface="Nunito" pitchFamily="2" charset="0"/>
              </a:rPr>
              <a:t>|</a:t>
            </a:r>
            <a:r>
              <a:rPr sz="1100" b="0" i="1">
                <a:latin typeface="Nunito" pitchFamily="2" charset="0"/>
              </a:rPr>
              <a:t> </a:t>
            </a:r>
            <a:r>
              <a:rPr lang="en-US" sz="1100" b="0" i="1">
                <a:latin typeface="Nunito" pitchFamily="2" charset="0"/>
              </a:rPr>
              <a:t>URA Master Plan 2019 </a:t>
            </a:r>
            <a:r>
              <a:rPr lang="en-US" sz="1100" b="0" i="1" err="1">
                <a:latin typeface="Nunito" pitchFamily="2" charset="0"/>
              </a:rPr>
              <a:t>GeaJSON</a:t>
            </a:r>
            <a:endParaRPr sz="1100" b="0" i="1">
              <a:latin typeface="Nunito" pitchFamily="2" charset="0"/>
            </a:endParaRPr>
          </a:p>
        </p:txBody>
      </p:sp>
      <p:sp>
        <p:nvSpPr>
          <p:cNvPr id="81" name="TextBox 7">
            <a:extLst>
              <a:ext uri="{FF2B5EF4-FFF2-40B4-BE49-F238E27FC236}">
                <a16:creationId xmlns:a16="http://schemas.microsoft.com/office/drawing/2014/main" id="{970704B4-D251-9AD6-FC63-B0CF738B1D10}"/>
              </a:ext>
            </a:extLst>
          </p:cNvPr>
          <p:cNvSpPr txBox="1"/>
          <p:nvPr/>
        </p:nvSpPr>
        <p:spPr>
          <a:xfrm>
            <a:off x="2574113" y="6976977"/>
            <a:ext cx="5054466" cy="381643"/>
          </a:xfrm>
          <a:prstGeom prst="rect">
            <a:avLst/>
          </a:prstGeom>
          <a:noFill/>
        </p:spPr>
        <p:txBody>
          <a:bodyPr wrap="square" lIns="54864" tIns="36576" rIns="54864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 i="0" err="1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S</a:t>
            </a:r>
            <a:r>
              <a:rPr lang="en-US" sz="2000" b="1" i="0" err="1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ingStat</a:t>
            </a:r>
            <a:r>
              <a:rPr lang="en-US" sz="2000" b="1" i="0">
                <a:solidFill>
                  <a:srgbClr val="1B4332"/>
                </a:solidFill>
                <a:latin typeface="Nunito" pitchFamily="2" charset="0"/>
                <a:cs typeface="Times New Roman" panose="02020603050405020304" pitchFamily="18" charset="0"/>
              </a:rPr>
              <a:t> Census and URA Master Plan </a:t>
            </a:r>
            <a:endParaRPr sz="2000" b="1" i="0">
              <a:solidFill>
                <a:srgbClr val="1B4332"/>
              </a:solidFill>
              <a:latin typeface="Nunito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6C03924-400B-8BD7-E355-15C3500DEC2C}"/>
              </a:ext>
            </a:extLst>
          </p:cNvPr>
          <p:cNvSpPr txBox="1"/>
          <p:nvPr/>
        </p:nvSpPr>
        <p:spPr>
          <a:xfrm>
            <a:off x="152400" y="571500"/>
            <a:ext cx="16459200" cy="116339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sz="6600" b="1">
                <a:solidFill>
                  <a:srgbClr val="303870"/>
                </a:solidFill>
                <a:latin typeface="Agrandir Wide Bold"/>
              </a:rPr>
              <a:t>One model, two inference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31E41D-1B19-2CA5-3FFE-FC48F795169A}"/>
              </a:ext>
            </a:extLst>
          </p:cNvPr>
          <p:cNvSpPr txBox="1"/>
          <p:nvPr/>
        </p:nvSpPr>
        <p:spPr>
          <a:xfrm>
            <a:off x="152400" y="1705355"/>
            <a:ext cx="16824960" cy="424732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i="1">
                <a:solidFill>
                  <a:srgbClr val="6B7A7A"/>
                </a:solidFill>
                <a:latin typeface="Nunito" pitchFamily="2" charset="0"/>
              </a:rPr>
              <a:t>Shared predictive logic; different feature freshness, different decision thresholds, different downstream actions.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75889C-E4B0-C466-4088-96ADDA340476}"/>
              </a:ext>
            </a:extLst>
          </p:cNvPr>
          <p:cNvSpPr/>
          <p:nvPr/>
        </p:nvSpPr>
        <p:spPr>
          <a:xfrm>
            <a:off x="152400" y="2528315"/>
            <a:ext cx="4572000" cy="548640"/>
          </a:xfrm>
          <a:prstGeom prst="roundRect">
            <a:avLst/>
          </a:prstGeom>
          <a:solidFill>
            <a:srgbClr val="6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Nunito" pitchFamily="2" charset="0"/>
              </a:rPr>
              <a:t>WHAT WE KNOW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640AFF-D31D-EBAC-60F8-F1AC2732EEC3}"/>
              </a:ext>
            </a:extLst>
          </p:cNvPr>
          <p:cNvSpPr/>
          <p:nvPr/>
        </p:nvSpPr>
        <p:spPr>
          <a:xfrm>
            <a:off x="5090160" y="2528315"/>
            <a:ext cx="4937760" cy="54864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Nunito" pitchFamily="2" charset="0"/>
              </a:rPr>
              <a:t>WHAT WE PREDICT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A363995-CE01-903D-0F48-C1C31F7A63F0}"/>
              </a:ext>
            </a:extLst>
          </p:cNvPr>
          <p:cNvSpPr/>
          <p:nvPr/>
        </p:nvSpPr>
        <p:spPr>
          <a:xfrm>
            <a:off x="10393680" y="2528315"/>
            <a:ext cx="6583680" cy="54864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Nunito" pitchFamily="2" charset="0"/>
              </a:rPr>
              <a:t>WHAT WE DO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15FD5D-D4DE-0654-45BE-8CE0337053C5}"/>
              </a:ext>
            </a:extLst>
          </p:cNvPr>
          <p:cNvSpPr/>
          <p:nvPr/>
        </p:nvSpPr>
        <p:spPr>
          <a:xfrm>
            <a:off x="335280" y="3442715"/>
            <a:ext cx="4206240" cy="822960"/>
          </a:xfrm>
          <a:prstGeom prst="roundRect">
            <a:avLst>
              <a:gd name="adj" fmla="val 9260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Cluster history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8F7D32-5C38-3AE3-0CED-B85A015BA7C2}"/>
              </a:ext>
            </a:extLst>
          </p:cNvPr>
          <p:cNvSpPr/>
          <p:nvPr/>
        </p:nvSpPr>
        <p:spPr>
          <a:xfrm>
            <a:off x="335280" y="4411979"/>
            <a:ext cx="4206240" cy="822960"/>
          </a:xfrm>
          <a:prstGeom prst="roundRect">
            <a:avLst>
              <a:gd name="adj" fmla="val 12037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Weather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B8AFA9-FB4E-C2D6-B29B-FD7F17254A40}"/>
              </a:ext>
            </a:extLst>
          </p:cNvPr>
          <p:cNvSpPr/>
          <p:nvPr/>
        </p:nvSpPr>
        <p:spPr>
          <a:xfrm>
            <a:off x="335280" y="5381243"/>
            <a:ext cx="4206240" cy="822960"/>
          </a:xfrm>
          <a:prstGeom prst="roundRect">
            <a:avLst>
              <a:gd name="adj" fmla="val 12037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Demographics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4D1C8E-67BE-9559-9325-41B6DCD1C994}"/>
              </a:ext>
            </a:extLst>
          </p:cNvPr>
          <p:cNvSpPr/>
          <p:nvPr/>
        </p:nvSpPr>
        <p:spPr>
          <a:xfrm>
            <a:off x="335280" y="6350507"/>
            <a:ext cx="4206240" cy="822960"/>
          </a:xfrm>
          <a:prstGeom prst="roundRect">
            <a:avLst>
              <a:gd name="adj" fmla="val 12423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Geography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B3A1F52-F939-8877-D845-B4AEA38508C6}"/>
              </a:ext>
            </a:extLst>
          </p:cNvPr>
          <p:cNvSpPr/>
          <p:nvPr/>
        </p:nvSpPr>
        <p:spPr>
          <a:xfrm>
            <a:off x="335280" y="7319771"/>
            <a:ext cx="4206240" cy="822960"/>
          </a:xfrm>
          <a:prstGeom prst="roundRect">
            <a:avLst/>
          </a:prstGeom>
          <a:solidFill>
            <a:srgbClr val="E8C8C0"/>
          </a:solidFill>
          <a:ln w="9525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>
                <a:solidFill>
                  <a:srgbClr val="B84B3C"/>
                </a:solidFill>
                <a:latin typeface="Nunito" pitchFamily="2" charset="0"/>
              </a:rPr>
              <a:t>Confirmed cases  (live stream)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144093-8164-DC01-4635-FE72DB42942D}"/>
              </a:ext>
            </a:extLst>
          </p:cNvPr>
          <p:cNvSpPr txBox="1"/>
          <p:nvPr/>
        </p:nvSpPr>
        <p:spPr>
          <a:xfrm>
            <a:off x="5090160" y="3625596"/>
            <a:ext cx="4937760" cy="393954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ctr"/>
            <a:r>
              <a:rPr sz="1600" i="1">
                <a:solidFill>
                  <a:srgbClr val="6B7A7A"/>
                </a:solidFill>
                <a:latin typeface="Nunito" pitchFamily="2" charset="0"/>
              </a:rPr>
              <a:t>Feature engineering</a:t>
            </a:r>
          </a:p>
        </p:txBody>
      </p:sp>
      <p:sp>
        <p:nvSpPr>
          <p:cNvPr id="17" name="Rounded Rectangle 20">
            <a:extLst>
              <a:ext uri="{FF2B5EF4-FFF2-40B4-BE49-F238E27FC236}">
                <a16:creationId xmlns:a16="http://schemas.microsoft.com/office/drawing/2014/main" id="{F65D15F7-0825-78AB-9AB0-6D83809F9ED6}"/>
              </a:ext>
            </a:extLst>
          </p:cNvPr>
          <p:cNvSpPr/>
          <p:nvPr/>
        </p:nvSpPr>
        <p:spPr>
          <a:xfrm>
            <a:off x="5273040" y="4539995"/>
            <a:ext cx="4572000" cy="2560320"/>
          </a:xfrm>
          <a:prstGeom prst="roundRect">
            <a:avLst>
              <a:gd name="adj" fmla="val 5543"/>
            </a:avLst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Nunito" pitchFamily="2" charset="0"/>
              </a:rPr>
              <a:t>Cluster Formation Model</a:t>
            </a:r>
          </a:p>
          <a:p>
            <a:pPr algn="l"/>
            <a:endParaRPr sz="2400" b="1">
              <a:solidFill>
                <a:srgbClr val="FFFFFF"/>
              </a:solidFill>
              <a:latin typeface="Nunito" pitchFamily="2" charset="0"/>
            </a:endParaRPr>
          </a:p>
          <a:p>
            <a:pPr algn="ctr"/>
            <a:r>
              <a:rPr sz="1600" i="1">
                <a:solidFill>
                  <a:schemeClr val="bg1">
                    <a:lumMod val="75000"/>
                  </a:schemeClr>
                </a:solidFill>
                <a:latin typeface="Nunito" pitchFamily="2" charset="0"/>
              </a:rPr>
              <a:t>P(active cluster in subzone S</a:t>
            </a:r>
          </a:p>
          <a:p>
            <a:pPr algn="ctr"/>
            <a:r>
              <a:rPr sz="1600" i="1">
                <a:solidFill>
                  <a:schemeClr val="bg1">
                    <a:lumMod val="75000"/>
                  </a:schemeClr>
                </a:solidFill>
                <a:latin typeface="Nunito" pitchFamily="2" charset="0"/>
              </a:rPr>
              <a:t>over next 14 days)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6A515F-354D-F577-4508-F8EEAFE53DF5}"/>
              </a:ext>
            </a:extLst>
          </p:cNvPr>
          <p:cNvSpPr txBox="1"/>
          <p:nvPr/>
        </p:nvSpPr>
        <p:spPr>
          <a:xfrm>
            <a:off x="5090160" y="7191755"/>
            <a:ext cx="4937760" cy="64017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ctr"/>
            <a:r>
              <a:rPr sz="1600" b="1">
                <a:solidFill>
                  <a:srgbClr val="6B7A7A"/>
                </a:solidFill>
                <a:latin typeface="Nunito" pitchFamily="2" charset="0"/>
              </a:rPr>
              <a:t>One trained artifact —</a:t>
            </a:r>
          </a:p>
          <a:p>
            <a:pPr algn="ctr"/>
            <a:r>
              <a:rPr sz="1600" b="1">
                <a:solidFill>
                  <a:srgbClr val="6B7A7A"/>
                </a:solidFill>
                <a:latin typeface="Nunito" pitchFamily="2" charset="0"/>
              </a:rPr>
              <a:t>served two ways</a:t>
            </a:r>
          </a:p>
        </p:txBody>
      </p:sp>
      <p:sp>
        <p:nvSpPr>
          <p:cNvPr id="19" name="Rounded Rectangle 22">
            <a:extLst>
              <a:ext uri="{FF2B5EF4-FFF2-40B4-BE49-F238E27FC236}">
                <a16:creationId xmlns:a16="http://schemas.microsoft.com/office/drawing/2014/main" id="{1146F293-7FC4-5F7B-C901-9AB134950FAC}"/>
              </a:ext>
            </a:extLst>
          </p:cNvPr>
          <p:cNvSpPr/>
          <p:nvPr/>
        </p:nvSpPr>
        <p:spPr>
          <a:xfrm>
            <a:off x="10576560" y="3534155"/>
            <a:ext cx="6309360" cy="2011680"/>
          </a:xfrm>
          <a:prstGeom prst="roundRect">
            <a:avLst>
              <a:gd name="adj" fmla="val 7197"/>
            </a:avLst>
          </a:prstGeom>
          <a:solidFill>
            <a:srgbClr val="FFFFFF"/>
          </a:solidFill>
          <a:ln w="190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000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STRATEGIC LOOP   ·   WEEKLY BATCH</a:t>
            </a:r>
          </a:p>
          <a:p>
            <a:endParaRPr lang="en-SG" sz="2000" b="1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Risk map to formulate fogging deployment plan</a:t>
            </a:r>
          </a:p>
          <a:p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r>
              <a:rPr lang="en-SG" sz="200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Target User = NEA Ops + Pest Control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20" name="Rounded Rectangle 26">
            <a:extLst>
              <a:ext uri="{FF2B5EF4-FFF2-40B4-BE49-F238E27FC236}">
                <a16:creationId xmlns:a16="http://schemas.microsoft.com/office/drawing/2014/main" id="{BBDEFD65-3AEB-BBAB-2526-B2EB07D65B35}"/>
              </a:ext>
            </a:extLst>
          </p:cNvPr>
          <p:cNvSpPr/>
          <p:nvPr/>
        </p:nvSpPr>
        <p:spPr>
          <a:xfrm>
            <a:off x="10576560" y="6003035"/>
            <a:ext cx="6309360" cy="2011680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1905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SG" sz="2000" b="1">
                <a:solidFill>
                  <a:srgbClr val="B84B3C"/>
                </a:solidFill>
                <a:latin typeface="Nunito" pitchFamily="2" charset="0"/>
              </a:rPr>
              <a:t>TACTICAL LOOP   ·   EVENT-DRIVEN</a:t>
            </a:r>
          </a:p>
          <a:p>
            <a:endParaRPr lang="en-SG" sz="2000" b="1">
              <a:solidFill>
                <a:srgbClr val="B84B3C"/>
              </a:solidFill>
              <a:latin typeface="Nunito" pitchFamily="2" charset="0"/>
            </a:endParaRPr>
          </a:p>
          <a:p>
            <a:r>
              <a:rPr lang="en-SG" sz="2000" b="1">
                <a:solidFill>
                  <a:srgbClr val="B84B3C"/>
                </a:solidFill>
                <a:latin typeface="Nunito" pitchFamily="2" charset="0"/>
              </a:rPr>
              <a:t>Per-case alert to enable timely clinical triage</a:t>
            </a:r>
          </a:p>
          <a:p>
            <a:endParaRPr lang="en-SG" sz="2000" b="1">
              <a:solidFill>
                <a:srgbClr val="B84B3C"/>
              </a:solidFill>
              <a:latin typeface="Nunito" pitchFamily="2" charset="0"/>
            </a:endParaRPr>
          </a:p>
          <a:p>
            <a:r>
              <a:rPr lang="en-SG" sz="2000">
                <a:solidFill>
                  <a:schemeClr val="tx1">
                    <a:lumMod val="65000"/>
                    <a:lumOff val="35000"/>
                  </a:schemeClr>
                </a:solidFill>
                <a:latin typeface="Nunito"/>
              </a:rPr>
              <a:t>Target User = MOH Officer</a:t>
            </a:r>
            <a:endParaRPr lang="en-SG" sz="2000" b="1">
              <a:solidFill>
                <a:srgbClr val="B84B3C"/>
              </a:solidFill>
              <a:latin typeface="Nunito" pitchFamily="2" charset="0"/>
            </a:endParaRPr>
          </a:p>
        </p:txBody>
      </p:sp>
      <p:cxnSp>
        <p:nvCxnSpPr>
          <p:cNvPr id="21" name="Connector 30">
            <a:extLst>
              <a:ext uri="{FF2B5EF4-FFF2-40B4-BE49-F238E27FC236}">
                <a16:creationId xmlns:a16="http://schemas.microsoft.com/office/drawing/2014/main" id="{04BF6E4D-2815-A406-2166-1CE2AF1586F8}"/>
              </a:ext>
            </a:extLst>
          </p:cNvPr>
          <p:cNvCxnSpPr/>
          <p:nvPr/>
        </p:nvCxnSpPr>
        <p:spPr>
          <a:xfrm>
            <a:off x="4541520" y="5820155"/>
            <a:ext cx="731520" cy="0"/>
          </a:xfrm>
          <a:prstGeom prst="line">
            <a:avLst/>
          </a:prstGeom>
          <a:ln w="19050">
            <a:solidFill>
              <a:srgbClr val="060B1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31">
            <a:extLst>
              <a:ext uri="{FF2B5EF4-FFF2-40B4-BE49-F238E27FC236}">
                <a16:creationId xmlns:a16="http://schemas.microsoft.com/office/drawing/2014/main" id="{2C44D08F-27CD-0718-3CC6-7CC3186D98B2}"/>
              </a:ext>
            </a:extLst>
          </p:cNvPr>
          <p:cNvCxnSpPr/>
          <p:nvPr/>
        </p:nvCxnSpPr>
        <p:spPr>
          <a:xfrm flipV="1">
            <a:off x="9845040" y="4539995"/>
            <a:ext cx="731520" cy="822960"/>
          </a:xfrm>
          <a:prstGeom prst="line">
            <a:avLst/>
          </a:prstGeom>
          <a:ln w="19050">
            <a:solidFill>
              <a:srgbClr val="060B1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32">
            <a:extLst>
              <a:ext uri="{FF2B5EF4-FFF2-40B4-BE49-F238E27FC236}">
                <a16:creationId xmlns:a16="http://schemas.microsoft.com/office/drawing/2014/main" id="{1438E9F5-B891-17E5-7700-0B11C4B18A72}"/>
              </a:ext>
            </a:extLst>
          </p:cNvPr>
          <p:cNvCxnSpPr/>
          <p:nvPr/>
        </p:nvCxnSpPr>
        <p:spPr>
          <a:xfrm>
            <a:off x="9845040" y="6277355"/>
            <a:ext cx="731520" cy="731520"/>
          </a:xfrm>
          <a:prstGeom prst="line">
            <a:avLst/>
          </a:prstGeom>
          <a:ln w="19050">
            <a:solidFill>
              <a:srgbClr val="B84B3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C3AE82F-3D7A-2744-DF5F-03CF9CE2CBD4}"/>
              </a:ext>
            </a:extLst>
          </p:cNvPr>
          <p:cNvSpPr/>
          <p:nvPr/>
        </p:nvSpPr>
        <p:spPr>
          <a:xfrm>
            <a:off x="152400" y="8471915"/>
            <a:ext cx="16824960" cy="73152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 i="1">
                <a:solidFill>
                  <a:srgbClr val="FFFFFF"/>
                </a:solidFill>
                <a:latin typeface="Nunito" pitchFamily="2" charset="0"/>
              </a:rPr>
              <a:t>Same predictive logic. Different freshness contracts. Different thresholds. Different actions.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DD56-B04C-BC96-8AF7-EF8EE974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A0B0106-327C-B60E-D254-CF4565182B60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709D67-70CE-16F5-0E08-43A6BF0059DB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46E50B4-22D8-6299-52E3-171C33E40B32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50CF829-630D-2AF0-6724-B41863310F81}"/>
              </a:ext>
            </a:extLst>
          </p:cNvPr>
          <p:cNvSpPr txBox="1"/>
          <p:nvPr/>
        </p:nvSpPr>
        <p:spPr>
          <a:xfrm>
            <a:off x="152400" y="571500"/>
            <a:ext cx="16459200" cy="116339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lang="en-SG" sz="6600" b="1" dirty="0">
                <a:solidFill>
                  <a:srgbClr val="303870"/>
                </a:solidFill>
                <a:latin typeface="Agrandir Wide Bold"/>
              </a:rPr>
              <a:t>Design Choices</a:t>
            </a:r>
            <a:endParaRPr sz="6600" b="1" dirty="0">
              <a:solidFill>
                <a:srgbClr val="303870"/>
              </a:solidFill>
              <a:latin typeface="Agrandir Wide Bold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7DA37C-2ABF-5567-803D-40B93D2E94F7}"/>
              </a:ext>
            </a:extLst>
          </p:cNvPr>
          <p:cNvSpPr/>
          <p:nvPr/>
        </p:nvSpPr>
        <p:spPr>
          <a:xfrm>
            <a:off x="435995" y="1941342"/>
            <a:ext cx="7961243" cy="584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lang="en-SG" b="1" i="0" dirty="0">
                <a:solidFill>
                  <a:srgbClr val="303870"/>
                </a:solidFill>
                <a:latin typeface="Nunito" pitchFamily="2" charset="0"/>
              </a:rPr>
              <a:t>Data</a:t>
            </a:r>
            <a:endParaRPr b="1" i="0" dirty="0">
              <a:solidFill>
                <a:srgbClr val="303870"/>
              </a:solidFill>
              <a:latin typeface="Nunito" pitchFamily="2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1358666-8248-9FE8-39BC-F0ADA7E62FF2}"/>
              </a:ext>
            </a:extLst>
          </p:cNvPr>
          <p:cNvGrpSpPr/>
          <p:nvPr/>
        </p:nvGrpSpPr>
        <p:grpSpPr>
          <a:xfrm>
            <a:off x="435995" y="2715105"/>
            <a:ext cx="7871790" cy="1272409"/>
            <a:chOff x="8863715" y="2715105"/>
            <a:chExt cx="7871790" cy="127240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4E8C5C4-4A1E-DBA0-45E0-1CB6F1F9DA7A}"/>
                </a:ext>
              </a:extLst>
            </p:cNvPr>
            <p:cNvSpPr txBox="1"/>
            <p:nvPr/>
          </p:nvSpPr>
          <p:spPr>
            <a:xfrm>
              <a:off x="8953167" y="2835466"/>
              <a:ext cx="536713" cy="627863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3600" b="1" i="0">
                  <a:solidFill>
                    <a:srgbClr val="303870"/>
                  </a:solidFill>
                  <a:latin typeface="Nunito" pitchFamily="2" charset="0"/>
                </a:rPr>
                <a:t>✓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B519C36-AE7D-96A7-2EAA-E3A730894E83}"/>
                </a:ext>
              </a:extLst>
            </p:cNvPr>
            <p:cNvSpPr txBox="1"/>
            <p:nvPr/>
          </p:nvSpPr>
          <p:spPr>
            <a:xfrm>
              <a:off x="9579332" y="2818273"/>
              <a:ext cx="7156173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Training window: 2013–2020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B089AAD-C5D8-62F2-7A0E-35B3BDB9D5BD}"/>
                </a:ext>
              </a:extLst>
            </p:cNvPr>
            <p:cNvSpPr txBox="1"/>
            <p:nvPr/>
          </p:nvSpPr>
          <p:spPr>
            <a:xfrm>
              <a:off x="9579332" y="3334115"/>
              <a:ext cx="7156173" cy="566309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Use full </a:t>
              </a:r>
              <a:r>
                <a:rPr sz="1600" b="0" i="0" dirty="0" err="1">
                  <a:solidFill>
                    <a:srgbClr val="303870"/>
                  </a:solidFill>
                  <a:latin typeface="Nunito" pitchFamily="2" charset="0"/>
                </a:rPr>
                <a:t>SGCharts</a:t>
              </a:r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 window. 2020 serotype shift (DENV-3, 35k+ cases) demonstrates concept drift in the report.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E1E848F-A0EE-E9EB-A097-2A3F51AF139F}"/>
                </a:ext>
              </a:extLst>
            </p:cNvPr>
            <p:cNvSpPr/>
            <p:nvPr/>
          </p:nvSpPr>
          <p:spPr>
            <a:xfrm>
              <a:off x="8863715" y="2715105"/>
              <a:ext cx="107343" cy="1272409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8BC3346-63FA-48FC-BA38-CA369455DE86}"/>
              </a:ext>
            </a:extLst>
          </p:cNvPr>
          <p:cNvGrpSpPr/>
          <p:nvPr/>
        </p:nvGrpSpPr>
        <p:grpSpPr>
          <a:xfrm>
            <a:off x="435995" y="4140701"/>
            <a:ext cx="7871790" cy="1272409"/>
            <a:chOff x="8863715" y="4140701"/>
            <a:chExt cx="7871790" cy="1272409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4C2E344-3CB2-792E-28B0-C4B18869C063}"/>
                </a:ext>
              </a:extLst>
            </p:cNvPr>
            <p:cNvSpPr txBox="1"/>
            <p:nvPr/>
          </p:nvSpPr>
          <p:spPr>
            <a:xfrm>
              <a:off x="8953167" y="4261064"/>
              <a:ext cx="536713" cy="627863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3600" b="1" i="0">
                  <a:solidFill>
                    <a:srgbClr val="303870"/>
                  </a:solidFill>
                  <a:latin typeface="Nunito" pitchFamily="2" charset="0"/>
                </a:rPr>
                <a:t>✓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5654613-9F1E-3902-4546-56666D46A233}"/>
                </a:ext>
              </a:extLst>
            </p:cNvPr>
            <p:cNvSpPr txBox="1"/>
            <p:nvPr/>
          </p:nvSpPr>
          <p:spPr>
            <a:xfrm>
              <a:off x="9579332" y="4243869"/>
              <a:ext cx="7156173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Subzone granularity: 330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28688E7-0597-6F9E-0ECF-E76971CA6931}"/>
                </a:ext>
              </a:extLst>
            </p:cNvPr>
            <p:cNvSpPr txBox="1"/>
            <p:nvPr/>
          </p:nvSpPr>
          <p:spPr>
            <a:xfrm>
              <a:off x="9579332" y="4759711"/>
              <a:ext cx="7156173" cy="566309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Fine-grained for operational fogging. Planning areas (55) lose deployment precision.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452C7EF-BA1B-9CEC-8AB7-B667BA2CC108}"/>
                </a:ext>
              </a:extLst>
            </p:cNvPr>
            <p:cNvSpPr/>
            <p:nvPr/>
          </p:nvSpPr>
          <p:spPr>
            <a:xfrm>
              <a:off x="8863715" y="4140701"/>
              <a:ext cx="107343" cy="1272409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88FC65D-57A9-A244-8B10-DC35202D43AB}"/>
              </a:ext>
            </a:extLst>
          </p:cNvPr>
          <p:cNvGrpSpPr/>
          <p:nvPr/>
        </p:nvGrpSpPr>
        <p:grpSpPr>
          <a:xfrm>
            <a:off x="435995" y="5552229"/>
            <a:ext cx="7871790" cy="1272409"/>
            <a:chOff x="8863715" y="5552229"/>
            <a:chExt cx="7871790" cy="1272409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1AB1650-7175-453F-308A-4CAB8572A411}"/>
                </a:ext>
              </a:extLst>
            </p:cNvPr>
            <p:cNvSpPr txBox="1"/>
            <p:nvPr/>
          </p:nvSpPr>
          <p:spPr>
            <a:xfrm>
              <a:off x="8953167" y="5672592"/>
              <a:ext cx="536713" cy="627863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3600" b="1" i="0">
                  <a:solidFill>
                    <a:srgbClr val="303870"/>
                  </a:solidFill>
                  <a:latin typeface="Nunito" pitchFamily="2" charset="0"/>
                </a:rPr>
                <a:t>✓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1CB0780-2F4E-C7EF-D51F-01FA5392DAD6}"/>
                </a:ext>
              </a:extLst>
            </p:cNvPr>
            <p:cNvSpPr txBox="1"/>
            <p:nvPr/>
          </p:nvSpPr>
          <p:spPr>
            <a:xfrm>
              <a:off x="9579332" y="5655398"/>
              <a:ext cx="7156173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Weather source: MSS, not NEA API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DC88924-7C55-1C26-6399-277D444495ED}"/>
                </a:ext>
              </a:extLst>
            </p:cNvPr>
            <p:cNvSpPr txBox="1"/>
            <p:nvPr/>
          </p:nvSpPr>
          <p:spPr>
            <a:xfrm>
              <a:off x="9579332" y="6171239"/>
              <a:ext cx="7156173" cy="566309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MSS station data extends usable window back to 2013. NEA API has Dec 2016 floor + </a:t>
              </a:r>
              <a:r>
                <a:rPr lang="en-SG" sz="1600" b="0" i="0">
                  <a:solidFill>
                    <a:srgbClr val="303870"/>
                  </a:solidFill>
                  <a:latin typeface="Nunito" pitchFamily="2" charset="0"/>
                </a:rPr>
                <a:t>19</a:t>
              </a:r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-</a:t>
              </a:r>
              <a:r>
                <a:rPr sz="1600" b="0" i="0" err="1">
                  <a:solidFill>
                    <a:srgbClr val="303870"/>
                  </a:solidFill>
                  <a:latin typeface="Nunito" pitchFamily="2" charset="0"/>
                </a:rPr>
                <a:t>hr</a:t>
              </a:r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 ingest.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8EA1D48-3E3D-BCAA-EBB7-58847F003861}"/>
                </a:ext>
              </a:extLst>
            </p:cNvPr>
            <p:cNvSpPr/>
            <p:nvPr/>
          </p:nvSpPr>
          <p:spPr>
            <a:xfrm>
              <a:off x="8863715" y="5552229"/>
              <a:ext cx="107343" cy="1272409"/>
            </a:xfrm>
            <a:prstGeom prst="rect">
              <a:avLst/>
            </a:prstGeom>
            <a:solidFill>
              <a:srgbClr val="DCE6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FC6F802-35E4-BBA8-CE50-A5E44C1CD452}"/>
              </a:ext>
            </a:extLst>
          </p:cNvPr>
          <p:cNvSpPr/>
          <p:nvPr/>
        </p:nvSpPr>
        <p:spPr>
          <a:xfrm>
            <a:off x="8823959" y="1941342"/>
            <a:ext cx="7961243" cy="58462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b="1" i="0" dirty="0">
                <a:solidFill>
                  <a:srgbClr val="303870"/>
                </a:solidFill>
                <a:latin typeface="Nunito" pitchFamily="2" charset="0"/>
              </a:rPr>
              <a:t>DESIGN CHOICES   ·   RATIONALE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8166A7-C0C4-CF01-D9C2-2A2C128F7688}"/>
              </a:ext>
            </a:extLst>
          </p:cNvPr>
          <p:cNvGrpSpPr/>
          <p:nvPr/>
        </p:nvGrpSpPr>
        <p:grpSpPr>
          <a:xfrm>
            <a:off x="8823959" y="2715105"/>
            <a:ext cx="7836010" cy="1272409"/>
            <a:chOff x="365759" y="2715105"/>
            <a:chExt cx="7836010" cy="127240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3463C1-B8E7-68B5-072E-5C4095F76B11}"/>
                </a:ext>
              </a:extLst>
            </p:cNvPr>
            <p:cNvSpPr/>
            <p:nvPr/>
          </p:nvSpPr>
          <p:spPr>
            <a:xfrm>
              <a:off x="365759" y="2715105"/>
              <a:ext cx="107343" cy="12724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7BAD07-8C50-645F-7CC7-A1D2BEC6C881}"/>
                </a:ext>
              </a:extLst>
            </p:cNvPr>
            <p:cNvSpPr txBox="1"/>
            <p:nvPr/>
          </p:nvSpPr>
          <p:spPr>
            <a:xfrm>
              <a:off x="687787" y="2715105"/>
              <a:ext cx="7513982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Two-layer by design</a:t>
              </a:r>
              <a:r>
                <a:rPr lang="en-SG" sz="2400" b="1" i="0">
                  <a:solidFill>
                    <a:srgbClr val="303870"/>
                  </a:solidFill>
                  <a:latin typeface="Nunito" pitchFamily="2" charset="0"/>
                </a:rPr>
                <a:t>:</a:t>
              </a:r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 batch + real-time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A4658C-1766-3F19-112F-8DEAEA00F671}"/>
                </a:ext>
              </a:extLst>
            </p:cNvPr>
            <p:cNvSpPr txBox="1"/>
            <p:nvPr/>
          </p:nvSpPr>
          <p:spPr>
            <a:xfrm>
              <a:off x="687787" y="3230946"/>
              <a:ext cx="7513982" cy="566309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Different operational loops, different cost functions. Same trained model, two inference paths. Candidate model runs as shadow deployment before promotion.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568D26-ADCA-580B-C4AD-B29AC5D11353}"/>
              </a:ext>
            </a:extLst>
          </p:cNvPr>
          <p:cNvGrpSpPr/>
          <p:nvPr/>
        </p:nvGrpSpPr>
        <p:grpSpPr>
          <a:xfrm>
            <a:off x="8823959" y="4140701"/>
            <a:ext cx="7836010" cy="1272409"/>
            <a:chOff x="365759" y="4140701"/>
            <a:chExt cx="7836010" cy="127240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590BDBB-6A8D-73FE-6189-C56AE2387F9E}"/>
                </a:ext>
              </a:extLst>
            </p:cNvPr>
            <p:cNvSpPr/>
            <p:nvPr/>
          </p:nvSpPr>
          <p:spPr>
            <a:xfrm>
              <a:off x="365759" y="4140701"/>
              <a:ext cx="107343" cy="12724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5E6257C-AF71-208B-75BE-C7A1FFC3A3B4}"/>
                </a:ext>
              </a:extLst>
            </p:cNvPr>
            <p:cNvSpPr txBox="1"/>
            <p:nvPr/>
          </p:nvSpPr>
          <p:spPr>
            <a:xfrm>
              <a:off x="687787" y="4140701"/>
              <a:ext cx="7513982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 err="1">
                  <a:solidFill>
                    <a:srgbClr val="303870"/>
                  </a:solidFill>
                  <a:latin typeface="Nunito" pitchFamily="2" charset="0"/>
                </a:rPr>
                <a:t>XGBoost</a:t>
              </a:r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 / </a:t>
              </a:r>
              <a:r>
                <a:rPr sz="2400" b="1" i="0" err="1">
                  <a:solidFill>
                    <a:srgbClr val="303870"/>
                  </a:solidFill>
                  <a:latin typeface="Nunito" pitchFamily="2" charset="0"/>
                </a:rPr>
                <a:t>LightGBM</a:t>
              </a:r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, not deep learning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C824441-419A-6E62-DC9C-350618E68171}"/>
                </a:ext>
              </a:extLst>
            </p:cNvPr>
            <p:cNvSpPr txBox="1"/>
            <p:nvPr/>
          </p:nvSpPr>
          <p:spPr>
            <a:xfrm>
              <a:off x="687787" y="4656543"/>
              <a:ext cx="7513982" cy="32008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Tabular </a:t>
              </a:r>
              <a:r>
                <a:rPr sz="1600" b="0" i="0" err="1">
                  <a:solidFill>
                    <a:srgbClr val="303870"/>
                  </a:solidFill>
                  <a:latin typeface="Nunito" pitchFamily="2" charset="0"/>
                </a:rPr>
                <a:t>spatial+temporal</a:t>
              </a:r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 data. Interpretable via SHAP. Trains in minutes locally in Docker — no GPU required.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D9E264D-E96E-2618-31C2-29A913228095}"/>
              </a:ext>
            </a:extLst>
          </p:cNvPr>
          <p:cNvGrpSpPr/>
          <p:nvPr/>
        </p:nvGrpSpPr>
        <p:grpSpPr>
          <a:xfrm>
            <a:off x="8823959" y="5552229"/>
            <a:ext cx="7836010" cy="1272409"/>
            <a:chOff x="365759" y="5552229"/>
            <a:chExt cx="7836010" cy="127240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5B76D75-5A86-7AEA-0A7D-C6A601268D24}"/>
                </a:ext>
              </a:extLst>
            </p:cNvPr>
            <p:cNvSpPr/>
            <p:nvPr/>
          </p:nvSpPr>
          <p:spPr>
            <a:xfrm>
              <a:off x="365759" y="5552229"/>
              <a:ext cx="107343" cy="12724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0A2B109-6D87-BF4C-DCFF-9A7B62252151}"/>
                </a:ext>
              </a:extLst>
            </p:cNvPr>
            <p:cNvSpPr txBox="1"/>
            <p:nvPr/>
          </p:nvSpPr>
          <p:spPr>
            <a:xfrm>
              <a:off x="687787" y="5552229"/>
              <a:ext cx="7513982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Time-series sliding-window CV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B8AA7F0-41D0-1DF7-9814-2E4E9EA912AD}"/>
                </a:ext>
              </a:extLst>
            </p:cNvPr>
            <p:cNvSpPr txBox="1"/>
            <p:nvPr/>
          </p:nvSpPr>
          <p:spPr>
            <a:xfrm>
              <a:off x="687787" y="6068071"/>
              <a:ext cx="7513982" cy="32008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Standard k-fold leaks future cluster data</a:t>
              </a:r>
              <a:r>
                <a:rPr lang="en-SG" sz="1600" b="0" i="0">
                  <a:solidFill>
                    <a:srgbClr val="303870"/>
                  </a:solidFill>
                  <a:latin typeface="Nunito" pitchFamily="2" charset="0"/>
                </a:rPr>
                <a:t>,</a:t>
              </a:r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 temporal C</a:t>
              </a:r>
              <a:r>
                <a:rPr lang="en-SG" sz="1600">
                  <a:solidFill>
                    <a:srgbClr val="303870"/>
                  </a:solidFill>
                  <a:latin typeface="Nunito" pitchFamily="2" charset="0"/>
                </a:rPr>
                <a:t>V</a:t>
              </a:r>
              <a:r>
                <a:rPr sz="1600" b="0" i="0">
                  <a:solidFill>
                    <a:srgbClr val="303870"/>
                  </a:solidFill>
                  <a:latin typeface="Nunito" pitchFamily="2" charset="0"/>
                </a:rPr>
                <a:t> is the only valid choice.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C01557B-25FF-946E-EE71-EE51178A10A9}"/>
              </a:ext>
            </a:extLst>
          </p:cNvPr>
          <p:cNvGrpSpPr/>
          <p:nvPr/>
        </p:nvGrpSpPr>
        <p:grpSpPr>
          <a:xfrm>
            <a:off x="8823959" y="6963758"/>
            <a:ext cx="7836010" cy="1272409"/>
            <a:chOff x="365759" y="6963758"/>
            <a:chExt cx="7836010" cy="127240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51A2ED-D5CF-D377-337F-5431FD49A26C}"/>
                </a:ext>
              </a:extLst>
            </p:cNvPr>
            <p:cNvSpPr/>
            <p:nvPr/>
          </p:nvSpPr>
          <p:spPr>
            <a:xfrm>
              <a:off x="365759" y="6963758"/>
              <a:ext cx="107343" cy="12724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4400">
                <a:solidFill>
                  <a:srgbClr val="303870"/>
                </a:solidFill>
                <a:latin typeface="Nunito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6BEDA65-EA66-2C05-ABD6-1D36A9EA3310}"/>
                </a:ext>
              </a:extLst>
            </p:cNvPr>
            <p:cNvSpPr txBox="1"/>
            <p:nvPr/>
          </p:nvSpPr>
          <p:spPr>
            <a:xfrm>
              <a:off x="687787" y="6963758"/>
              <a:ext cx="7513982" cy="44319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400" b="1" i="0">
                  <a:solidFill>
                    <a:srgbClr val="303870"/>
                  </a:solidFill>
                  <a:latin typeface="Nunito" pitchFamily="2" charset="0"/>
                </a:rPr>
                <a:t>Recall ≥ 0.70 on High-risk tier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840AFC-02B0-CC4C-EAFA-6046A03AFB3A}"/>
                </a:ext>
              </a:extLst>
            </p:cNvPr>
            <p:cNvSpPr txBox="1"/>
            <p:nvPr/>
          </p:nvSpPr>
          <p:spPr>
            <a:xfrm>
              <a:off x="687787" y="7479599"/>
              <a:ext cx="7513982" cy="566309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Asymmetric cost: false negative = missed outbreak. We </a:t>
              </a:r>
              <a:r>
                <a:rPr sz="1600" b="0" i="0" dirty="0" err="1">
                  <a:solidFill>
                    <a:srgbClr val="303870"/>
                  </a:solidFill>
                  <a:latin typeface="Nunito" pitchFamily="2" charset="0"/>
                </a:rPr>
                <a:t>optimise</a:t>
              </a:r>
              <a:r>
                <a:rPr sz="1600" b="0" i="0" dirty="0">
                  <a:solidFill>
                    <a:srgbClr val="303870"/>
                  </a:solidFill>
                  <a:latin typeface="Nunito" pitchFamily="2" charset="0"/>
                </a:rPr>
                <a:t> for the more expensive error.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677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524C0-8CED-5302-78C5-260CBB94E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0F268AD-6A45-6A70-A498-A9099510CE14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AA7106A-AB5B-D8F2-1C69-0917E5997513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A6F737-7B2E-0237-B43F-67C1DB2FEA19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14FBAC3-AA8B-E7C8-4DA3-00742803E073}"/>
              </a:ext>
            </a:extLst>
          </p:cNvPr>
          <p:cNvGrpSpPr/>
          <p:nvPr/>
        </p:nvGrpSpPr>
        <p:grpSpPr>
          <a:xfrm>
            <a:off x="-43911" y="45536"/>
            <a:ext cx="17112711" cy="10203364"/>
            <a:chOff x="-43911" y="45536"/>
            <a:chExt cx="17112711" cy="1020336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0E1C8F6-B24A-BD83-444C-7D8397CEC019}"/>
                </a:ext>
              </a:extLst>
            </p:cNvPr>
            <p:cNvSpPr/>
            <p:nvPr/>
          </p:nvSpPr>
          <p:spPr>
            <a:xfrm>
              <a:off x="4038600" y="9992700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00DFB83-C94D-8C76-B725-3749EBD05AB5}"/>
                </a:ext>
              </a:extLst>
            </p:cNvPr>
            <p:cNvSpPr/>
            <p:nvPr/>
          </p:nvSpPr>
          <p:spPr>
            <a:xfrm>
              <a:off x="16228732" y="7530582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06E552-2D01-1A35-590F-1167F2F35196}"/>
                </a:ext>
              </a:extLst>
            </p:cNvPr>
            <p:cNvSpPr/>
            <p:nvPr/>
          </p:nvSpPr>
          <p:spPr>
            <a:xfrm>
              <a:off x="15555300" y="7513444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8B1A68-F3D1-9FA1-6D2C-54A37121E3A6}"/>
                </a:ext>
              </a:extLst>
            </p:cNvPr>
            <p:cNvSpPr/>
            <p:nvPr/>
          </p:nvSpPr>
          <p:spPr>
            <a:xfrm>
              <a:off x="9353844" y="5153016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184AE2-B93C-6CB4-9878-60ADB7A9A073}"/>
                </a:ext>
              </a:extLst>
            </p:cNvPr>
            <p:cNvSpPr/>
            <p:nvPr/>
          </p:nvSpPr>
          <p:spPr>
            <a:xfrm>
              <a:off x="9353844" y="5627299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F6919FA-C498-4781-7582-BDB11B7CD357}"/>
                </a:ext>
              </a:extLst>
            </p:cNvPr>
            <p:cNvSpPr/>
            <p:nvPr/>
          </p:nvSpPr>
          <p:spPr>
            <a:xfrm>
              <a:off x="10569452" y="3095168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99D1E4-1B4F-050C-397D-46A5D8A95653}"/>
                </a:ext>
              </a:extLst>
            </p:cNvPr>
            <p:cNvSpPr/>
            <p:nvPr/>
          </p:nvSpPr>
          <p:spPr>
            <a:xfrm>
              <a:off x="10569452" y="3510821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3C7A5E5-64C6-4477-F2F6-5E01BD616B24}"/>
                </a:ext>
              </a:extLst>
            </p:cNvPr>
            <p:cNvSpPr/>
            <p:nvPr/>
          </p:nvSpPr>
          <p:spPr>
            <a:xfrm>
              <a:off x="8964000" y="9071120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121BEE-66FF-EE12-7CD6-3F9CFF6B3E26}"/>
                </a:ext>
              </a:extLst>
            </p:cNvPr>
            <p:cNvSpPr/>
            <p:nvPr/>
          </p:nvSpPr>
          <p:spPr>
            <a:xfrm>
              <a:off x="9227172" y="9072607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C1D41F6-6C4E-3D4C-894B-4A548248B7E2}"/>
                </a:ext>
              </a:extLst>
            </p:cNvPr>
            <p:cNvSpPr/>
            <p:nvPr/>
          </p:nvSpPr>
          <p:spPr>
            <a:xfrm>
              <a:off x="46698" y="4611955"/>
              <a:ext cx="11002302" cy="1903145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DD75F7E-ADEA-980A-345F-6BAADA35923F}"/>
                </a:ext>
              </a:extLst>
            </p:cNvPr>
            <p:cNvSpPr/>
            <p:nvPr/>
          </p:nvSpPr>
          <p:spPr>
            <a:xfrm>
              <a:off x="46698" y="45536"/>
              <a:ext cx="11002302" cy="44875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491E342-5332-2BD4-3A94-AF559B372945}"/>
                </a:ext>
              </a:extLst>
            </p:cNvPr>
            <p:cNvSpPr txBox="1"/>
            <p:nvPr/>
          </p:nvSpPr>
          <p:spPr>
            <a:xfrm>
              <a:off x="49079" y="47738"/>
              <a:ext cx="139343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2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Historical Data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2B69172-3281-4AF0-AF41-E4CA12000238}"/>
                </a:ext>
              </a:extLst>
            </p:cNvPr>
            <p:cNvSpPr/>
            <p:nvPr/>
          </p:nvSpPr>
          <p:spPr>
            <a:xfrm>
              <a:off x="1262314" y="208219"/>
              <a:ext cx="1800000" cy="4248135"/>
            </a:xfrm>
            <a:prstGeom prst="roundRect">
              <a:avLst>
                <a:gd name="adj" fmla="val 6819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SG" sz="105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Bronze</a:t>
              </a:r>
            </a:p>
          </p:txBody>
        </p:sp>
        <p:sp>
          <p:nvSpPr>
            <p:cNvPr id="19" name="Flowchart: Document 18">
              <a:extLst>
                <a:ext uri="{FF2B5EF4-FFF2-40B4-BE49-F238E27FC236}">
                  <a16:creationId xmlns:a16="http://schemas.microsoft.com/office/drawing/2014/main" id="{FE6F3C0C-DE97-846A-41B9-732B61977A3E}"/>
                </a:ext>
              </a:extLst>
            </p:cNvPr>
            <p:cNvSpPr/>
            <p:nvPr/>
          </p:nvSpPr>
          <p:spPr>
            <a:xfrm>
              <a:off x="257721" y="845673"/>
              <a:ext cx="844355" cy="685049"/>
            </a:xfrm>
            <a:prstGeom prst="flowChartDocumen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50" i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SGCharts</a:t>
              </a:r>
              <a:r>
                <a:rPr lang="en-SG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 .</a:t>
              </a:r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csv</a:t>
              </a:r>
            </a:p>
          </p:txBody>
        </p:sp>
        <p:sp>
          <p:nvSpPr>
            <p:cNvPr id="20" name="Flowchart: Document 19">
              <a:extLst>
                <a:ext uri="{FF2B5EF4-FFF2-40B4-BE49-F238E27FC236}">
                  <a16:creationId xmlns:a16="http://schemas.microsoft.com/office/drawing/2014/main" id="{FDE617A6-D360-F3A0-3F93-4435EC73C5BE}"/>
                </a:ext>
              </a:extLst>
            </p:cNvPr>
            <p:cNvSpPr/>
            <p:nvPr/>
          </p:nvSpPr>
          <p:spPr>
            <a:xfrm>
              <a:off x="257719" y="1757299"/>
              <a:ext cx="844355" cy="685049"/>
            </a:xfrm>
            <a:prstGeom prst="flowChartDocumen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50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MSS Weather .</a:t>
              </a:r>
              <a:r>
                <a:rPr lang="en-SG" sz="105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csv</a:t>
              </a:r>
            </a:p>
          </p:txBody>
        </p:sp>
        <p:sp>
          <p:nvSpPr>
            <p:cNvPr id="21" name="Flowchart: Document 20">
              <a:extLst>
                <a:ext uri="{FF2B5EF4-FFF2-40B4-BE49-F238E27FC236}">
                  <a16:creationId xmlns:a16="http://schemas.microsoft.com/office/drawing/2014/main" id="{1BB58633-27C6-25BC-E9EB-55029CA5E2CF}"/>
                </a:ext>
              </a:extLst>
            </p:cNvPr>
            <p:cNvSpPr/>
            <p:nvPr/>
          </p:nvSpPr>
          <p:spPr>
            <a:xfrm>
              <a:off x="257719" y="2689388"/>
              <a:ext cx="844355" cy="685049"/>
            </a:xfrm>
            <a:prstGeom prst="flowChartDocumen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50" i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SingStat</a:t>
              </a:r>
              <a:r>
                <a:rPr lang="en-SG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 .</a:t>
              </a:r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csv</a:t>
              </a:r>
            </a:p>
          </p:txBody>
        </p:sp>
        <p:sp>
          <p:nvSpPr>
            <p:cNvPr id="22" name="Flowchart: Document 21">
              <a:extLst>
                <a:ext uri="{FF2B5EF4-FFF2-40B4-BE49-F238E27FC236}">
                  <a16:creationId xmlns:a16="http://schemas.microsoft.com/office/drawing/2014/main" id="{5FE6089B-B75F-B356-56E2-C2941D6F9509}"/>
                </a:ext>
              </a:extLst>
            </p:cNvPr>
            <p:cNvSpPr/>
            <p:nvPr/>
          </p:nvSpPr>
          <p:spPr>
            <a:xfrm>
              <a:off x="252710" y="3581696"/>
              <a:ext cx="844355" cy="685049"/>
            </a:xfrm>
            <a:prstGeom prst="flowChartDocumen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URA </a:t>
              </a:r>
              <a:r>
                <a:rPr lang="en-SG" sz="1050" i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Geo.</a:t>
              </a:r>
              <a:r>
                <a:rPr lang="en-SG" sz="105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json</a:t>
              </a:r>
              <a:endPara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</p:txBody>
        </p:sp>
        <p:sp>
          <p:nvSpPr>
            <p:cNvPr id="23" name="Cylinder 22">
              <a:extLst>
                <a:ext uri="{FF2B5EF4-FFF2-40B4-BE49-F238E27FC236}">
                  <a16:creationId xmlns:a16="http://schemas.microsoft.com/office/drawing/2014/main" id="{2F3B1695-14E5-0CC7-D539-DFB9D5E0BEF0}"/>
                </a:ext>
              </a:extLst>
            </p:cNvPr>
            <p:cNvSpPr/>
            <p:nvPr/>
          </p:nvSpPr>
          <p:spPr>
            <a:xfrm>
              <a:off x="1626949" y="810548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raw</a:t>
              </a:r>
              <a:br>
                <a:rPr 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</a:br>
              <a:r>
                <a:rPr 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clusters</a:t>
              </a:r>
              <a:endPara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24" name="Cylinder 23">
              <a:extLst>
                <a:ext uri="{FF2B5EF4-FFF2-40B4-BE49-F238E27FC236}">
                  <a16:creationId xmlns:a16="http://schemas.microsoft.com/office/drawing/2014/main" id="{2651CB84-0A38-4128-7BBB-646FA1F767C3}"/>
                </a:ext>
              </a:extLst>
            </p:cNvPr>
            <p:cNvSpPr/>
            <p:nvPr/>
          </p:nvSpPr>
          <p:spPr>
            <a:xfrm>
              <a:off x="1626949" y="1722173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raw</a:t>
              </a:r>
            </a:p>
            <a:p>
              <a:pPr algn="ctr"/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weather</a:t>
              </a:r>
            </a:p>
          </p:txBody>
        </p:sp>
        <p:sp>
          <p:nvSpPr>
            <p:cNvPr id="25" name="Cylinder 24">
              <a:extLst>
                <a:ext uri="{FF2B5EF4-FFF2-40B4-BE49-F238E27FC236}">
                  <a16:creationId xmlns:a16="http://schemas.microsoft.com/office/drawing/2014/main" id="{81295471-AF9E-B784-30B3-3BA596A0FD19}"/>
                </a:ext>
              </a:extLst>
            </p:cNvPr>
            <p:cNvSpPr/>
            <p:nvPr/>
          </p:nvSpPr>
          <p:spPr>
            <a:xfrm>
              <a:off x="1626949" y="2653961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raw</a:t>
              </a:r>
            </a:p>
            <a:p>
              <a:pPr algn="ctr"/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population</a:t>
              </a:r>
            </a:p>
          </p:txBody>
        </p:sp>
        <p:sp>
          <p:nvSpPr>
            <p:cNvPr id="26" name="Cylinder 25">
              <a:extLst>
                <a:ext uri="{FF2B5EF4-FFF2-40B4-BE49-F238E27FC236}">
                  <a16:creationId xmlns:a16="http://schemas.microsoft.com/office/drawing/2014/main" id="{8C609E4D-B933-81AF-A86E-9853717C7F10}"/>
                </a:ext>
              </a:extLst>
            </p:cNvPr>
            <p:cNvSpPr/>
            <p:nvPr/>
          </p:nvSpPr>
          <p:spPr>
            <a:xfrm>
              <a:off x="1626949" y="3546571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raw</a:t>
              </a:r>
            </a:p>
            <a:p>
              <a:pPr algn="ctr"/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geodata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29FE1B8-9D48-0970-ECCF-1571E24707F5}"/>
                </a:ext>
              </a:extLst>
            </p:cNvPr>
            <p:cNvCxnSpPr>
              <a:cxnSpLocks/>
              <a:stCxn id="19" idx="3"/>
              <a:endCxn id="23" idx="2"/>
            </p:cNvCxnSpPr>
            <p:nvPr/>
          </p:nvCxnSpPr>
          <p:spPr>
            <a:xfrm>
              <a:off x="1102076" y="1188198"/>
              <a:ext cx="524873" cy="1"/>
            </a:xfrm>
            <a:prstGeom prst="straightConnector1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B8C21C7-CB2E-AC15-44DB-EC13E53B1B03}"/>
                </a:ext>
              </a:extLst>
            </p:cNvPr>
            <p:cNvCxnSpPr>
              <a:cxnSpLocks/>
              <a:stCxn id="20" idx="3"/>
              <a:endCxn id="24" idx="2"/>
            </p:cNvCxnSpPr>
            <p:nvPr/>
          </p:nvCxnSpPr>
          <p:spPr>
            <a:xfrm>
              <a:off x="1102074" y="2099824"/>
              <a:ext cx="524875" cy="0"/>
            </a:xfrm>
            <a:prstGeom prst="straightConnector1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87BEF55-A57B-B54A-DB42-C534B5178DEC}"/>
                </a:ext>
              </a:extLst>
            </p:cNvPr>
            <p:cNvCxnSpPr>
              <a:cxnSpLocks/>
              <a:stCxn id="21" idx="3"/>
              <a:endCxn id="25" idx="2"/>
            </p:cNvCxnSpPr>
            <p:nvPr/>
          </p:nvCxnSpPr>
          <p:spPr>
            <a:xfrm flipV="1">
              <a:off x="1102074" y="3031612"/>
              <a:ext cx="524875" cy="301"/>
            </a:xfrm>
            <a:prstGeom prst="straightConnector1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DC0D45F-71ED-2E69-958A-74FAE369DA4F}"/>
                </a:ext>
              </a:extLst>
            </p:cNvPr>
            <p:cNvCxnSpPr>
              <a:cxnSpLocks/>
              <a:stCxn id="22" idx="3"/>
              <a:endCxn id="26" idx="2"/>
            </p:cNvCxnSpPr>
            <p:nvPr/>
          </p:nvCxnSpPr>
          <p:spPr>
            <a:xfrm>
              <a:off x="1097065" y="3924221"/>
              <a:ext cx="529884" cy="1"/>
            </a:xfrm>
            <a:prstGeom prst="straightConnector1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C4C6485-9CA3-3A71-280D-7A1D17B8E77D}"/>
                </a:ext>
              </a:extLst>
            </p:cNvPr>
            <p:cNvSpPr/>
            <p:nvPr/>
          </p:nvSpPr>
          <p:spPr>
            <a:xfrm>
              <a:off x="5181600" y="208200"/>
              <a:ext cx="1800000" cy="4248943"/>
            </a:xfrm>
            <a:prstGeom prst="roundRect">
              <a:avLst>
                <a:gd name="adj" fmla="val 6819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SG" sz="105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Silver</a:t>
              </a:r>
            </a:p>
          </p:txBody>
        </p:sp>
        <p:sp>
          <p:nvSpPr>
            <p:cNvPr id="32" name="Cylinder 31">
              <a:extLst>
                <a:ext uri="{FF2B5EF4-FFF2-40B4-BE49-F238E27FC236}">
                  <a16:creationId xmlns:a16="http://schemas.microsoft.com/office/drawing/2014/main" id="{02C6FB24-4199-76D0-8B85-FFEBE98D5D41}"/>
                </a:ext>
              </a:extLst>
            </p:cNvPr>
            <p:cNvSpPr/>
            <p:nvPr/>
          </p:nvSpPr>
          <p:spPr>
            <a:xfrm>
              <a:off x="5546235" y="810548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cleaned</a:t>
              </a:r>
            </a:p>
            <a:p>
              <a:pPr algn="ctr"/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clusters</a:t>
              </a:r>
            </a:p>
          </p:txBody>
        </p:sp>
        <p:sp>
          <p:nvSpPr>
            <p:cNvPr id="33" name="Cylinder 32">
              <a:extLst>
                <a:ext uri="{FF2B5EF4-FFF2-40B4-BE49-F238E27FC236}">
                  <a16:creationId xmlns:a16="http://schemas.microsoft.com/office/drawing/2014/main" id="{5078EE35-8A52-D2C5-14EE-0F9721089EF7}"/>
                </a:ext>
              </a:extLst>
            </p:cNvPr>
            <p:cNvSpPr/>
            <p:nvPr/>
          </p:nvSpPr>
          <p:spPr>
            <a:xfrm>
              <a:off x="5546235" y="1722173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cleaned</a:t>
              </a:r>
            </a:p>
            <a:p>
              <a:pPr algn="ctr"/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weather</a:t>
              </a:r>
            </a:p>
          </p:txBody>
        </p:sp>
        <p:sp>
          <p:nvSpPr>
            <p:cNvPr id="34" name="Cylinder 33">
              <a:extLst>
                <a:ext uri="{FF2B5EF4-FFF2-40B4-BE49-F238E27FC236}">
                  <a16:creationId xmlns:a16="http://schemas.microsoft.com/office/drawing/2014/main" id="{E38B2CC3-679C-97B3-8FDC-DD96CD5B4EF6}"/>
                </a:ext>
              </a:extLst>
            </p:cNvPr>
            <p:cNvSpPr/>
            <p:nvPr/>
          </p:nvSpPr>
          <p:spPr>
            <a:xfrm>
              <a:off x="5546235" y="2653961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cleaned</a:t>
              </a:r>
            </a:p>
            <a:p>
              <a:pPr algn="ctr"/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population</a:t>
              </a:r>
            </a:p>
          </p:txBody>
        </p:sp>
        <p:sp>
          <p:nvSpPr>
            <p:cNvPr id="35" name="Cylinder 34">
              <a:extLst>
                <a:ext uri="{FF2B5EF4-FFF2-40B4-BE49-F238E27FC236}">
                  <a16:creationId xmlns:a16="http://schemas.microsoft.com/office/drawing/2014/main" id="{79E4B81D-87CD-82F7-E373-89CB52B60DFC}"/>
                </a:ext>
              </a:extLst>
            </p:cNvPr>
            <p:cNvSpPr/>
            <p:nvPr/>
          </p:nvSpPr>
          <p:spPr>
            <a:xfrm>
              <a:off x="5546235" y="3546571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cleaned</a:t>
              </a:r>
            </a:p>
            <a:p>
              <a:pPr algn="ctr"/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geodata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FED4CBD-86A7-F108-4BE5-4158D0ED486A}"/>
                </a:ext>
              </a:extLst>
            </p:cNvPr>
            <p:cNvCxnSpPr>
              <a:cxnSpLocks/>
              <a:stCxn id="23" idx="4"/>
              <a:endCxn id="32" idx="2"/>
            </p:cNvCxnSpPr>
            <p:nvPr/>
          </p:nvCxnSpPr>
          <p:spPr>
            <a:xfrm>
              <a:off x="2706949" y="1188199"/>
              <a:ext cx="2839286" cy="0"/>
            </a:xfrm>
            <a:prstGeom prst="straightConnector1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B518499-3191-AB80-AF79-8A593B9A26A7}"/>
                </a:ext>
              </a:extLst>
            </p:cNvPr>
            <p:cNvCxnSpPr>
              <a:cxnSpLocks/>
              <a:stCxn id="24" idx="4"/>
              <a:endCxn id="33" idx="2"/>
            </p:cNvCxnSpPr>
            <p:nvPr/>
          </p:nvCxnSpPr>
          <p:spPr>
            <a:xfrm>
              <a:off x="2706949" y="2099824"/>
              <a:ext cx="2839286" cy="0"/>
            </a:xfrm>
            <a:prstGeom prst="straightConnector1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B22586A-728C-6411-8992-0F64F4C7ED07}"/>
                </a:ext>
              </a:extLst>
            </p:cNvPr>
            <p:cNvCxnSpPr>
              <a:cxnSpLocks/>
              <a:stCxn id="25" idx="4"/>
              <a:endCxn id="34" idx="2"/>
            </p:cNvCxnSpPr>
            <p:nvPr/>
          </p:nvCxnSpPr>
          <p:spPr>
            <a:xfrm>
              <a:off x="2706949" y="3031612"/>
              <a:ext cx="2839286" cy="0"/>
            </a:xfrm>
            <a:prstGeom prst="straightConnector1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4660C67-8DC0-EF98-6B09-19BB13A0185A}"/>
                </a:ext>
              </a:extLst>
            </p:cNvPr>
            <p:cNvCxnSpPr>
              <a:cxnSpLocks/>
              <a:stCxn id="26" idx="4"/>
              <a:endCxn id="35" idx="2"/>
            </p:cNvCxnSpPr>
            <p:nvPr/>
          </p:nvCxnSpPr>
          <p:spPr>
            <a:xfrm>
              <a:off x="2706949" y="3924222"/>
              <a:ext cx="2839286" cy="0"/>
            </a:xfrm>
            <a:prstGeom prst="straightConnector1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80194F3-6AAA-6B03-C598-C7F6E61C6556}"/>
                </a:ext>
              </a:extLst>
            </p:cNvPr>
            <p:cNvSpPr/>
            <p:nvPr/>
          </p:nvSpPr>
          <p:spPr>
            <a:xfrm>
              <a:off x="9144000" y="208200"/>
              <a:ext cx="1800000" cy="6230700"/>
            </a:xfrm>
            <a:prstGeom prst="roundRect">
              <a:avLst>
                <a:gd name="adj" fmla="val 6819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SG" sz="105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Gold</a:t>
              </a:r>
            </a:p>
          </p:txBody>
        </p:sp>
        <p:sp>
          <p:nvSpPr>
            <p:cNvPr id="41" name="Cylinder 40">
              <a:extLst>
                <a:ext uri="{FF2B5EF4-FFF2-40B4-BE49-F238E27FC236}">
                  <a16:creationId xmlns:a16="http://schemas.microsoft.com/office/drawing/2014/main" id="{F9B7C385-B25B-50D6-238A-05549C87D67B}"/>
                </a:ext>
              </a:extLst>
            </p:cNvPr>
            <p:cNvSpPr/>
            <p:nvPr/>
          </p:nvSpPr>
          <p:spPr>
            <a:xfrm>
              <a:off x="9347201" y="2851307"/>
              <a:ext cx="1407503" cy="996793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subzone_features</a:t>
              </a:r>
              <a:endPara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endParaRPr>
            </a:p>
          </p:txBody>
        </p:sp>
        <p:cxnSp>
          <p:nvCxnSpPr>
            <p:cNvPr id="42" name="Straight Arrow Connector 80">
              <a:extLst>
                <a:ext uri="{FF2B5EF4-FFF2-40B4-BE49-F238E27FC236}">
                  <a16:creationId xmlns:a16="http://schemas.microsoft.com/office/drawing/2014/main" id="{420A2B9D-A05F-BD09-2AEE-D2C1392B8EE0}"/>
                </a:ext>
              </a:extLst>
            </p:cNvPr>
            <p:cNvCxnSpPr>
              <a:cxnSpLocks/>
              <a:stCxn id="32" idx="4"/>
              <a:endCxn id="41" idx="2"/>
            </p:cNvCxnSpPr>
            <p:nvPr/>
          </p:nvCxnSpPr>
          <p:spPr>
            <a:xfrm>
              <a:off x="6626235" y="1188199"/>
              <a:ext cx="2720966" cy="2161505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83">
              <a:extLst>
                <a:ext uri="{FF2B5EF4-FFF2-40B4-BE49-F238E27FC236}">
                  <a16:creationId xmlns:a16="http://schemas.microsoft.com/office/drawing/2014/main" id="{7CF8F582-14D4-8250-5B18-586648F85504}"/>
                </a:ext>
              </a:extLst>
            </p:cNvPr>
            <p:cNvCxnSpPr>
              <a:cxnSpLocks/>
              <a:stCxn id="33" idx="4"/>
              <a:endCxn id="41" idx="2"/>
            </p:cNvCxnSpPr>
            <p:nvPr/>
          </p:nvCxnSpPr>
          <p:spPr>
            <a:xfrm>
              <a:off x="6626235" y="2099824"/>
              <a:ext cx="2720966" cy="124988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86">
              <a:extLst>
                <a:ext uri="{FF2B5EF4-FFF2-40B4-BE49-F238E27FC236}">
                  <a16:creationId xmlns:a16="http://schemas.microsoft.com/office/drawing/2014/main" id="{999B79E7-97E9-C307-33AC-B33AC31353CD}"/>
                </a:ext>
              </a:extLst>
            </p:cNvPr>
            <p:cNvCxnSpPr>
              <a:cxnSpLocks/>
              <a:stCxn id="34" idx="4"/>
              <a:endCxn id="41" idx="2"/>
            </p:cNvCxnSpPr>
            <p:nvPr/>
          </p:nvCxnSpPr>
          <p:spPr>
            <a:xfrm>
              <a:off x="6626235" y="3031612"/>
              <a:ext cx="2720966" cy="318092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89">
              <a:extLst>
                <a:ext uri="{FF2B5EF4-FFF2-40B4-BE49-F238E27FC236}">
                  <a16:creationId xmlns:a16="http://schemas.microsoft.com/office/drawing/2014/main" id="{AE996DCB-76C4-A315-0F79-5067D0B31621}"/>
                </a:ext>
              </a:extLst>
            </p:cNvPr>
            <p:cNvCxnSpPr>
              <a:cxnSpLocks/>
              <a:stCxn id="35" idx="4"/>
              <a:endCxn id="41" idx="2"/>
            </p:cNvCxnSpPr>
            <p:nvPr/>
          </p:nvCxnSpPr>
          <p:spPr>
            <a:xfrm flipV="1">
              <a:off x="6626235" y="3349704"/>
              <a:ext cx="2720966" cy="57451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3E3516D-7EBE-E8F1-0426-295707643F63}"/>
                </a:ext>
              </a:extLst>
            </p:cNvPr>
            <p:cNvSpPr/>
            <p:nvPr/>
          </p:nvSpPr>
          <p:spPr>
            <a:xfrm>
              <a:off x="3212500" y="810548"/>
              <a:ext cx="1800000" cy="3344413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algn="ctr"/>
              <a:r>
                <a:rPr lang="en-SG" sz="1200" b="1">
                  <a:solidFill>
                    <a:srgbClr val="6B7A7A"/>
                  </a:solidFill>
                  <a:latin typeface="Nunito" pitchFamily="2" charset="0"/>
                </a:rPr>
                <a:t>Pre-processing</a:t>
              </a:r>
              <a:endParaRPr lang="en-SG" sz="1050" b="1">
                <a:solidFill>
                  <a:srgbClr val="6B7A7A"/>
                </a:solidFill>
                <a:latin typeface="Nunito" pitchFamily="2" charset="0"/>
              </a:endParaRPr>
            </a:p>
            <a:p>
              <a:pPr algn="ctr"/>
              <a:endParaRPr lang="en-SG" sz="105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Enforce schema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Handle null values and outliers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Remove duplicates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Repair geometrics</a:t>
              </a:r>
            </a:p>
          </p:txBody>
        </p:sp>
        <p:cxnSp>
          <p:nvCxnSpPr>
            <p:cNvPr id="47" name="Straight Arrow Connector 80">
              <a:extLst>
                <a:ext uri="{FF2B5EF4-FFF2-40B4-BE49-F238E27FC236}">
                  <a16:creationId xmlns:a16="http://schemas.microsoft.com/office/drawing/2014/main" id="{802F9457-B121-FCC7-216A-C2E256B0AAFE}"/>
                </a:ext>
              </a:extLst>
            </p:cNvPr>
            <p:cNvCxnSpPr>
              <a:cxnSpLocks/>
              <a:stCxn id="32" idx="4"/>
              <a:endCxn id="49" idx="1"/>
            </p:cNvCxnSpPr>
            <p:nvPr/>
          </p:nvCxnSpPr>
          <p:spPr>
            <a:xfrm>
              <a:off x="6626235" y="1188199"/>
              <a:ext cx="2720966" cy="34044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DB7F6B3-60E9-6820-C358-37943C3E18E9}"/>
                </a:ext>
              </a:extLst>
            </p:cNvPr>
            <p:cNvSpPr txBox="1"/>
            <p:nvPr/>
          </p:nvSpPr>
          <p:spPr>
            <a:xfrm>
              <a:off x="9640422" y="2875290"/>
              <a:ext cx="7665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49" name="Flowchart: Document 48">
              <a:extLst>
                <a:ext uri="{FF2B5EF4-FFF2-40B4-BE49-F238E27FC236}">
                  <a16:creationId xmlns:a16="http://schemas.microsoft.com/office/drawing/2014/main" id="{45C30271-CB33-31A8-7BB5-96AEEB38B8A7}"/>
                </a:ext>
              </a:extLst>
            </p:cNvPr>
            <p:cNvSpPr/>
            <p:nvPr/>
          </p:nvSpPr>
          <p:spPr>
            <a:xfrm>
              <a:off x="9347201" y="1114191"/>
              <a:ext cx="1396998" cy="828909"/>
            </a:xfrm>
            <a:prstGeom prst="flowChartDocumen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subzone_features.parquet</a:t>
              </a:r>
              <a:endPara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A07F9C2-1172-AC85-3FDC-DC96595DAA36}"/>
                </a:ext>
              </a:extLst>
            </p:cNvPr>
            <p:cNvSpPr txBox="1"/>
            <p:nvPr/>
          </p:nvSpPr>
          <p:spPr>
            <a:xfrm>
              <a:off x="5735837" y="799543"/>
              <a:ext cx="6094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8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231951D-BD2B-A03A-FBAD-E1FDA9EA82FD}"/>
                </a:ext>
              </a:extLst>
            </p:cNvPr>
            <p:cNvSpPr txBox="1"/>
            <p:nvPr/>
          </p:nvSpPr>
          <p:spPr>
            <a:xfrm>
              <a:off x="5745081" y="1713943"/>
              <a:ext cx="6094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8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3BF7155-180F-4FE6-E09B-6433F998BF83}"/>
                </a:ext>
              </a:extLst>
            </p:cNvPr>
            <p:cNvSpPr txBox="1"/>
            <p:nvPr/>
          </p:nvSpPr>
          <p:spPr>
            <a:xfrm>
              <a:off x="5725573" y="2628343"/>
              <a:ext cx="6094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8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1BB6A2E-EDB3-F7E2-954E-FC61E0133092}"/>
                </a:ext>
              </a:extLst>
            </p:cNvPr>
            <p:cNvSpPr txBox="1"/>
            <p:nvPr/>
          </p:nvSpPr>
          <p:spPr>
            <a:xfrm>
              <a:off x="5735022" y="3542743"/>
              <a:ext cx="6094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8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0AF40E9-8AB1-301E-A502-0BF75BA558E5}"/>
                </a:ext>
              </a:extLst>
            </p:cNvPr>
            <p:cNvSpPr txBox="1"/>
            <p:nvPr/>
          </p:nvSpPr>
          <p:spPr>
            <a:xfrm>
              <a:off x="1801396" y="799543"/>
              <a:ext cx="6094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8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86B6FD8-DDF9-0D45-054A-7BC9F19DCB6F}"/>
                </a:ext>
              </a:extLst>
            </p:cNvPr>
            <p:cNvSpPr txBox="1"/>
            <p:nvPr/>
          </p:nvSpPr>
          <p:spPr>
            <a:xfrm>
              <a:off x="1810640" y="1713943"/>
              <a:ext cx="6094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8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61FEA53-08BA-B10B-5D1B-6A67813DC453}"/>
                </a:ext>
              </a:extLst>
            </p:cNvPr>
            <p:cNvSpPr txBox="1"/>
            <p:nvPr/>
          </p:nvSpPr>
          <p:spPr>
            <a:xfrm>
              <a:off x="1791132" y="2628343"/>
              <a:ext cx="6094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8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0A64C02-3672-85E9-3F2D-B03B20C329A0}"/>
                </a:ext>
              </a:extLst>
            </p:cNvPr>
            <p:cNvSpPr txBox="1"/>
            <p:nvPr/>
          </p:nvSpPr>
          <p:spPr>
            <a:xfrm>
              <a:off x="1800581" y="3542743"/>
              <a:ext cx="60946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8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58" name="Cylinder 57">
              <a:extLst>
                <a:ext uri="{FF2B5EF4-FFF2-40B4-BE49-F238E27FC236}">
                  <a16:creationId xmlns:a16="http://schemas.microsoft.com/office/drawing/2014/main" id="{C52E26CB-CEBF-96C2-4437-F09DC3D9E22E}"/>
                </a:ext>
              </a:extLst>
            </p:cNvPr>
            <p:cNvSpPr/>
            <p:nvPr/>
          </p:nvSpPr>
          <p:spPr>
            <a:xfrm>
              <a:off x="9341949" y="4921020"/>
              <a:ext cx="1407503" cy="996793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50" err="1">
                  <a:solidFill>
                    <a:srgbClr val="595959"/>
                  </a:solidFill>
                  <a:latin typeface="Nunito" pitchFamily="2" charset="0"/>
                </a:rPr>
                <a:t>current_week_case_count</a:t>
              </a:r>
              <a:endParaRPr lang="en-SG" sz="1050">
                <a:solidFill>
                  <a:srgbClr val="595959"/>
                </a:solidFill>
                <a:latin typeface="Nunito" pitchFamily="2" charset="0"/>
              </a:endParaRPr>
            </a:p>
            <a:p>
              <a:pPr algn="ctr"/>
              <a:r>
                <a:rPr lang="en-SG" sz="1050" err="1">
                  <a:solidFill>
                    <a:srgbClr val="595959"/>
                  </a:solidFill>
                  <a:latin typeface="Nunito" pitchFamily="2" charset="0"/>
                </a:rPr>
                <a:t>vulnerability_index</a:t>
              </a:r>
              <a:endParaRPr lang="en-SG" sz="1050">
                <a:solidFill>
                  <a:srgbClr val="595959"/>
                </a:solidFill>
                <a:latin typeface="Nunito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2A6A336-136A-E9A6-A15C-50E53AB6E066}"/>
                </a:ext>
              </a:extLst>
            </p:cNvPr>
            <p:cNvSpPr txBox="1"/>
            <p:nvPr/>
          </p:nvSpPr>
          <p:spPr>
            <a:xfrm>
              <a:off x="9725740" y="4921020"/>
              <a:ext cx="6030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50" b="1">
                  <a:solidFill>
                    <a:srgbClr val="1C334E"/>
                  </a:solidFill>
                  <a:latin typeface="Nunito" pitchFamily="2" charset="0"/>
                </a:rPr>
                <a:t>REDIS</a:t>
              </a:r>
            </a:p>
          </p:txBody>
        </p:sp>
        <p:cxnSp>
          <p:nvCxnSpPr>
            <p:cNvPr id="60" name="Straight Arrow Connector 89">
              <a:extLst>
                <a:ext uri="{FF2B5EF4-FFF2-40B4-BE49-F238E27FC236}">
                  <a16:creationId xmlns:a16="http://schemas.microsoft.com/office/drawing/2014/main" id="{B253DAE9-09A4-B359-185F-C69FC034B763}"/>
                </a:ext>
              </a:extLst>
            </p:cNvPr>
            <p:cNvCxnSpPr>
              <a:cxnSpLocks/>
              <a:stCxn id="34" idx="4"/>
              <a:endCxn id="9" idx="1"/>
            </p:cNvCxnSpPr>
            <p:nvPr/>
          </p:nvCxnSpPr>
          <p:spPr>
            <a:xfrm>
              <a:off x="6626235" y="3031612"/>
              <a:ext cx="2727609" cy="2211404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4FED8BD-411A-9DA5-F784-6DE25C42CB59}"/>
                </a:ext>
              </a:extLst>
            </p:cNvPr>
            <p:cNvSpPr/>
            <p:nvPr/>
          </p:nvSpPr>
          <p:spPr>
            <a:xfrm>
              <a:off x="7156767" y="799544"/>
              <a:ext cx="1800000" cy="3355418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algn="ctr"/>
              <a:r>
                <a:rPr lang="en-SG" sz="1200" b="1">
                  <a:solidFill>
                    <a:srgbClr val="6B7A7A"/>
                  </a:solidFill>
                  <a:latin typeface="Nunito" pitchFamily="2" charset="0"/>
                </a:rPr>
                <a:t>Feature Engineering</a:t>
              </a:r>
            </a:p>
            <a:p>
              <a:pPr algn="ctr"/>
              <a:endParaRPr lang="en-SG" sz="105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Lag features (weather)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Rolling aggregates (clusters)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Spatial join (clusters × subzones)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SG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Vulnerability index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SG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Label creation</a:t>
              </a:r>
            </a:p>
            <a:p>
              <a:pPr algn="ctr"/>
              <a:endParaRPr lang="en-SG" sz="1050">
                <a:solidFill>
                  <a:srgbClr val="6B7A7A"/>
                </a:solidFill>
                <a:latin typeface="Nunito" pitchFamily="2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3D3C54D-F8DB-DB58-E0F4-91BC6E5ADC9B}"/>
                </a:ext>
              </a:extLst>
            </p:cNvPr>
            <p:cNvSpPr txBox="1"/>
            <p:nvPr/>
          </p:nvSpPr>
          <p:spPr>
            <a:xfrm>
              <a:off x="9227172" y="876925"/>
              <a:ext cx="164755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Used for model dev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3CD0CC3-C3C1-39F5-3C65-3F5249E8CE05}"/>
                </a:ext>
              </a:extLst>
            </p:cNvPr>
            <p:cNvSpPr txBox="1"/>
            <p:nvPr/>
          </p:nvSpPr>
          <p:spPr>
            <a:xfrm>
              <a:off x="9202871" y="2612009"/>
              <a:ext cx="164755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Offline Feature Store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BD9CDC63-9D4E-DD16-33EB-A4A08AB5E953}"/>
                </a:ext>
              </a:extLst>
            </p:cNvPr>
            <p:cNvSpPr txBox="1"/>
            <p:nvPr/>
          </p:nvSpPr>
          <p:spPr>
            <a:xfrm>
              <a:off x="9202871" y="4686300"/>
              <a:ext cx="164755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5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Online Feature Store</a:t>
              </a:r>
            </a:p>
          </p:txBody>
        </p:sp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43B38FA1-4B32-301C-440F-8199F6CF1EC5}"/>
                </a:ext>
              </a:extLst>
            </p:cNvPr>
            <p:cNvSpPr/>
            <p:nvPr/>
          </p:nvSpPr>
          <p:spPr>
            <a:xfrm>
              <a:off x="11766233" y="6591300"/>
              <a:ext cx="5086089" cy="2479820"/>
            </a:xfrm>
            <a:prstGeom prst="roundRect">
              <a:avLst>
                <a:gd name="adj" fmla="val 4206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73152" rIns="109728" bIns="73152" rtlCol="0" anchor="b"/>
            <a:lstStyle/>
            <a:p>
              <a:pPr algn="ctr"/>
              <a:r>
                <a:rPr lang="en-SG" sz="1400" b="1">
                  <a:solidFill>
                    <a:srgbClr val="595959"/>
                  </a:solidFill>
                  <a:latin typeface="Nunito" pitchFamily="2" charset="0"/>
                </a:rPr>
                <a:t>Model Registry (</a:t>
              </a:r>
              <a:r>
                <a:rPr lang="en-SG" sz="1400" b="1" err="1">
                  <a:solidFill>
                    <a:srgbClr val="595959"/>
                  </a:solidFill>
                  <a:latin typeface="Nunito" pitchFamily="2" charset="0"/>
                </a:rPr>
                <a:t>MLflow</a:t>
              </a:r>
              <a:r>
                <a:rPr lang="en-SG" sz="1400" b="1">
                  <a:solidFill>
                    <a:srgbClr val="595959"/>
                  </a:solidFill>
                  <a:latin typeface="Nunito" pitchFamily="2" charset="0"/>
                </a:rPr>
                <a:t>)</a:t>
              </a:r>
            </a:p>
          </p:txBody>
        </p:sp>
        <p:cxnSp>
          <p:nvCxnSpPr>
            <p:cNvPr id="66" name="Straight Arrow Connector 80">
              <a:extLst>
                <a:ext uri="{FF2B5EF4-FFF2-40B4-BE49-F238E27FC236}">
                  <a16:creationId xmlns:a16="http://schemas.microsoft.com/office/drawing/2014/main" id="{EC6C7E1E-D2FA-BA56-79C9-E402A3CC953C}"/>
                </a:ext>
              </a:extLst>
            </p:cNvPr>
            <p:cNvCxnSpPr>
              <a:cxnSpLocks/>
              <a:stCxn id="49" idx="3"/>
              <a:endCxn id="80" idx="1"/>
            </p:cNvCxnSpPr>
            <p:nvPr/>
          </p:nvCxnSpPr>
          <p:spPr>
            <a:xfrm>
              <a:off x="10744199" y="1528646"/>
              <a:ext cx="841580" cy="130023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80">
              <a:extLst>
                <a:ext uri="{FF2B5EF4-FFF2-40B4-BE49-F238E27FC236}">
                  <a16:creationId xmlns:a16="http://schemas.microsoft.com/office/drawing/2014/main" id="{6C46CEC6-5AF4-9A45-ECD3-16F585F53CD8}"/>
                </a:ext>
              </a:extLst>
            </p:cNvPr>
            <p:cNvCxnSpPr>
              <a:cxnSpLocks/>
              <a:stCxn id="78" idx="2"/>
              <a:endCxn id="77" idx="0"/>
            </p:cNvCxnSpPr>
            <p:nvPr/>
          </p:nvCxnSpPr>
          <p:spPr>
            <a:xfrm rot="16200000" flipH="1">
              <a:off x="12748472" y="5155679"/>
              <a:ext cx="1613229" cy="193893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: Single Corner Rounded 67">
              <a:extLst>
                <a:ext uri="{FF2B5EF4-FFF2-40B4-BE49-F238E27FC236}">
                  <a16:creationId xmlns:a16="http://schemas.microsoft.com/office/drawing/2014/main" id="{ABDD2B60-20BB-D37C-685D-5AD2EE308450}"/>
                </a:ext>
              </a:extLst>
            </p:cNvPr>
            <p:cNvSpPr/>
            <p:nvPr/>
          </p:nvSpPr>
          <p:spPr>
            <a:xfrm>
              <a:off x="12128417" y="6896100"/>
              <a:ext cx="914400" cy="814481"/>
            </a:xfrm>
            <a:prstGeom prst="round1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SG" sz="1100" b="1">
                  <a:solidFill>
                    <a:srgbClr val="6B7A7A"/>
                  </a:solidFill>
                  <a:latin typeface="Nunito" pitchFamily="2" charset="0"/>
                </a:rPr>
                <a:t>model_v1</a:t>
              </a:r>
              <a:endParaRPr lang="en-SG" sz="1100">
                <a:solidFill>
                  <a:srgbClr val="6B7A7A"/>
                </a:solidFill>
                <a:latin typeface="Nunito" pitchFamily="2" charset="0"/>
              </a:endParaRPr>
            </a:p>
          </p:txBody>
        </p:sp>
        <p:sp>
          <p:nvSpPr>
            <p:cNvPr id="69" name="Rectangle: Single Corner Rounded 68">
              <a:extLst>
                <a:ext uri="{FF2B5EF4-FFF2-40B4-BE49-F238E27FC236}">
                  <a16:creationId xmlns:a16="http://schemas.microsoft.com/office/drawing/2014/main" id="{85E2D6EF-D7DD-8CAC-FC1A-21C118048A47}"/>
                </a:ext>
              </a:extLst>
            </p:cNvPr>
            <p:cNvSpPr/>
            <p:nvPr/>
          </p:nvSpPr>
          <p:spPr>
            <a:xfrm>
              <a:off x="13258800" y="6896100"/>
              <a:ext cx="914400" cy="814481"/>
            </a:xfrm>
            <a:prstGeom prst="round1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SG" sz="1100" b="1">
                  <a:solidFill>
                    <a:srgbClr val="6B7A7A"/>
                  </a:solidFill>
                  <a:latin typeface="Nunito" pitchFamily="2" charset="0"/>
                </a:rPr>
                <a:t>model_v2</a:t>
              </a:r>
              <a:endParaRPr lang="en-SG" sz="1100">
                <a:solidFill>
                  <a:srgbClr val="6B7A7A"/>
                </a:solidFill>
                <a:latin typeface="Nunito" pitchFamily="2" charset="0"/>
              </a:endParaRPr>
            </a:p>
          </p:txBody>
        </p:sp>
        <p:cxnSp>
          <p:nvCxnSpPr>
            <p:cNvPr id="70" name="Straight Arrow Connector 80">
              <a:extLst>
                <a:ext uri="{FF2B5EF4-FFF2-40B4-BE49-F238E27FC236}">
                  <a16:creationId xmlns:a16="http://schemas.microsoft.com/office/drawing/2014/main" id="{AC69CADD-4DFA-F1DD-E853-AF1952E07CF1}"/>
                </a:ext>
              </a:extLst>
            </p:cNvPr>
            <p:cNvCxnSpPr>
              <a:cxnSpLocks/>
              <a:stCxn id="79" idx="2"/>
              <a:endCxn id="127" idx="0"/>
            </p:cNvCxnSpPr>
            <p:nvPr/>
          </p:nvCxnSpPr>
          <p:spPr>
            <a:xfrm rot="16200000" flipH="1">
              <a:off x="14893670" y="5818446"/>
              <a:ext cx="1583009" cy="58318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2E44AFB-9A98-7994-2D48-D964E8FFFE57}"/>
                </a:ext>
              </a:extLst>
            </p:cNvPr>
            <p:cNvSpPr txBox="1"/>
            <p:nvPr/>
          </p:nvSpPr>
          <p:spPr>
            <a:xfrm>
              <a:off x="12533738" y="5402633"/>
              <a:ext cx="10298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200">
                  <a:solidFill>
                    <a:srgbClr val="1C334E"/>
                  </a:solidFill>
                  <a:latin typeface="Nunito" pitchFamily="2" charset="0"/>
                </a:rPr>
                <a:t>output </a:t>
              </a:r>
              <a:r>
                <a:rPr lang="en-SG" sz="1200" b="1">
                  <a:solidFill>
                    <a:srgbClr val="1C334E"/>
                  </a:solidFill>
                  <a:latin typeface="Nunito" pitchFamily="2" charset="0"/>
                </a:rPr>
                <a:t>candidate</a:t>
              </a:r>
              <a:r>
                <a:rPr lang="en-SG" sz="1200">
                  <a:solidFill>
                    <a:srgbClr val="1C334E"/>
                  </a:solidFill>
                  <a:latin typeface="Nunito" pitchFamily="2" charset="0"/>
                </a:rPr>
                <a:t> model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1ED22EF-FD85-FC92-67F3-078672AB2867}"/>
                </a:ext>
              </a:extLst>
            </p:cNvPr>
            <p:cNvSpPr txBox="1"/>
            <p:nvPr/>
          </p:nvSpPr>
          <p:spPr>
            <a:xfrm>
              <a:off x="13868400" y="5390244"/>
              <a:ext cx="10298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SG" sz="1200">
                  <a:solidFill>
                    <a:srgbClr val="1C334E"/>
                  </a:solidFill>
                  <a:latin typeface="Nunito" pitchFamily="2" charset="0"/>
                </a:rPr>
                <a:t>evaluate </a:t>
              </a:r>
              <a:r>
                <a:rPr lang="en-SG" sz="1200" b="1">
                  <a:solidFill>
                    <a:srgbClr val="1C334E"/>
                  </a:solidFill>
                  <a:latin typeface="Nunito" pitchFamily="2" charset="0"/>
                </a:rPr>
                <a:t>candidate</a:t>
              </a:r>
              <a:r>
                <a:rPr lang="en-SG" sz="1200">
                  <a:solidFill>
                    <a:srgbClr val="1C334E"/>
                  </a:solidFill>
                  <a:latin typeface="Nunito" pitchFamily="2" charset="0"/>
                </a:rPr>
                <a:t> model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68AE9856-B4C4-88F7-0F0E-4F21ECDCA7C0}"/>
                </a:ext>
              </a:extLst>
            </p:cNvPr>
            <p:cNvSpPr txBox="1"/>
            <p:nvPr/>
          </p:nvSpPr>
          <p:spPr>
            <a:xfrm>
              <a:off x="15344775" y="5402633"/>
              <a:ext cx="10298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200">
                  <a:solidFill>
                    <a:srgbClr val="1C334E"/>
                  </a:solidFill>
                  <a:latin typeface="Nunito" pitchFamily="2" charset="0"/>
                </a:rPr>
                <a:t>output </a:t>
              </a:r>
              <a:r>
                <a:rPr lang="en-SG" sz="1200" b="1">
                  <a:solidFill>
                    <a:srgbClr val="1C334E"/>
                  </a:solidFill>
                  <a:latin typeface="Nunito" pitchFamily="2" charset="0"/>
                </a:rPr>
                <a:t>promoted</a:t>
              </a:r>
              <a:r>
                <a:rPr lang="en-SG" sz="1200">
                  <a:solidFill>
                    <a:srgbClr val="1C334E"/>
                  </a:solidFill>
                  <a:latin typeface="Nunito" pitchFamily="2" charset="0"/>
                </a:rPr>
                <a:t> model</a:t>
              </a:r>
            </a:p>
          </p:txBody>
        </p:sp>
        <p:cxnSp>
          <p:nvCxnSpPr>
            <p:cNvPr id="74" name="Straight Arrow Connector 80">
              <a:extLst>
                <a:ext uri="{FF2B5EF4-FFF2-40B4-BE49-F238E27FC236}">
                  <a16:creationId xmlns:a16="http://schemas.microsoft.com/office/drawing/2014/main" id="{C67BBA03-E5D6-821D-5FD2-62B8615CB57C}"/>
                </a:ext>
              </a:extLst>
            </p:cNvPr>
            <p:cNvCxnSpPr>
              <a:cxnSpLocks/>
              <a:stCxn id="75" idx="0"/>
              <a:endCxn id="76" idx="2"/>
            </p:cNvCxnSpPr>
            <p:nvPr/>
          </p:nvCxnSpPr>
          <p:spPr>
            <a:xfrm rot="16200000" flipV="1">
              <a:off x="14161766" y="6003152"/>
              <a:ext cx="1624253" cy="25501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AE87602-12D9-5328-E764-7C248C4C1E5E}"/>
                </a:ext>
              </a:extLst>
            </p:cNvPr>
            <p:cNvSpPr/>
            <p:nvPr/>
          </p:nvSpPr>
          <p:spPr>
            <a:xfrm>
              <a:off x="15011400" y="6942787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B74B0C3-821F-ADAC-71A5-AC2CC5E6EB59}"/>
                </a:ext>
              </a:extLst>
            </p:cNvPr>
            <p:cNvSpPr/>
            <p:nvPr/>
          </p:nvSpPr>
          <p:spPr>
            <a:xfrm>
              <a:off x="14756383" y="5138534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FB0C3F3-F61F-241B-F735-8DF6FB90EEC6}"/>
                </a:ext>
              </a:extLst>
            </p:cNvPr>
            <p:cNvSpPr/>
            <p:nvPr/>
          </p:nvSpPr>
          <p:spPr>
            <a:xfrm>
              <a:off x="14434555" y="6931763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CBC73F0-3BFE-53EF-BE2E-5F9B36B0F297}"/>
                </a:ext>
              </a:extLst>
            </p:cNvPr>
            <p:cNvSpPr/>
            <p:nvPr/>
          </p:nvSpPr>
          <p:spPr>
            <a:xfrm>
              <a:off x="12495617" y="5138534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24B231A-2F10-6941-A7FB-A16F01F49CC1}"/>
                </a:ext>
              </a:extLst>
            </p:cNvPr>
            <p:cNvSpPr/>
            <p:nvPr/>
          </p:nvSpPr>
          <p:spPr>
            <a:xfrm>
              <a:off x="15303583" y="5138534"/>
              <a:ext cx="180000" cy="18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>
                <a:latin typeface="Nunito" pitchFamily="2" charset="0"/>
              </a:endParaRPr>
            </a:p>
          </p:txBody>
        </p:sp>
        <p:sp>
          <p:nvSpPr>
            <p:cNvPr id="80" name="Rectangle: Folded Corner 79">
              <a:extLst>
                <a:ext uri="{FF2B5EF4-FFF2-40B4-BE49-F238E27FC236}">
                  <a16:creationId xmlns:a16="http://schemas.microsoft.com/office/drawing/2014/main" id="{63B4777E-C2D7-D185-8964-72BB2E301FAF}"/>
                </a:ext>
              </a:extLst>
            </p:cNvPr>
            <p:cNvSpPr/>
            <p:nvPr/>
          </p:nvSpPr>
          <p:spPr>
            <a:xfrm>
              <a:off x="11585779" y="324738"/>
              <a:ext cx="2664000" cy="5008278"/>
            </a:xfrm>
            <a:prstGeom prst="foldedCorner">
              <a:avLst/>
            </a:prstGeom>
            <a:solidFill>
              <a:srgbClr val="F2F2F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algn="ctr"/>
              <a:r>
                <a:rPr lang="en-SG" sz="1600" b="1">
                  <a:solidFill>
                    <a:srgbClr val="6B7A7A"/>
                  </a:solidFill>
                  <a:latin typeface="Nunito" pitchFamily="2" charset="0"/>
                </a:rPr>
                <a:t>train.py</a:t>
              </a:r>
            </a:p>
            <a:p>
              <a:pPr algn="ctr"/>
              <a:endParaRPr lang="en-SG" sz="1600" b="1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200">
                  <a:solidFill>
                    <a:srgbClr val="6B7A7A"/>
                  </a:solidFill>
                  <a:latin typeface="Nunito" pitchFamily="2" charset="0"/>
                </a:rPr>
                <a:t>Splits data temporally (Train/Val/Test/OOT)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SG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200">
                  <a:solidFill>
                    <a:srgbClr val="6B7A7A"/>
                  </a:solidFill>
                  <a:latin typeface="Nunito" pitchFamily="2" charset="0"/>
                </a:rPr>
                <a:t>Applies SMOTE on training set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SG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200">
                  <a:solidFill>
                    <a:srgbClr val="6B7A7A"/>
                  </a:solidFill>
                  <a:latin typeface="Nunito" pitchFamily="2" charset="0"/>
                </a:rPr>
                <a:t>Runs 5-fold time-series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SG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200">
                  <a:solidFill>
                    <a:srgbClr val="6B7A7A"/>
                  </a:solidFill>
                  <a:latin typeface="Nunito" pitchFamily="2" charset="0"/>
                </a:rPr>
                <a:t>CV Trains </a:t>
              </a:r>
              <a:r>
                <a:rPr lang="en-SG" sz="1200" err="1">
                  <a:solidFill>
                    <a:srgbClr val="6B7A7A"/>
                  </a:solidFill>
                  <a:latin typeface="Nunito" pitchFamily="2" charset="0"/>
                </a:rPr>
                <a:t>XGBoost</a:t>
              </a:r>
              <a:r>
                <a:rPr lang="en-SG" sz="1200">
                  <a:solidFill>
                    <a:srgbClr val="6B7A7A"/>
                  </a:solidFill>
                  <a:latin typeface="Nunito" pitchFamily="2" charset="0"/>
                </a:rPr>
                <a:t> and </a:t>
              </a:r>
              <a:r>
                <a:rPr lang="en-SG" sz="1200" err="1">
                  <a:solidFill>
                    <a:srgbClr val="6B7A7A"/>
                  </a:solidFill>
                  <a:latin typeface="Nunito" pitchFamily="2" charset="0"/>
                </a:rPr>
                <a:t>LightGBM</a:t>
              </a:r>
              <a:endParaRPr lang="en-SG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SG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200" err="1">
                  <a:solidFill>
                    <a:srgbClr val="6B7A7A"/>
                  </a:solidFill>
                  <a:latin typeface="Nunito" pitchFamily="2" charset="0"/>
                </a:rPr>
                <a:t>Optuna</a:t>
              </a:r>
              <a:r>
                <a:rPr lang="en-SG" sz="1200">
                  <a:solidFill>
                    <a:srgbClr val="6B7A7A"/>
                  </a:solidFill>
                  <a:latin typeface="Nunito" pitchFamily="2" charset="0"/>
                </a:rPr>
                <a:t> tunes hyperparameters against validation set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SG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SG" sz="1200">
                  <a:solidFill>
                    <a:srgbClr val="6B7A7A"/>
                  </a:solidFill>
                  <a:latin typeface="Nunito" pitchFamily="2" charset="0"/>
                </a:rPr>
                <a:t>All runs logged to </a:t>
              </a:r>
              <a:r>
                <a:rPr lang="en-SG" sz="1200" err="1">
                  <a:solidFill>
                    <a:srgbClr val="6B7A7A"/>
                  </a:solidFill>
                  <a:latin typeface="Nunito" pitchFamily="2" charset="0"/>
                </a:rPr>
                <a:t>MLflow</a:t>
              </a:r>
              <a:endParaRPr lang="en-SG" sz="1600">
                <a:solidFill>
                  <a:srgbClr val="6B7A7A"/>
                </a:solidFill>
                <a:latin typeface="Nunito" pitchFamily="2" charset="0"/>
              </a:endParaRPr>
            </a:p>
          </p:txBody>
        </p:sp>
        <p:sp>
          <p:nvSpPr>
            <p:cNvPr id="81" name="Rectangle: Folded Corner 80">
              <a:extLst>
                <a:ext uri="{FF2B5EF4-FFF2-40B4-BE49-F238E27FC236}">
                  <a16:creationId xmlns:a16="http://schemas.microsoft.com/office/drawing/2014/main" id="{D59189BE-9C81-03D3-E0C3-F8967F148822}"/>
                </a:ext>
              </a:extLst>
            </p:cNvPr>
            <p:cNvSpPr/>
            <p:nvPr/>
          </p:nvSpPr>
          <p:spPr>
            <a:xfrm>
              <a:off x="14404800" y="324737"/>
              <a:ext cx="2664000" cy="5008277"/>
            </a:xfrm>
            <a:prstGeom prst="foldedCorner">
              <a:avLst/>
            </a:prstGeom>
            <a:solidFill>
              <a:srgbClr val="F2F2F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algn="ctr"/>
              <a:r>
                <a:rPr lang="en-SG" sz="1600" b="1">
                  <a:solidFill>
                    <a:srgbClr val="6B7A7A"/>
                  </a:solidFill>
                  <a:latin typeface="Nunito" pitchFamily="2" charset="0"/>
                </a:rPr>
                <a:t>evaluate.py</a:t>
              </a:r>
            </a:p>
            <a:p>
              <a:pPr algn="ctr"/>
              <a:endParaRPr lang="en-SG" sz="1600" b="1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Test set metrics such as</a:t>
              </a:r>
            </a:p>
            <a:p>
              <a:pPr marL="363538" lvl="1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Precision, Recall, F1, AUC-ROC</a:t>
              </a:r>
            </a:p>
            <a:p>
              <a:pPr marL="363538" lvl="1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SHAP values generated</a:t>
              </a:r>
            </a:p>
            <a:p>
              <a:pPr marL="363538" lvl="1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Spatial accuracy check run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Evaluate against OOT</a:t>
              </a:r>
            </a:p>
            <a:p>
              <a:pPr marL="363538" lvl="1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PSI — measures if feature distributions have shifted vs training</a:t>
              </a:r>
            </a:p>
            <a:p>
              <a:pPr marL="363538" lvl="1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CSI — measures if individual feature contributions have shifted</a:t>
              </a:r>
            </a:p>
            <a:p>
              <a:pPr marL="363538" lvl="1" indent="-171450">
                <a:buFont typeface="Arial" panose="020B0604020202020204" pitchFamily="34" charset="0"/>
                <a:buChar char="•"/>
              </a:pPr>
              <a:endParaRPr lang="en-US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Promotion gate</a:t>
              </a:r>
            </a:p>
            <a:p>
              <a:pPr marL="363538" lvl="1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Recall &gt; 0.70 on test set</a:t>
              </a:r>
            </a:p>
            <a:p>
              <a:pPr marL="363538" lvl="1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OOT perf within acceptable degradation over time (OOT drop &lt; 10pp)</a:t>
              </a:r>
            </a:p>
            <a:p>
              <a:pPr marL="363538" lvl="1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Register as Production in </a:t>
              </a:r>
              <a:r>
                <a:rPr lang="en-US" sz="1200" err="1">
                  <a:solidFill>
                    <a:srgbClr val="6B7A7A"/>
                  </a:solidFill>
                  <a:latin typeface="Nunito" pitchFamily="2" charset="0"/>
                </a:rPr>
                <a:t>Mlflow</a:t>
              </a: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 if </a:t>
              </a:r>
              <a:r>
                <a:rPr lang="en-US" sz="1200" b="1">
                  <a:solidFill>
                    <a:srgbClr val="6B7A7A"/>
                  </a:solidFill>
                  <a:latin typeface="Nunito" pitchFamily="2" charset="0"/>
                </a:rPr>
                <a:t>PASS</a:t>
              </a:r>
            </a:p>
          </p:txBody>
        </p:sp>
        <p:sp>
          <p:nvSpPr>
            <p:cNvPr id="82" name="Rectangle: Single Corner Rounded 81">
              <a:extLst>
                <a:ext uri="{FF2B5EF4-FFF2-40B4-BE49-F238E27FC236}">
                  <a16:creationId xmlns:a16="http://schemas.microsoft.com/office/drawing/2014/main" id="{FFC347D5-E171-6094-86FA-1AD0C1AF8319}"/>
                </a:ext>
              </a:extLst>
            </p:cNvPr>
            <p:cNvSpPr/>
            <p:nvPr/>
          </p:nvSpPr>
          <p:spPr>
            <a:xfrm>
              <a:off x="14389183" y="6896100"/>
              <a:ext cx="914400" cy="814481"/>
            </a:xfrm>
            <a:prstGeom prst="round1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SG" sz="1100" b="1">
                  <a:solidFill>
                    <a:srgbClr val="6B7A7A"/>
                  </a:solidFill>
                  <a:latin typeface="Nunito" pitchFamily="2" charset="0"/>
                </a:rPr>
                <a:t>model_v3</a:t>
              </a:r>
              <a:endParaRPr lang="en-SG" sz="1100">
                <a:solidFill>
                  <a:srgbClr val="6B7A7A"/>
                </a:solidFill>
                <a:latin typeface="Nunito" pitchFamily="2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4367C0B-9920-D918-A793-EC96EBC32E62}"/>
                </a:ext>
              </a:extLst>
            </p:cNvPr>
            <p:cNvSpPr txBox="1"/>
            <p:nvPr/>
          </p:nvSpPr>
          <p:spPr>
            <a:xfrm>
              <a:off x="14423653" y="7429501"/>
              <a:ext cx="84545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Candidate</a:t>
              </a:r>
            </a:p>
          </p:txBody>
        </p:sp>
        <p:sp>
          <p:nvSpPr>
            <p:cNvPr id="84" name="Rounded Rectangle 45">
              <a:extLst>
                <a:ext uri="{FF2B5EF4-FFF2-40B4-BE49-F238E27FC236}">
                  <a16:creationId xmlns:a16="http://schemas.microsoft.com/office/drawing/2014/main" id="{4F131408-948E-9DD0-86DE-DA87C7B56F00}"/>
                </a:ext>
              </a:extLst>
            </p:cNvPr>
            <p:cNvSpPr/>
            <p:nvPr/>
          </p:nvSpPr>
          <p:spPr>
            <a:xfrm>
              <a:off x="8103960" y="6734970"/>
              <a:ext cx="1421040" cy="629773"/>
            </a:xfrm>
            <a:prstGeom prst="roundRect">
              <a:avLst>
                <a:gd name="adj" fmla="val 9483"/>
              </a:avLst>
            </a:prstGeom>
            <a:solidFill>
              <a:srgbClr val="FFFFFF"/>
            </a:solidFill>
            <a:ln w="6350">
              <a:solidFill>
                <a:srgbClr val="1B43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1B4332"/>
                  </a:solidFill>
                  <a:latin typeface="Nunito" pitchFamily="2" charset="0"/>
                </a:rPr>
                <a:t>Reads </a:t>
              </a:r>
              <a:r>
                <a:rPr lang="en-US" sz="1000" b="1" err="1">
                  <a:solidFill>
                    <a:srgbClr val="1B4332"/>
                  </a:solidFill>
                  <a:latin typeface="Nunito" pitchFamily="2" charset="0"/>
                </a:rPr>
                <a:t>subzone_features</a:t>
              </a:r>
              <a:endParaRPr lang="en-US" sz="1000" b="1">
                <a:solidFill>
                  <a:srgbClr val="1B4332"/>
                </a:solidFill>
                <a:latin typeface="Nunito" pitchFamily="2" charset="0"/>
              </a:endParaRPr>
            </a:p>
            <a:p>
              <a:pPr algn="ctr"/>
              <a:r>
                <a:rPr lang="en-US" sz="1000" i="1">
                  <a:solidFill>
                    <a:srgbClr val="6B7A7A"/>
                  </a:solidFill>
                  <a:latin typeface="Nunito" pitchFamily="2" charset="0"/>
                </a:rPr>
                <a:t>(all 330 subzones)</a:t>
              </a:r>
            </a:p>
          </p:txBody>
        </p:sp>
        <p:cxnSp>
          <p:nvCxnSpPr>
            <p:cNvPr id="85" name="Straight Arrow Connector 80">
              <a:extLst>
                <a:ext uri="{FF2B5EF4-FFF2-40B4-BE49-F238E27FC236}">
                  <a16:creationId xmlns:a16="http://schemas.microsoft.com/office/drawing/2014/main" id="{B0285845-1496-CC8F-5F36-117DDD331C70}"/>
                </a:ext>
              </a:extLst>
            </p:cNvPr>
            <p:cNvCxnSpPr>
              <a:cxnSpLocks/>
              <a:stCxn id="11" idx="3"/>
              <a:endCxn id="84" idx="0"/>
            </p:cNvCxnSpPr>
            <p:nvPr/>
          </p:nvCxnSpPr>
          <p:spPr>
            <a:xfrm flipH="1">
              <a:off x="8814480" y="3185168"/>
              <a:ext cx="1934972" cy="3549802"/>
            </a:xfrm>
            <a:prstGeom prst="bentConnector4">
              <a:avLst>
                <a:gd name="adj1" fmla="val -36755"/>
                <a:gd name="adj2" fmla="val 95631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0">
              <a:extLst>
                <a:ext uri="{FF2B5EF4-FFF2-40B4-BE49-F238E27FC236}">
                  <a16:creationId xmlns:a16="http://schemas.microsoft.com/office/drawing/2014/main" id="{D120BB1A-77DA-6DE4-E135-0129A492533D}"/>
                </a:ext>
              </a:extLst>
            </p:cNvPr>
            <p:cNvCxnSpPr>
              <a:cxnSpLocks/>
              <a:stCxn id="122" idx="1"/>
              <a:endCxn id="84" idx="3"/>
            </p:cNvCxnSpPr>
            <p:nvPr/>
          </p:nvCxnSpPr>
          <p:spPr>
            <a:xfrm rot="10800000">
              <a:off x="9525001" y="7049858"/>
              <a:ext cx="400097" cy="44481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AA4F2827-956C-46C6-D33F-3C8910A7DF6A}"/>
                </a:ext>
              </a:extLst>
            </p:cNvPr>
            <p:cNvCxnSpPr>
              <a:cxnSpLocks/>
              <a:stCxn id="122" idx="3"/>
              <a:endCxn id="8" idx="2"/>
            </p:cNvCxnSpPr>
            <p:nvPr/>
          </p:nvCxnSpPr>
          <p:spPr>
            <a:xfrm>
              <a:off x="11346137" y="7494676"/>
              <a:ext cx="4299163" cy="198768"/>
            </a:xfrm>
            <a:prstGeom prst="bentConnector4">
              <a:avLst>
                <a:gd name="adj1" fmla="val 4937"/>
                <a:gd name="adj2" fmla="val 869917"/>
              </a:avLst>
            </a:prstGeom>
            <a:ln>
              <a:solidFill>
                <a:srgbClr val="1C33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ounded Rectangle 45">
              <a:extLst>
                <a:ext uri="{FF2B5EF4-FFF2-40B4-BE49-F238E27FC236}">
                  <a16:creationId xmlns:a16="http://schemas.microsoft.com/office/drawing/2014/main" id="{15CC74F5-434C-938A-C80D-5840E126AB48}"/>
                </a:ext>
              </a:extLst>
            </p:cNvPr>
            <p:cNvSpPr/>
            <p:nvPr/>
          </p:nvSpPr>
          <p:spPr>
            <a:xfrm>
              <a:off x="8103960" y="7677526"/>
              <a:ext cx="1421040" cy="629773"/>
            </a:xfrm>
            <a:prstGeom prst="roundRect">
              <a:avLst>
                <a:gd name="adj" fmla="val 9483"/>
              </a:avLst>
            </a:prstGeom>
            <a:solidFill>
              <a:srgbClr val="FFFFFF"/>
            </a:solidFill>
            <a:ln w="6350">
              <a:solidFill>
                <a:srgbClr val="1B43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1B4332"/>
                  </a:solidFill>
                  <a:latin typeface="Nunito" pitchFamily="2" charset="0"/>
                </a:rPr>
                <a:t>Model loaded from </a:t>
              </a:r>
              <a:r>
                <a:rPr lang="en-US" sz="1000" b="1" err="1">
                  <a:solidFill>
                    <a:srgbClr val="1B4332"/>
                  </a:solidFill>
                  <a:latin typeface="Nunito" pitchFamily="2" charset="0"/>
                </a:rPr>
                <a:t>MLflow</a:t>
              </a:r>
              <a:endParaRPr lang="en-US" sz="1000" i="1">
                <a:solidFill>
                  <a:srgbClr val="6B7A7A"/>
                </a:solidFill>
                <a:latin typeface="Nunito" pitchFamily="2" charset="0"/>
              </a:endParaRPr>
            </a:p>
          </p:txBody>
        </p:sp>
        <p:cxnSp>
          <p:nvCxnSpPr>
            <p:cNvPr id="89" name="Straight Arrow Connector 80">
              <a:extLst>
                <a:ext uri="{FF2B5EF4-FFF2-40B4-BE49-F238E27FC236}">
                  <a16:creationId xmlns:a16="http://schemas.microsoft.com/office/drawing/2014/main" id="{DEAF62DC-0C85-6814-8049-C680B5C977CB}"/>
                </a:ext>
              </a:extLst>
            </p:cNvPr>
            <p:cNvCxnSpPr>
              <a:cxnSpLocks/>
              <a:stCxn id="122" idx="1"/>
              <a:endCxn id="88" idx="3"/>
            </p:cNvCxnSpPr>
            <p:nvPr/>
          </p:nvCxnSpPr>
          <p:spPr>
            <a:xfrm rot="10800000" flipV="1">
              <a:off x="9525001" y="7494675"/>
              <a:ext cx="400097" cy="49773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0">
              <a:extLst>
                <a:ext uri="{FF2B5EF4-FFF2-40B4-BE49-F238E27FC236}">
                  <a16:creationId xmlns:a16="http://schemas.microsoft.com/office/drawing/2014/main" id="{74E5DA15-5CFA-EC46-F900-4AEED1F703BB}"/>
                </a:ext>
              </a:extLst>
            </p:cNvPr>
            <p:cNvCxnSpPr>
              <a:cxnSpLocks/>
              <a:stCxn id="84" idx="1"/>
              <a:endCxn id="92" idx="4"/>
            </p:cNvCxnSpPr>
            <p:nvPr/>
          </p:nvCxnSpPr>
          <p:spPr>
            <a:xfrm rot="10800000">
              <a:off x="6879192" y="5756449"/>
              <a:ext cx="1224769" cy="129340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80">
              <a:extLst>
                <a:ext uri="{FF2B5EF4-FFF2-40B4-BE49-F238E27FC236}">
                  <a16:creationId xmlns:a16="http://schemas.microsoft.com/office/drawing/2014/main" id="{5228A89F-B7D2-CFAB-1174-3D64FD4D155E}"/>
                </a:ext>
              </a:extLst>
            </p:cNvPr>
            <p:cNvCxnSpPr>
              <a:cxnSpLocks/>
              <a:stCxn id="88" idx="1"/>
              <a:endCxn id="92" idx="4"/>
            </p:cNvCxnSpPr>
            <p:nvPr/>
          </p:nvCxnSpPr>
          <p:spPr>
            <a:xfrm rot="10800000">
              <a:off x="6879192" y="5756449"/>
              <a:ext cx="1224769" cy="2235964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Cylinder 91">
              <a:extLst>
                <a:ext uri="{FF2B5EF4-FFF2-40B4-BE49-F238E27FC236}">
                  <a16:creationId xmlns:a16="http://schemas.microsoft.com/office/drawing/2014/main" id="{A01363D9-C992-9D62-A241-AF88FB837957}"/>
                </a:ext>
              </a:extLst>
            </p:cNvPr>
            <p:cNvSpPr/>
            <p:nvPr/>
          </p:nvSpPr>
          <p:spPr>
            <a:xfrm>
              <a:off x="5799191" y="5378798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2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risk_tier</a:t>
              </a:r>
              <a:endParaRPr lang="en-SG" sz="120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53EFA60-D9C5-1892-A5B3-D7740440C5B8}"/>
                </a:ext>
              </a:extLst>
            </p:cNvPr>
            <p:cNvSpPr txBox="1"/>
            <p:nvPr/>
          </p:nvSpPr>
          <p:spPr>
            <a:xfrm>
              <a:off x="5982132" y="5351158"/>
              <a:ext cx="71205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A2FA8DE-4606-FB66-08C3-1A1E6302EC33}"/>
                </a:ext>
              </a:extLst>
            </p:cNvPr>
            <p:cNvSpPr txBox="1"/>
            <p:nvPr/>
          </p:nvSpPr>
          <p:spPr>
            <a:xfrm>
              <a:off x="7467600" y="7154213"/>
              <a:ext cx="7952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200">
                  <a:solidFill>
                    <a:srgbClr val="1C334E"/>
                  </a:solidFill>
                  <a:latin typeface="Nunito" pitchFamily="2" charset="0"/>
                </a:rPr>
                <a:t>scores and output</a:t>
              </a:r>
            </a:p>
          </p:txBody>
        </p:sp>
        <p:pic>
          <p:nvPicPr>
            <p:cNvPr id="95" name="Picture 94" descr="Dashboard Icon PNG Images, Vectors Free Download - Pngtree">
              <a:extLst>
                <a:ext uri="{FF2B5EF4-FFF2-40B4-BE49-F238E27FC236}">
                  <a16:creationId xmlns:a16="http://schemas.microsoft.com/office/drawing/2014/main" id="{16D7D662-307F-8559-4B72-C9E200AE8E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247" t="15601" r="7810" b="14900"/>
            <a:stretch>
              <a:fillRect/>
            </a:stretch>
          </p:blipFill>
          <p:spPr>
            <a:xfrm>
              <a:off x="5709413" y="6942670"/>
              <a:ext cx="1235273" cy="1010678"/>
            </a:xfrm>
            <a:prstGeom prst="rect">
              <a:avLst/>
            </a:prstGeom>
          </p:spPr>
        </p:pic>
        <p:cxnSp>
          <p:nvCxnSpPr>
            <p:cNvPr id="96" name="Straight Arrow Connector 80">
              <a:extLst>
                <a:ext uri="{FF2B5EF4-FFF2-40B4-BE49-F238E27FC236}">
                  <a16:creationId xmlns:a16="http://schemas.microsoft.com/office/drawing/2014/main" id="{D7920D75-5006-F4EC-8BED-2E7ABF66E714}"/>
                </a:ext>
              </a:extLst>
            </p:cNvPr>
            <p:cNvCxnSpPr>
              <a:cxnSpLocks/>
              <a:stCxn id="92" idx="3"/>
              <a:endCxn id="95" idx="0"/>
            </p:cNvCxnSpPr>
            <p:nvPr/>
          </p:nvCxnSpPr>
          <p:spPr>
            <a:xfrm rot="5400000">
              <a:off x="5928836" y="6532315"/>
              <a:ext cx="808570" cy="1214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AD2B118-6905-0B5B-32D6-6349B3842BCB}"/>
                </a:ext>
              </a:extLst>
            </p:cNvPr>
            <p:cNvSpPr/>
            <p:nvPr/>
          </p:nvSpPr>
          <p:spPr>
            <a:xfrm>
              <a:off x="6052763" y="6290491"/>
              <a:ext cx="540000" cy="384280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SG" sz="1000" b="1">
                  <a:solidFill>
                    <a:srgbClr val="6B7A7A"/>
                  </a:solidFill>
                  <a:latin typeface="Nunito" pitchFamily="2" charset="0"/>
                </a:rPr>
                <a:t>API</a:t>
              </a:r>
              <a:endParaRPr lang="en-US" sz="80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</p:txBody>
        </p:sp>
        <p:pic>
          <p:nvPicPr>
            <p:cNvPr id="98" name="Picture 97" descr="Sign Up for Banking Account Alerts | Community First Credit Union">
              <a:extLst>
                <a:ext uri="{FF2B5EF4-FFF2-40B4-BE49-F238E27FC236}">
                  <a16:creationId xmlns:a16="http://schemas.microsoft.com/office/drawing/2014/main" id="{4109A71D-EB5C-4999-C05E-D6D6AA890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21261" t="10517" r="24760" b="12979"/>
            <a:stretch>
              <a:fillRect/>
            </a:stretch>
          </p:blipFill>
          <p:spPr>
            <a:xfrm>
              <a:off x="3440616" y="7031059"/>
              <a:ext cx="841457" cy="795055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A34D655-A2CF-9961-0BAA-6B3166BFEB87}"/>
                </a:ext>
              </a:extLst>
            </p:cNvPr>
            <p:cNvSpPr txBox="1"/>
            <p:nvPr/>
          </p:nvSpPr>
          <p:spPr>
            <a:xfrm>
              <a:off x="5801359" y="7968213"/>
              <a:ext cx="10916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200" b="1">
                  <a:solidFill>
                    <a:srgbClr val="1C334E"/>
                  </a:solidFill>
                  <a:latin typeface="Nunito" pitchFamily="2" charset="0"/>
                </a:rPr>
                <a:t>Dashboard</a:t>
              </a:r>
            </a:p>
          </p:txBody>
        </p:sp>
        <p:sp>
          <p:nvSpPr>
            <p:cNvPr id="100" name="Rounded Rectangle 45">
              <a:extLst>
                <a:ext uri="{FF2B5EF4-FFF2-40B4-BE49-F238E27FC236}">
                  <a16:creationId xmlns:a16="http://schemas.microsoft.com/office/drawing/2014/main" id="{2ECA1612-7DE5-CC2D-C495-B64309ADF5CC}"/>
                </a:ext>
              </a:extLst>
            </p:cNvPr>
            <p:cNvSpPr/>
            <p:nvPr/>
          </p:nvSpPr>
          <p:spPr>
            <a:xfrm>
              <a:off x="9906000" y="9059213"/>
              <a:ext cx="1421040" cy="629773"/>
            </a:xfrm>
            <a:prstGeom prst="roundRect">
              <a:avLst>
                <a:gd name="adj" fmla="val 9483"/>
              </a:avLst>
            </a:prstGeom>
            <a:solidFill>
              <a:srgbClr val="FFFFFF"/>
            </a:solidFill>
            <a:ln w="6350">
              <a:solidFill>
                <a:srgbClr val="1B43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1B4332"/>
                  </a:solidFill>
                  <a:latin typeface="Nunito" pitchFamily="2" charset="0"/>
                </a:rPr>
                <a:t>Model loaded at start-up and stored in memory.</a:t>
              </a:r>
              <a:endParaRPr lang="en-US" sz="1000" i="1">
                <a:solidFill>
                  <a:srgbClr val="6B7A7A"/>
                </a:solidFill>
                <a:latin typeface="Nunito" pitchFamily="2" charset="0"/>
              </a:endParaRPr>
            </a:p>
          </p:txBody>
        </p:sp>
        <p:cxnSp>
          <p:nvCxnSpPr>
            <p:cNvPr id="101" name="Connector: Elbow 100">
              <a:extLst>
                <a:ext uri="{FF2B5EF4-FFF2-40B4-BE49-F238E27FC236}">
                  <a16:creationId xmlns:a16="http://schemas.microsoft.com/office/drawing/2014/main" id="{9E9725D5-DFA9-8B68-2B63-DBA7CB7D9FA1}"/>
                </a:ext>
              </a:extLst>
            </p:cNvPr>
            <p:cNvCxnSpPr>
              <a:cxnSpLocks/>
              <a:stCxn id="100" idx="3"/>
              <a:endCxn id="7" idx="2"/>
            </p:cNvCxnSpPr>
            <p:nvPr/>
          </p:nvCxnSpPr>
          <p:spPr>
            <a:xfrm flipV="1">
              <a:off x="11327040" y="7710582"/>
              <a:ext cx="4991692" cy="1663518"/>
            </a:xfrm>
            <a:prstGeom prst="bentConnector2">
              <a:avLst/>
            </a:prstGeom>
            <a:ln>
              <a:solidFill>
                <a:srgbClr val="1C334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ounded Rectangle 45">
              <a:extLst>
                <a:ext uri="{FF2B5EF4-FFF2-40B4-BE49-F238E27FC236}">
                  <a16:creationId xmlns:a16="http://schemas.microsoft.com/office/drawing/2014/main" id="{15B19F2F-3577-877A-0321-ACF7911D97BF}"/>
                </a:ext>
              </a:extLst>
            </p:cNvPr>
            <p:cNvSpPr/>
            <p:nvPr/>
          </p:nvSpPr>
          <p:spPr>
            <a:xfrm>
              <a:off x="8096377" y="9059213"/>
              <a:ext cx="1421040" cy="629773"/>
            </a:xfrm>
            <a:prstGeom prst="roundRect">
              <a:avLst>
                <a:gd name="adj" fmla="val 9483"/>
              </a:avLst>
            </a:prstGeom>
            <a:solidFill>
              <a:srgbClr val="FFFFFF"/>
            </a:solidFill>
            <a:ln w="6350">
              <a:solidFill>
                <a:srgbClr val="1B43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1B4332"/>
                  </a:solidFill>
                  <a:latin typeface="Nunito" pitchFamily="2" charset="0"/>
                </a:rPr>
                <a:t>Reads both </a:t>
              </a:r>
              <a:r>
                <a:rPr lang="en-US" sz="1000" b="1" err="1">
                  <a:solidFill>
                    <a:srgbClr val="1B4332"/>
                  </a:solidFill>
                  <a:latin typeface="Nunito" pitchFamily="2" charset="0"/>
                </a:rPr>
                <a:t>subzone_features</a:t>
              </a:r>
              <a:endParaRPr lang="en-US" sz="1000" b="1">
                <a:solidFill>
                  <a:srgbClr val="1B4332"/>
                </a:solidFill>
                <a:latin typeface="Nunito" pitchFamily="2" charset="0"/>
              </a:endParaRPr>
            </a:p>
            <a:p>
              <a:pPr algn="ctr"/>
              <a:r>
                <a:rPr lang="en-US" sz="1000" b="1">
                  <a:solidFill>
                    <a:srgbClr val="1B4332"/>
                  </a:solidFill>
                  <a:latin typeface="Nunito" pitchFamily="2" charset="0"/>
                </a:rPr>
                <a:t>and REDIS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EE49CD7D-D317-6414-51F0-F128D09A38DF}"/>
                </a:ext>
              </a:extLst>
            </p:cNvPr>
            <p:cNvSpPr txBox="1"/>
            <p:nvPr/>
          </p:nvSpPr>
          <p:spPr>
            <a:xfrm>
              <a:off x="3324859" y="7838301"/>
              <a:ext cx="10916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200" b="1">
                  <a:solidFill>
                    <a:srgbClr val="1C334E"/>
                  </a:solidFill>
                  <a:latin typeface="Nunito" pitchFamily="2" charset="0"/>
                </a:rPr>
                <a:t>Mobile Alert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76A5D64-EE30-A5F7-EE00-355D73A809D7}"/>
                </a:ext>
              </a:extLst>
            </p:cNvPr>
            <p:cNvSpPr txBox="1"/>
            <p:nvPr/>
          </p:nvSpPr>
          <p:spPr>
            <a:xfrm>
              <a:off x="49079" y="4612889"/>
              <a:ext cx="155112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SG" sz="12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Operational Data</a:t>
              </a:r>
            </a:p>
          </p:txBody>
        </p:sp>
        <p:sp>
          <p:nvSpPr>
            <p:cNvPr id="105" name="Cylinder 104">
              <a:extLst>
                <a:ext uri="{FF2B5EF4-FFF2-40B4-BE49-F238E27FC236}">
                  <a16:creationId xmlns:a16="http://schemas.microsoft.com/office/drawing/2014/main" id="{09C2E9D7-B10E-B111-C1A0-D4F42169C257}"/>
                </a:ext>
              </a:extLst>
            </p:cNvPr>
            <p:cNvSpPr/>
            <p:nvPr/>
          </p:nvSpPr>
          <p:spPr>
            <a:xfrm>
              <a:off x="990600" y="5371001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confirmed</a:t>
              </a:r>
            </a:p>
            <a:p>
              <a:pPr algn="ctr"/>
              <a:r>
                <a:rPr lang="en-SG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cases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639D274-488D-92DC-81DA-63E00B739086}"/>
                </a:ext>
              </a:extLst>
            </p:cNvPr>
            <p:cNvSpPr txBox="1"/>
            <p:nvPr/>
          </p:nvSpPr>
          <p:spPr>
            <a:xfrm>
              <a:off x="1175080" y="5352656"/>
              <a:ext cx="71205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107" name="Cylinder 106">
              <a:extLst>
                <a:ext uri="{FF2B5EF4-FFF2-40B4-BE49-F238E27FC236}">
                  <a16:creationId xmlns:a16="http://schemas.microsoft.com/office/drawing/2014/main" id="{734D2B0C-72EA-B3E3-C380-25A705BBF5C2}"/>
                </a:ext>
              </a:extLst>
            </p:cNvPr>
            <p:cNvSpPr/>
            <p:nvPr/>
          </p:nvSpPr>
          <p:spPr>
            <a:xfrm>
              <a:off x="3352800" y="5338298"/>
              <a:ext cx="1080000" cy="755302"/>
            </a:xfrm>
            <a:prstGeom prst="can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vulnerability</a:t>
              </a:r>
            </a:p>
            <a:p>
              <a:pPr algn="ctr"/>
              <a:r>
                <a:rPr lang="en-SG"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alerts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52998F2-2489-5AEA-7218-064C3C544448}"/>
                </a:ext>
              </a:extLst>
            </p:cNvPr>
            <p:cNvSpPr txBox="1"/>
            <p:nvPr/>
          </p:nvSpPr>
          <p:spPr>
            <a:xfrm>
              <a:off x="3536773" y="5325818"/>
              <a:ext cx="71205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G" sz="1000" b="1">
                  <a:solidFill>
                    <a:srgbClr val="1C334E"/>
                  </a:solidFill>
                  <a:latin typeface="Nunito" pitchFamily="2" charset="0"/>
                </a:rPr>
                <a:t>Postgres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F641434-605F-BFEF-D132-CC5205B5DDB7}"/>
                </a:ext>
              </a:extLst>
            </p:cNvPr>
            <p:cNvSpPr txBox="1"/>
            <p:nvPr/>
          </p:nvSpPr>
          <p:spPr>
            <a:xfrm>
              <a:off x="-43911" y="7523704"/>
              <a:ext cx="10345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200" b="1">
                  <a:solidFill>
                    <a:srgbClr val="1C334E"/>
                  </a:solidFill>
                  <a:latin typeface="Nunito" pitchFamily="2" charset="0"/>
                </a:rPr>
                <a:t>Submission from Hospitals</a:t>
              </a:r>
            </a:p>
          </p:txBody>
        </p:sp>
        <p:sp>
          <p:nvSpPr>
            <p:cNvPr id="110" name="Flowchart: Document 109">
              <a:extLst>
                <a:ext uri="{FF2B5EF4-FFF2-40B4-BE49-F238E27FC236}">
                  <a16:creationId xmlns:a16="http://schemas.microsoft.com/office/drawing/2014/main" id="{4D6712AE-6ACC-F8A1-874F-94D17D1B9A60}"/>
                </a:ext>
              </a:extLst>
            </p:cNvPr>
            <p:cNvSpPr/>
            <p:nvPr/>
          </p:nvSpPr>
          <p:spPr>
            <a:xfrm>
              <a:off x="55665" y="6845547"/>
              <a:ext cx="844355" cy="685049"/>
            </a:xfrm>
            <a:prstGeom prst="flowChartDocumen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confirmed</a:t>
              </a:r>
            </a:p>
            <a:p>
              <a:pPr algn="ctr"/>
              <a:r>
                <a:rPr lang="en-SG" sz="1050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  <a:cs typeface="Arial" panose="020B0604020202020204" pitchFamily="34" charset="0"/>
                </a:rPr>
                <a:t>cases</a:t>
              </a:r>
            </a:p>
          </p:txBody>
        </p:sp>
        <p:cxnSp>
          <p:nvCxnSpPr>
            <p:cNvPr id="111" name="Straight Arrow Connector 80">
              <a:extLst>
                <a:ext uri="{FF2B5EF4-FFF2-40B4-BE49-F238E27FC236}">
                  <a16:creationId xmlns:a16="http://schemas.microsoft.com/office/drawing/2014/main" id="{54EEB722-D28A-B691-FF2C-30ADD5969308}"/>
                </a:ext>
              </a:extLst>
            </p:cNvPr>
            <p:cNvCxnSpPr>
              <a:cxnSpLocks/>
              <a:stCxn id="110" idx="0"/>
              <a:endCxn id="105" idx="2"/>
            </p:cNvCxnSpPr>
            <p:nvPr/>
          </p:nvCxnSpPr>
          <p:spPr>
            <a:xfrm rot="5400000" flipH="1" flipV="1">
              <a:off x="185774" y="6040722"/>
              <a:ext cx="1096895" cy="512757"/>
            </a:xfrm>
            <a:prstGeom prst="bentConnector2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2FB534C5-C49A-6A6F-177C-96F90539958A}"/>
                </a:ext>
              </a:extLst>
            </p:cNvPr>
            <p:cNvSpPr/>
            <p:nvPr/>
          </p:nvSpPr>
          <p:spPr>
            <a:xfrm>
              <a:off x="252709" y="6273155"/>
              <a:ext cx="540000" cy="384280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SG" sz="1000" b="1">
                  <a:solidFill>
                    <a:srgbClr val="6B7A7A"/>
                  </a:solidFill>
                  <a:latin typeface="Nunito" pitchFamily="2" charset="0"/>
                </a:rPr>
                <a:t>API</a:t>
              </a:r>
              <a:endParaRPr lang="en-US" sz="80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</p:txBody>
        </p:sp>
        <p:cxnSp>
          <p:nvCxnSpPr>
            <p:cNvPr id="113" name="Straight Arrow Connector 80">
              <a:extLst>
                <a:ext uri="{FF2B5EF4-FFF2-40B4-BE49-F238E27FC236}">
                  <a16:creationId xmlns:a16="http://schemas.microsoft.com/office/drawing/2014/main" id="{85BD3808-45C8-6A81-FDD4-7984112B5894}"/>
                </a:ext>
              </a:extLst>
            </p:cNvPr>
            <p:cNvCxnSpPr>
              <a:cxnSpLocks/>
              <a:stCxn id="106" idx="0"/>
              <a:endCxn id="10" idx="1"/>
            </p:cNvCxnSpPr>
            <p:nvPr/>
          </p:nvCxnSpPr>
          <p:spPr>
            <a:xfrm rot="16200000" flipH="1">
              <a:off x="5260153" y="1623609"/>
              <a:ext cx="364643" cy="7822737"/>
            </a:xfrm>
            <a:prstGeom prst="bentConnector4">
              <a:avLst>
                <a:gd name="adj1" fmla="val -141055"/>
                <a:gd name="adj2" fmla="val 79672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81B47F37-8C33-D3F0-FA7C-4EEE96D02E3A}"/>
                </a:ext>
              </a:extLst>
            </p:cNvPr>
            <p:cNvSpPr txBox="1"/>
            <p:nvPr/>
          </p:nvSpPr>
          <p:spPr>
            <a:xfrm>
              <a:off x="2731469" y="4727916"/>
              <a:ext cx="4531795" cy="246221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>
              <a:defPPr>
                <a:defRPr lang="en-US"/>
              </a:defPPr>
              <a:lvl1pPr algn="ctr">
                <a:defRPr sz="1000" b="1">
                  <a:solidFill>
                    <a:srgbClr val="6B7A7A"/>
                  </a:solidFill>
                  <a:latin typeface="Nunito" pitchFamily="2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sz="900" dirty="0" err="1"/>
                <a:t>FastAPI</a:t>
              </a:r>
              <a:r>
                <a:rPr lang="en-US" sz="900" dirty="0"/>
                <a:t> updates Redis</a:t>
              </a:r>
              <a:r>
                <a:rPr lang="en-US" sz="900" b="0" dirty="0"/>
                <a:t>: </a:t>
              </a:r>
              <a:r>
                <a:rPr lang="en-US" sz="900" b="0" dirty="0" err="1"/>
                <a:t>current_week_case_count</a:t>
              </a:r>
              <a:r>
                <a:rPr lang="en-US" sz="900" b="0" dirty="0"/>
                <a:t> (actual count) for that subzone</a:t>
              </a:r>
              <a:endParaRPr lang="en-SG" sz="900" b="0" dirty="0"/>
            </a:p>
          </p:txBody>
        </p:sp>
        <p:cxnSp>
          <p:nvCxnSpPr>
            <p:cNvPr id="115" name="Straight Arrow Connector 80">
              <a:extLst>
                <a:ext uri="{FF2B5EF4-FFF2-40B4-BE49-F238E27FC236}">
                  <a16:creationId xmlns:a16="http://schemas.microsoft.com/office/drawing/2014/main" id="{C61DC85A-E2AD-D918-7210-1E350F91F5BE}"/>
                </a:ext>
              </a:extLst>
            </p:cNvPr>
            <p:cNvCxnSpPr>
              <a:cxnSpLocks/>
              <a:stCxn id="107" idx="3"/>
              <a:endCxn id="98" idx="0"/>
            </p:cNvCxnSpPr>
            <p:nvPr/>
          </p:nvCxnSpPr>
          <p:spPr>
            <a:xfrm rot="5400000">
              <a:off x="3408344" y="6546602"/>
              <a:ext cx="937459" cy="31455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0E48501D-B10A-FDC8-6D4D-CCB7B42C354B}"/>
                </a:ext>
              </a:extLst>
            </p:cNvPr>
            <p:cNvSpPr/>
            <p:nvPr/>
          </p:nvSpPr>
          <p:spPr>
            <a:xfrm>
              <a:off x="3416563" y="6328590"/>
              <a:ext cx="869675" cy="384280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SG" sz="1000" b="1" dirty="0">
                  <a:solidFill>
                    <a:srgbClr val="6B7A7A"/>
                  </a:solidFill>
                  <a:latin typeface="Nunito" pitchFamily="2" charset="0"/>
                </a:rPr>
                <a:t>SSE Push</a:t>
              </a:r>
            </a:p>
            <a:p>
              <a:pPr algn="ctr"/>
              <a:r>
                <a:rPr lang="en-SG" sz="1000" b="1" i="1" dirty="0">
                  <a:solidFill>
                    <a:srgbClr val="6B7A7A"/>
                  </a:solidFill>
                  <a:latin typeface="Nunito" pitchFamily="2" charset="0"/>
                </a:rPr>
                <a:t>(</a:t>
              </a:r>
              <a:r>
                <a:rPr lang="en-SG" sz="1000" b="1" i="1" dirty="0" err="1">
                  <a:solidFill>
                    <a:srgbClr val="6B7A7A"/>
                  </a:solidFill>
                  <a:latin typeface="Nunito" pitchFamily="2" charset="0"/>
                </a:rPr>
                <a:t>FastAPI</a:t>
              </a:r>
              <a:r>
                <a:rPr lang="en-SG" sz="1000" b="1" i="1" dirty="0">
                  <a:solidFill>
                    <a:srgbClr val="6B7A7A"/>
                  </a:solidFill>
                  <a:latin typeface="Nunito" pitchFamily="2" charset="0"/>
                </a:rPr>
                <a:t>)</a:t>
              </a:r>
              <a:endPara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endParaRPr>
            </a:p>
          </p:txBody>
        </p:sp>
        <p:cxnSp>
          <p:nvCxnSpPr>
            <p:cNvPr id="117" name="Straight Arrow Connector 80">
              <a:extLst>
                <a:ext uri="{FF2B5EF4-FFF2-40B4-BE49-F238E27FC236}">
                  <a16:creationId xmlns:a16="http://schemas.microsoft.com/office/drawing/2014/main" id="{56D1A2CB-1E7C-23C6-3625-41743B0CA917}"/>
                </a:ext>
              </a:extLst>
            </p:cNvPr>
            <p:cNvCxnSpPr>
              <a:cxnSpLocks/>
              <a:stCxn id="100" idx="1"/>
              <a:endCxn id="102" idx="3"/>
            </p:cNvCxnSpPr>
            <p:nvPr/>
          </p:nvCxnSpPr>
          <p:spPr>
            <a:xfrm flipH="1">
              <a:off x="9517417" y="9374100"/>
              <a:ext cx="388583" cy="0"/>
            </a:xfrm>
            <a:prstGeom prst="straightConnector1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80">
              <a:extLst>
                <a:ext uri="{FF2B5EF4-FFF2-40B4-BE49-F238E27FC236}">
                  <a16:creationId xmlns:a16="http://schemas.microsoft.com/office/drawing/2014/main" id="{09C0514D-0AFD-F383-7F5B-99203CC7291F}"/>
                </a:ext>
              </a:extLst>
            </p:cNvPr>
            <p:cNvCxnSpPr>
              <a:cxnSpLocks/>
              <a:stCxn id="102" idx="1"/>
              <a:endCxn id="107" idx="4"/>
            </p:cNvCxnSpPr>
            <p:nvPr/>
          </p:nvCxnSpPr>
          <p:spPr>
            <a:xfrm rot="10800000">
              <a:off x="4432801" y="5715950"/>
              <a:ext cx="3663577" cy="3658151"/>
            </a:xfrm>
            <a:prstGeom prst="bentConnector3">
              <a:avLst>
                <a:gd name="adj1" fmla="val 80852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D6152289-2318-0D52-9DBC-0421B2CF1EF8}"/>
                </a:ext>
              </a:extLst>
            </p:cNvPr>
            <p:cNvSpPr txBox="1"/>
            <p:nvPr/>
          </p:nvSpPr>
          <p:spPr>
            <a:xfrm>
              <a:off x="5078476" y="8991600"/>
              <a:ext cx="25891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200">
                  <a:solidFill>
                    <a:srgbClr val="1C334E"/>
                  </a:solidFill>
                  <a:latin typeface="Nunito" pitchFamily="2" charset="0"/>
                </a:rPr>
                <a:t>model scores subzone</a:t>
              </a:r>
            </a:p>
            <a:p>
              <a:r>
                <a:rPr lang="en-US" sz="1200">
                  <a:solidFill>
                    <a:srgbClr val="1C334E"/>
                  </a:solidFill>
                  <a:latin typeface="Nunito" pitchFamily="2" charset="0"/>
                </a:rPr>
                <a:t>Pushed only if score &gt; threshold</a:t>
              </a:r>
              <a:r>
                <a:rPr lang="en-SG" sz="1200">
                  <a:solidFill>
                    <a:srgbClr val="1C334E"/>
                  </a:solidFill>
                  <a:latin typeface="Nunito" pitchFamily="2" charset="0"/>
                </a:rPr>
                <a:t> </a:t>
              </a:r>
            </a:p>
          </p:txBody>
        </p:sp>
        <p:cxnSp>
          <p:nvCxnSpPr>
            <p:cNvPr id="120" name="Straight Arrow Connector 80">
              <a:extLst>
                <a:ext uri="{FF2B5EF4-FFF2-40B4-BE49-F238E27FC236}">
                  <a16:creationId xmlns:a16="http://schemas.microsoft.com/office/drawing/2014/main" id="{ABBA50CA-9972-4412-3989-D76176DDE925}"/>
                </a:ext>
              </a:extLst>
            </p:cNvPr>
            <p:cNvCxnSpPr>
              <a:cxnSpLocks/>
              <a:stCxn id="12" idx="3"/>
              <a:endCxn id="14" idx="0"/>
            </p:cNvCxnSpPr>
            <p:nvPr/>
          </p:nvCxnSpPr>
          <p:spPr>
            <a:xfrm flipH="1">
              <a:off x="9317172" y="3600821"/>
              <a:ext cx="1432280" cy="5471786"/>
            </a:xfrm>
            <a:prstGeom prst="bentConnector4">
              <a:avLst>
                <a:gd name="adj1" fmla="val -39015"/>
                <a:gd name="adj2" fmla="val 94921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80">
              <a:extLst>
                <a:ext uri="{FF2B5EF4-FFF2-40B4-BE49-F238E27FC236}">
                  <a16:creationId xmlns:a16="http://schemas.microsoft.com/office/drawing/2014/main" id="{4D70D8DE-9755-AA61-0C10-FD4818C2E719}"/>
                </a:ext>
              </a:extLst>
            </p:cNvPr>
            <p:cNvCxnSpPr>
              <a:cxnSpLocks/>
              <a:stCxn id="58" idx="4"/>
              <a:endCxn id="13" idx="0"/>
            </p:cNvCxnSpPr>
            <p:nvPr/>
          </p:nvCxnSpPr>
          <p:spPr>
            <a:xfrm flipH="1">
              <a:off x="9054000" y="5419417"/>
              <a:ext cx="1695452" cy="3651703"/>
            </a:xfrm>
            <a:prstGeom prst="bentConnector4">
              <a:avLst>
                <a:gd name="adj1" fmla="val -24157"/>
                <a:gd name="adj2" fmla="val 88124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ounded Rectangle 45">
              <a:extLst>
                <a:ext uri="{FF2B5EF4-FFF2-40B4-BE49-F238E27FC236}">
                  <a16:creationId xmlns:a16="http://schemas.microsoft.com/office/drawing/2014/main" id="{9F89B999-738C-3CCF-DF19-112D0424064C}"/>
                </a:ext>
              </a:extLst>
            </p:cNvPr>
            <p:cNvSpPr/>
            <p:nvPr/>
          </p:nvSpPr>
          <p:spPr>
            <a:xfrm>
              <a:off x="9925097" y="7179789"/>
              <a:ext cx="1421040" cy="629773"/>
            </a:xfrm>
            <a:prstGeom prst="roundRect">
              <a:avLst>
                <a:gd name="adj" fmla="val 9483"/>
              </a:avLst>
            </a:prstGeom>
            <a:solidFill>
              <a:srgbClr val="FFFFFF"/>
            </a:solidFill>
            <a:ln w="6350">
              <a:solidFill>
                <a:srgbClr val="1B43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1B4332"/>
                  </a:solidFill>
                  <a:latin typeface="Nunito" pitchFamily="2" charset="0"/>
                </a:rPr>
                <a:t>Airflow trigger</a:t>
              </a:r>
            </a:p>
            <a:p>
              <a:pPr algn="ctr"/>
              <a:r>
                <a:rPr lang="en-US" sz="1000" i="1">
                  <a:solidFill>
                    <a:srgbClr val="6B7A7A"/>
                  </a:solidFill>
                  <a:latin typeface="Nunito" pitchFamily="2" charset="0"/>
                </a:rPr>
                <a:t>Mon 06:00 SGT</a:t>
              </a:r>
            </a:p>
          </p:txBody>
        </p:sp>
        <p:sp>
          <p:nvSpPr>
            <p:cNvPr id="123" name="Rounded Rectangle 45">
              <a:extLst>
                <a:ext uri="{FF2B5EF4-FFF2-40B4-BE49-F238E27FC236}">
                  <a16:creationId xmlns:a16="http://schemas.microsoft.com/office/drawing/2014/main" id="{CA87BDCA-B70F-1F8D-EC6A-C78550F4FBDE}"/>
                </a:ext>
              </a:extLst>
            </p:cNvPr>
            <p:cNvSpPr/>
            <p:nvPr/>
          </p:nvSpPr>
          <p:spPr>
            <a:xfrm>
              <a:off x="65748" y="8982441"/>
              <a:ext cx="1421040" cy="629773"/>
            </a:xfrm>
            <a:prstGeom prst="roundRect">
              <a:avLst>
                <a:gd name="adj" fmla="val 9483"/>
              </a:avLst>
            </a:prstGeom>
            <a:solidFill>
              <a:srgbClr val="FFFFFF"/>
            </a:solidFill>
            <a:ln w="6350">
              <a:solidFill>
                <a:srgbClr val="1B43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1B4332"/>
                  </a:solidFill>
                  <a:latin typeface="Nunito" pitchFamily="2" charset="0"/>
                </a:rPr>
                <a:t>Airflow trigger</a:t>
              </a:r>
            </a:p>
            <a:p>
              <a:pPr algn="ctr"/>
              <a:r>
                <a:rPr lang="en-US" sz="1000" i="1">
                  <a:solidFill>
                    <a:srgbClr val="6B7A7A"/>
                  </a:solidFill>
                  <a:latin typeface="Nunito" pitchFamily="2" charset="0"/>
                </a:rPr>
                <a:t>Wed 06:00 SGT</a:t>
              </a:r>
            </a:p>
          </p:txBody>
        </p:sp>
        <p:cxnSp>
          <p:nvCxnSpPr>
            <p:cNvPr id="124" name="Straight Arrow Connector 80">
              <a:extLst>
                <a:ext uri="{FF2B5EF4-FFF2-40B4-BE49-F238E27FC236}">
                  <a16:creationId xmlns:a16="http://schemas.microsoft.com/office/drawing/2014/main" id="{1638E22B-B94F-96B3-B613-E6F62107983C}"/>
                </a:ext>
              </a:extLst>
            </p:cNvPr>
            <p:cNvCxnSpPr>
              <a:cxnSpLocks/>
              <a:stCxn id="123" idx="3"/>
              <a:endCxn id="126" idx="1"/>
            </p:cNvCxnSpPr>
            <p:nvPr/>
          </p:nvCxnSpPr>
          <p:spPr>
            <a:xfrm>
              <a:off x="1486788" y="9297328"/>
              <a:ext cx="512617" cy="0"/>
            </a:xfrm>
            <a:prstGeom prst="straightConnector1">
              <a:avLst/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80">
              <a:extLst>
                <a:ext uri="{FF2B5EF4-FFF2-40B4-BE49-F238E27FC236}">
                  <a16:creationId xmlns:a16="http://schemas.microsoft.com/office/drawing/2014/main" id="{247DB369-5D3A-A27F-7189-F6572E2A3255}"/>
                </a:ext>
              </a:extLst>
            </p:cNvPr>
            <p:cNvCxnSpPr>
              <a:cxnSpLocks/>
              <a:stCxn id="6" idx="3"/>
              <a:endCxn id="80" idx="0"/>
            </p:cNvCxnSpPr>
            <p:nvPr/>
          </p:nvCxnSpPr>
          <p:spPr>
            <a:xfrm flipV="1">
              <a:off x="4218600" y="324738"/>
              <a:ext cx="8699179" cy="9757962"/>
            </a:xfrm>
            <a:prstGeom prst="bentConnector4">
              <a:avLst>
                <a:gd name="adj1" fmla="val 148771"/>
                <a:gd name="adj2" fmla="val 102343"/>
              </a:avLst>
            </a:prstGeom>
            <a:ln>
              <a:solidFill>
                <a:srgbClr val="1C334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Rectangle: Folded Corner 125">
              <a:extLst>
                <a:ext uri="{FF2B5EF4-FFF2-40B4-BE49-F238E27FC236}">
                  <a16:creationId xmlns:a16="http://schemas.microsoft.com/office/drawing/2014/main" id="{CCC7058B-0B8E-39E5-978F-0998EA93A0E1}"/>
                </a:ext>
              </a:extLst>
            </p:cNvPr>
            <p:cNvSpPr/>
            <p:nvPr/>
          </p:nvSpPr>
          <p:spPr>
            <a:xfrm>
              <a:off x="1999405" y="8345755"/>
              <a:ext cx="2664000" cy="1903145"/>
            </a:xfrm>
            <a:prstGeom prst="foldedCorner">
              <a:avLst/>
            </a:prstGeom>
            <a:solidFill>
              <a:srgbClr val="F2F2F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algn="ctr"/>
              <a:r>
                <a:rPr lang="en-SG" sz="1600" b="1">
                  <a:solidFill>
                    <a:srgbClr val="6B7A7A"/>
                  </a:solidFill>
                  <a:latin typeface="Nunito" pitchFamily="2" charset="0"/>
                </a:rPr>
                <a:t>monitor.py</a:t>
              </a:r>
            </a:p>
            <a:p>
              <a:pPr algn="ctr"/>
              <a:endParaRPr lang="en-SG" sz="1600" b="1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Compares recent predictions against confirmed outcomes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Logs PSI/CSI metrics to </a:t>
              </a:r>
              <a:r>
                <a:rPr lang="en-US" sz="1200" err="1">
                  <a:solidFill>
                    <a:srgbClr val="6B7A7A"/>
                  </a:solidFill>
                  <a:latin typeface="Nunito" pitchFamily="2" charset="0"/>
                </a:rPr>
                <a:t>Mlflow</a:t>
              </a:r>
              <a:endParaRPr lang="en-US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200">
                <a:solidFill>
                  <a:srgbClr val="6B7A7A"/>
                </a:solidFill>
                <a:latin typeface="Nunito" pitchFamily="2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6B7A7A"/>
                  </a:solidFill>
                  <a:latin typeface="Nunito" pitchFamily="2" charset="0"/>
                </a:rPr>
                <a:t>Raises a drift alarm if thresholds breached</a:t>
              </a:r>
              <a:endParaRPr lang="en-SG" sz="1600">
                <a:solidFill>
                  <a:srgbClr val="6B7A7A"/>
                </a:solidFill>
                <a:latin typeface="Nunito" pitchFamily="2" charset="0"/>
              </a:endParaRPr>
            </a:p>
          </p:txBody>
        </p:sp>
        <p:sp>
          <p:nvSpPr>
            <p:cNvPr id="127" name="Rectangle: Single Corner Rounded 126">
              <a:extLst>
                <a:ext uri="{FF2B5EF4-FFF2-40B4-BE49-F238E27FC236}">
                  <a16:creationId xmlns:a16="http://schemas.microsoft.com/office/drawing/2014/main" id="{1764CB0A-D7C0-1E1B-E251-81F20FFDC90D}"/>
                </a:ext>
              </a:extLst>
            </p:cNvPr>
            <p:cNvSpPr/>
            <p:nvPr/>
          </p:nvSpPr>
          <p:spPr>
            <a:xfrm>
              <a:off x="15519566" y="6901543"/>
              <a:ext cx="914400" cy="814481"/>
            </a:xfrm>
            <a:prstGeom prst="round1Rect">
              <a:avLst/>
            </a:prstGeom>
            <a:solidFill>
              <a:srgbClr val="F2F2F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SG" sz="1100" b="1">
                  <a:solidFill>
                    <a:srgbClr val="6B7A7A"/>
                  </a:solidFill>
                  <a:latin typeface="Nunito" pitchFamily="2" charset="0"/>
                </a:rPr>
                <a:t>model_v3</a:t>
              </a:r>
              <a:endParaRPr lang="en-SG" sz="1100">
                <a:solidFill>
                  <a:srgbClr val="6B7A7A"/>
                </a:solidFill>
                <a:latin typeface="Nunito" pitchFamily="2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9529AE9-8136-A188-10BB-7063651F33B7}"/>
                </a:ext>
              </a:extLst>
            </p:cNvPr>
            <p:cNvSpPr txBox="1"/>
            <p:nvPr/>
          </p:nvSpPr>
          <p:spPr>
            <a:xfrm>
              <a:off x="15554036" y="7433583"/>
              <a:ext cx="84545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0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Nunito" pitchFamily="2" charset="0"/>
                </a:rPr>
                <a:t>Active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871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1EEA-5673-03CA-7B7F-C480ED4DF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01F2A578-ACD2-C7B6-8061-394A30C28960}"/>
              </a:ext>
            </a:extLst>
          </p:cNvPr>
          <p:cNvSpPr txBox="1"/>
          <p:nvPr/>
        </p:nvSpPr>
        <p:spPr>
          <a:xfrm>
            <a:off x="152400" y="571500"/>
            <a:ext cx="16459200" cy="116339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lang="en-SG" sz="6600" b="1" dirty="0">
                <a:solidFill>
                  <a:srgbClr val="303870"/>
                </a:solidFill>
                <a:latin typeface="Agrandir Wide Bold"/>
              </a:rPr>
              <a:t>Data Processing</a:t>
            </a:r>
            <a:endParaRPr sz="6600" b="1" dirty="0">
              <a:solidFill>
                <a:srgbClr val="303870"/>
              </a:solidFill>
              <a:latin typeface="Agrandir Wide Bold"/>
            </a:endParaRPr>
          </a:p>
        </p:txBody>
      </p:sp>
      <p:grpSp>
        <p:nvGrpSpPr>
          <p:cNvPr id="34" name="Group 2">
            <a:extLst>
              <a:ext uri="{FF2B5EF4-FFF2-40B4-BE49-F238E27FC236}">
                <a16:creationId xmlns:a16="http://schemas.microsoft.com/office/drawing/2014/main" id="{07027FED-8C83-791C-9608-F137C68BF28F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5" name="Freeform 3">
              <a:extLst>
                <a:ext uri="{FF2B5EF4-FFF2-40B4-BE49-F238E27FC236}">
                  <a16:creationId xmlns:a16="http://schemas.microsoft.com/office/drawing/2014/main" id="{9869B424-59A5-608B-32E5-6C3D2F1E0635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4">
              <a:extLst>
                <a:ext uri="{FF2B5EF4-FFF2-40B4-BE49-F238E27FC236}">
                  <a16:creationId xmlns:a16="http://schemas.microsoft.com/office/drawing/2014/main" id="{0E61AE17-57B4-892A-A3DA-853492F9F43F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EEEB5451-F8D0-F842-B258-D4F0309864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7484" y="116655"/>
            <a:ext cx="4275643" cy="2538814"/>
          </a:xfrm>
          <a:prstGeom prst="rect">
            <a:avLst/>
          </a:prstGeom>
        </p:spPr>
      </p:pic>
      <p:sp>
        <p:nvSpPr>
          <p:cNvPr id="99" name="Text 1">
            <a:extLst>
              <a:ext uri="{FF2B5EF4-FFF2-40B4-BE49-F238E27FC236}">
                <a16:creationId xmlns:a16="http://schemas.microsoft.com/office/drawing/2014/main" id="{79357F5F-FC9D-D7F6-FC5C-98ACEDC84453}"/>
              </a:ext>
            </a:extLst>
          </p:cNvPr>
          <p:cNvSpPr/>
          <p:nvPr/>
        </p:nvSpPr>
        <p:spPr>
          <a:xfrm>
            <a:off x="361161" y="1784551"/>
            <a:ext cx="9692188" cy="53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8FA3B1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Medallion Architecture: Bronze → Silver → Gold</a:t>
            </a:r>
            <a:endParaRPr lang="en-US" sz="3200" dirty="0">
              <a:latin typeface="Nunito" pitchFamily="2" charset="0"/>
            </a:endParaRPr>
          </a:p>
        </p:txBody>
      </p:sp>
      <p:sp>
        <p:nvSpPr>
          <p:cNvPr id="100" name="Shape 2">
            <a:extLst>
              <a:ext uri="{FF2B5EF4-FFF2-40B4-BE49-F238E27FC236}">
                <a16:creationId xmlns:a16="http://schemas.microsoft.com/office/drawing/2014/main" id="{67A41833-B64B-B47D-B293-B51602131DE4}"/>
              </a:ext>
            </a:extLst>
          </p:cNvPr>
          <p:cNvSpPr/>
          <p:nvPr/>
        </p:nvSpPr>
        <p:spPr>
          <a:xfrm>
            <a:off x="152400" y="3201638"/>
            <a:ext cx="5348140" cy="6421177"/>
          </a:xfrm>
          <a:prstGeom prst="roundRect">
            <a:avLst>
              <a:gd name="adj" fmla="val 3871"/>
            </a:avLst>
          </a:prstGeom>
          <a:solidFill>
            <a:srgbClr val="1A0E05"/>
          </a:solidFill>
          <a:ln w="1905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01" name="Shape 3">
            <a:extLst>
              <a:ext uri="{FF2B5EF4-FFF2-40B4-BE49-F238E27FC236}">
                <a16:creationId xmlns:a16="http://schemas.microsoft.com/office/drawing/2014/main" id="{B3DDB93E-7A5E-A962-AFB4-58BB09AC4B6B}"/>
              </a:ext>
            </a:extLst>
          </p:cNvPr>
          <p:cNvSpPr/>
          <p:nvPr/>
        </p:nvSpPr>
        <p:spPr>
          <a:xfrm>
            <a:off x="1187524" y="3098309"/>
            <a:ext cx="3277892" cy="619976"/>
          </a:xfrm>
          <a:prstGeom prst="roundRect">
            <a:avLst>
              <a:gd name="adj" fmla="val 19048"/>
            </a:avLst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18864DDC-9CAA-6343-13B9-60117E666A81}"/>
              </a:ext>
            </a:extLst>
          </p:cNvPr>
          <p:cNvSpPr/>
          <p:nvPr/>
        </p:nvSpPr>
        <p:spPr>
          <a:xfrm>
            <a:off x="1187524" y="3098309"/>
            <a:ext cx="3277892" cy="61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3600" dirty="0">
              <a:latin typeface="Nunito" pitchFamily="2" charset="0"/>
            </a:endParaRPr>
          </a:p>
        </p:txBody>
      </p:sp>
      <p:sp>
        <p:nvSpPr>
          <p:cNvPr id="103" name="Shape 5">
            <a:extLst>
              <a:ext uri="{FF2B5EF4-FFF2-40B4-BE49-F238E27FC236}">
                <a16:creationId xmlns:a16="http://schemas.microsoft.com/office/drawing/2014/main" id="{125AF7CA-7A50-D802-4704-DB21DE4DC36F}"/>
              </a:ext>
            </a:extLst>
          </p:cNvPr>
          <p:cNvSpPr/>
          <p:nvPr/>
        </p:nvSpPr>
        <p:spPr>
          <a:xfrm>
            <a:off x="5845581" y="3201638"/>
            <a:ext cx="5348140" cy="6421177"/>
          </a:xfrm>
          <a:prstGeom prst="roundRect">
            <a:avLst>
              <a:gd name="adj" fmla="val 3871"/>
            </a:avLst>
          </a:prstGeom>
          <a:solidFill>
            <a:srgbClr val="0A141C"/>
          </a:solidFill>
          <a:ln w="1905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EDBC0094-A374-F4C8-BE00-F36A9A76D7F9}"/>
              </a:ext>
            </a:extLst>
          </p:cNvPr>
          <p:cNvSpPr/>
          <p:nvPr/>
        </p:nvSpPr>
        <p:spPr>
          <a:xfrm>
            <a:off x="6880705" y="3098309"/>
            <a:ext cx="3277892" cy="619976"/>
          </a:xfrm>
          <a:prstGeom prst="roundRect">
            <a:avLst>
              <a:gd name="adj" fmla="val 19048"/>
            </a:avLst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05" name="Text 7">
            <a:extLst>
              <a:ext uri="{FF2B5EF4-FFF2-40B4-BE49-F238E27FC236}">
                <a16:creationId xmlns:a16="http://schemas.microsoft.com/office/drawing/2014/main" id="{02F898A4-AD15-1F9D-BD3C-16EF98122107}"/>
              </a:ext>
            </a:extLst>
          </p:cNvPr>
          <p:cNvSpPr/>
          <p:nvPr/>
        </p:nvSpPr>
        <p:spPr>
          <a:xfrm>
            <a:off x="6880705" y="3098309"/>
            <a:ext cx="3277892" cy="61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3600" dirty="0">
              <a:latin typeface="Nunito" pitchFamily="2" charset="0"/>
            </a:endParaRPr>
          </a:p>
        </p:txBody>
      </p:sp>
      <p:sp>
        <p:nvSpPr>
          <p:cNvPr id="106" name="Shape 8">
            <a:extLst>
              <a:ext uri="{FF2B5EF4-FFF2-40B4-BE49-F238E27FC236}">
                <a16:creationId xmlns:a16="http://schemas.microsoft.com/office/drawing/2014/main" id="{CF4633D6-F6ED-2166-E7B5-05E7FEF9F854}"/>
              </a:ext>
            </a:extLst>
          </p:cNvPr>
          <p:cNvSpPr/>
          <p:nvPr/>
        </p:nvSpPr>
        <p:spPr>
          <a:xfrm>
            <a:off x="11538763" y="3201638"/>
            <a:ext cx="5348140" cy="6421177"/>
          </a:xfrm>
          <a:prstGeom prst="roundRect">
            <a:avLst>
              <a:gd name="adj" fmla="val 3871"/>
            </a:avLst>
          </a:prstGeom>
          <a:solidFill>
            <a:srgbClr val="1A1400"/>
          </a:solidFill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07" name="Shape 9">
            <a:extLst>
              <a:ext uri="{FF2B5EF4-FFF2-40B4-BE49-F238E27FC236}">
                <a16:creationId xmlns:a16="http://schemas.microsoft.com/office/drawing/2014/main" id="{651AACC4-7B63-8228-2C39-0B843E352248}"/>
              </a:ext>
            </a:extLst>
          </p:cNvPr>
          <p:cNvSpPr/>
          <p:nvPr/>
        </p:nvSpPr>
        <p:spPr>
          <a:xfrm>
            <a:off x="12573887" y="3098309"/>
            <a:ext cx="3277892" cy="619976"/>
          </a:xfrm>
          <a:prstGeom prst="roundRect">
            <a:avLst>
              <a:gd name="adj" fmla="val 19048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08" name="Text 10">
            <a:extLst>
              <a:ext uri="{FF2B5EF4-FFF2-40B4-BE49-F238E27FC236}">
                <a16:creationId xmlns:a16="http://schemas.microsoft.com/office/drawing/2014/main" id="{9F441051-5E33-4ADF-AE87-085279CF06D9}"/>
              </a:ext>
            </a:extLst>
          </p:cNvPr>
          <p:cNvSpPr/>
          <p:nvPr/>
        </p:nvSpPr>
        <p:spPr>
          <a:xfrm>
            <a:off x="12573887" y="3098309"/>
            <a:ext cx="3277892" cy="61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3600" dirty="0">
              <a:latin typeface="Nunito" pitchFamily="2" charset="0"/>
            </a:endParaRPr>
          </a:p>
        </p:txBody>
      </p:sp>
      <p:sp>
        <p:nvSpPr>
          <p:cNvPr id="109" name="Shape 11">
            <a:extLst>
              <a:ext uri="{FF2B5EF4-FFF2-40B4-BE49-F238E27FC236}">
                <a16:creationId xmlns:a16="http://schemas.microsoft.com/office/drawing/2014/main" id="{913F88D6-6BDB-47C9-1A89-08050962BDE3}"/>
              </a:ext>
            </a:extLst>
          </p:cNvPr>
          <p:cNvSpPr/>
          <p:nvPr/>
        </p:nvSpPr>
        <p:spPr>
          <a:xfrm>
            <a:off x="5517792" y="6379897"/>
            <a:ext cx="345041" cy="0"/>
          </a:xfrm>
          <a:prstGeom prst="line">
            <a:avLst/>
          </a:prstGeom>
          <a:noFill/>
          <a:ln w="25400">
            <a:solidFill>
              <a:srgbClr val="5A7A95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10" name="Text 12">
            <a:extLst>
              <a:ext uri="{FF2B5EF4-FFF2-40B4-BE49-F238E27FC236}">
                <a16:creationId xmlns:a16="http://schemas.microsoft.com/office/drawing/2014/main" id="{E0C2D155-BE97-F860-4BA4-15D8A3F69E20}"/>
              </a:ext>
            </a:extLst>
          </p:cNvPr>
          <p:cNvSpPr/>
          <p:nvPr/>
        </p:nvSpPr>
        <p:spPr>
          <a:xfrm>
            <a:off x="5448784" y="6114193"/>
            <a:ext cx="517562" cy="53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5A7A95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400" dirty="0">
              <a:latin typeface="Nunito" pitchFamily="2" charset="0"/>
            </a:endParaRPr>
          </a:p>
        </p:txBody>
      </p:sp>
      <p:sp>
        <p:nvSpPr>
          <p:cNvPr id="111" name="Shape 13">
            <a:extLst>
              <a:ext uri="{FF2B5EF4-FFF2-40B4-BE49-F238E27FC236}">
                <a16:creationId xmlns:a16="http://schemas.microsoft.com/office/drawing/2014/main" id="{0AC8CBBC-2D23-667F-8648-8036E65CC2E2}"/>
              </a:ext>
            </a:extLst>
          </p:cNvPr>
          <p:cNvSpPr/>
          <p:nvPr/>
        </p:nvSpPr>
        <p:spPr>
          <a:xfrm>
            <a:off x="11210974" y="6379897"/>
            <a:ext cx="345041" cy="0"/>
          </a:xfrm>
          <a:prstGeom prst="line">
            <a:avLst/>
          </a:prstGeom>
          <a:noFill/>
          <a:ln w="25400">
            <a:solidFill>
              <a:srgbClr val="8A7A30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12" name="Text 14">
            <a:extLst>
              <a:ext uri="{FF2B5EF4-FFF2-40B4-BE49-F238E27FC236}">
                <a16:creationId xmlns:a16="http://schemas.microsoft.com/office/drawing/2014/main" id="{FF7E5C26-C17D-110C-7A26-035CC3D8758B}"/>
              </a:ext>
            </a:extLst>
          </p:cNvPr>
          <p:cNvSpPr/>
          <p:nvPr/>
        </p:nvSpPr>
        <p:spPr>
          <a:xfrm>
            <a:off x="11141965" y="6114193"/>
            <a:ext cx="517562" cy="53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8A7A3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4400" dirty="0">
              <a:latin typeface="Nunito" pitchFamily="2" charset="0"/>
            </a:endParaRPr>
          </a:p>
        </p:txBody>
      </p:sp>
      <p:sp>
        <p:nvSpPr>
          <p:cNvPr id="113" name="Text 15">
            <a:extLst>
              <a:ext uri="{FF2B5EF4-FFF2-40B4-BE49-F238E27FC236}">
                <a16:creationId xmlns:a16="http://schemas.microsoft.com/office/drawing/2014/main" id="{F692D119-2DE3-23E6-C65D-CF3251470D4E}"/>
              </a:ext>
            </a:extLst>
          </p:cNvPr>
          <p:cNvSpPr/>
          <p:nvPr/>
        </p:nvSpPr>
        <p:spPr>
          <a:xfrm>
            <a:off x="411181" y="3752381"/>
            <a:ext cx="4830578" cy="442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4885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Raw Inputs (4 sources)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114" name="Shape 16">
            <a:extLst>
              <a:ext uri="{FF2B5EF4-FFF2-40B4-BE49-F238E27FC236}">
                <a16:creationId xmlns:a16="http://schemas.microsoft.com/office/drawing/2014/main" id="{05BAABA8-5A0E-CFFF-E1DB-811DA92A6573}"/>
              </a:ext>
            </a:extLst>
          </p:cNvPr>
          <p:cNvSpPr/>
          <p:nvPr/>
        </p:nvSpPr>
        <p:spPr>
          <a:xfrm>
            <a:off x="411181" y="4195220"/>
            <a:ext cx="4830578" cy="664260"/>
          </a:xfrm>
          <a:prstGeom prst="roundRect">
            <a:avLst>
              <a:gd name="adj" fmla="val 13333"/>
            </a:avLst>
          </a:prstGeom>
          <a:solidFill>
            <a:srgbClr val="2A1A08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15" name="Text 17">
            <a:extLst>
              <a:ext uri="{FF2B5EF4-FFF2-40B4-BE49-F238E27FC236}">
                <a16:creationId xmlns:a16="http://schemas.microsoft.com/office/drawing/2014/main" id="{94CC9C1A-4EDF-1031-60E3-0427C01283CB}"/>
              </a:ext>
            </a:extLst>
          </p:cNvPr>
          <p:cNvSpPr/>
          <p:nvPr/>
        </p:nvSpPr>
        <p:spPr>
          <a:xfrm>
            <a:off x="635458" y="4254266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4885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SGCharts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16" name="Text 18">
            <a:extLst>
              <a:ext uri="{FF2B5EF4-FFF2-40B4-BE49-F238E27FC236}">
                <a16:creationId xmlns:a16="http://schemas.microsoft.com/office/drawing/2014/main" id="{A38E3D24-8CFC-9636-62C2-D20C2FC164AD}"/>
              </a:ext>
            </a:extLst>
          </p:cNvPr>
          <p:cNvSpPr/>
          <p:nvPr/>
        </p:nvSpPr>
        <p:spPr>
          <a:xfrm>
            <a:off x="635458" y="4519970"/>
            <a:ext cx="4571797" cy="26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806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Dengue clusters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17" name="Shape 19">
            <a:extLst>
              <a:ext uri="{FF2B5EF4-FFF2-40B4-BE49-F238E27FC236}">
                <a16:creationId xmlns:a16="http://schemas.microsoft.com/office/drawing/2014/main" id="{2EC34EE1-8BF5-5DF3-D1B7-0243B6A2B3A7}"/>
              </a:ext>
            </a:extLst>
          </p:cNvPr>
          <p:cNvSpPr/>
          <p:nvPr/>
        </p:nvSpPr>
        <p:spPr>
          <a:xfrm>
            <a:off x="411181" y="4962809"/>
            <a:ext cx="4830578" cy="664260"/>
          </a:xfrm>
          <a:prstGeom prst="roundRect">
            <a:avLst>
              <a:gd name="adj" fmla="val 13333"/>
            </a:avLst>
          </a:prstGeom>
          <a:solidFill>
            <a:srgbClr val="2A1A08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18" name="Text 20">
            <a:extLst>
              <a:ext uri="{FF2B5EF4-FFF2-40B4-BE49-F238E27FC236}">
                <a16:creationId xmlns:a16="http://schemas.microsoft.com/office/drawing/2014/main" id="{392B31A9-3CA1-E2BA-B085-C69A567CF553}"/>
              </a:ext>
            </a:extLst>
          </p:cNvPr>
          <p:cNvSpPr/>
          <p:nvPr/>
        </p:nvSpPr>
        <p:spPr>
          <a:xfrm>
            <a:off x="635458" y="5021855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4885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MSS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19" name="Text 21">
            <a:extLst>
              <a:ext uri="{FF2B5EF4-FFF2-40B4-BE49-F238E27FC236}">
                <a16:creationId xmlns:a16="http://schemas.microsoft.com/office/drawing/2014/main" id="{48BAAE8A-E1AE-FD40-5E1F-1A8764245029}"/>
              </a:ext>
            </a:extLst>
          </p:cNvPr>
          <p:cNvSpPr/>
          <p:nvPr/>
        </p:nvSpPr>
        <p:spPr>
          <a:xfrm>
            <a:off x="635458" y="5287559"/>
            <a:ext cx="4571797" cy="26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806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Weather stations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20" name="Shape 22">
            <a:extLst>
              <a:ext uri="{FF2B5EF4-FFF2-40B4-BE49-F238E27FC236}">
                <a16:creationId xmlns:a16="http://schemas.microsoft.com/office/drawing/2014/main" id="{FB8621DD-8DDD-AF88-66DC-F93F67D511E1}"/>
              </a:ext>
            </a:extLst>
          </p:cNvPr>
          <p:cNvSpPr/>
          <p:nvPr/>
        </p:nvSpPr>
        <p:spPr>
          <a:xfrm>
            <a:off x="411181" y="5730399"/>
            <a:ext cx="4830578" cy="664260"/>
          </a:xfrm>
          <a:prstGeom prst="roundRect">
            <a:avLst>
              <a:gd name="adj" fmla="val 13333"/>
            </a:avLst>
          </a:prstGeom>
          <a:solidFill>
            <a:srgbClr val="2A1A08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21" name="Text 23">
            <a:extLst>
              <a:ext uri="{FF2B5EF4-FFF2-40B4-BE49-F238E27FC236}">
                <a16:creationId xmlns:a16="http://schemas.microsoft.com/office/drawing/2014/main" id="{18D4A66A-C6B9-695A-01F1-322F5E16A467}"/>
              </a:ext>
            </a:extLst>
          </p:cNvPr>
          <p:cNvSpPr/>
          <p:nvPr/>
        </p:nvSpPr>
        <p:spPr>
          <a:xfrm>
            <a:off x="635458" y="5789444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4885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SingStat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22" name="Text 24">
            <a:extLst>
              <a:ext uri="{FF2B5EF4-FFF2-40B4-BE49-F238E27FC236}">
                <a16:creationId xmlns:a16="http://schemas.microsoft.com/office/drawing/2014/main" id="{B56622F2-6CFB-9E97-F45B-2D87B7F29991}"/>
              </a:ext>
            </a:extLst>
          </p:cNvPr>
          <p:cNvSpPr/>
          <p:nvPr/>
        </p:nvSpPr>
        <p:spPr>
          <a:xfrm>
            <a:off x="635458" y="6055148"/>
            <a:ext cx="4571797" cy="26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806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Population census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23" name="Shape 25">
            <a:extLst>
              <a:ext uri="{FF2B5EF4-FFF2-40B4-BE49-F238E27FC236}">
                <a16:creationId xmlns:a16="http://schemas.microsoft.com/office/drawing/2014/main" id="{62B5D5CF-0B61-3482-D58D-AAC063765230}"/>
              </a:ext>
            </a:extLst>
          </p:cNvPr>
          <p:cNvSpPr/>
          <p:nvPr/>
        </p:nvSpPr>
        <p:spPr>
          <a:xfrm>
            <a:off x="411181" y="6497988"/>
            <a:ext cx="4830578" cy="664260"/>
          </a:xfrm>
          <a:prstGeom prst="roundRect">
            <a:avLst>
              <a:gd name="adj" fmla="val 13333"/>
            </a:avLst>
          </a:prstGeom>
          <a:solidFill>
            <a:srgbClr val="2A1A08"/>
          </a:solidFill>
          <a:ln w="12700">
            <a:solidFill>
              <a:srgbClr val="8B5E3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24" name="Text 26">
            <a:extLst>
              <a:ext uri="{FF2B5EF4-FFF2-40B4-BE49-F238E27FC236}">
                <a16:creationId xmlns:a16="http://schemas.microsoft.com/office/drawing/2014/main" id="{AAF90204-18B1-1176-40DD-01C1AB3A9789}"/>
              </a:ext>
            </a:extLst>
          </p:cNvPr>
          <p:cNvSpPr/>
          <p:nvPr/>
        </p:nvSpPr>
        <p:spPr>
          <a:xfrm>
            <a:off x="635458" y="6557033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4885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URA GEO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25" name="Text 27">
            <a:extLst>
              <a:ext uri="{FF2B5EF4-FFF2-40B4-BE49-F238E27FC236}">
                <a16:creationId xmlns:a16="http://schemas.microsoft.com/office/drawing/2014/main" id="{66F90D74-E6DA-20B9-9A20-7DC9E0AD31DC}"/>
              </a:ext>
            </a:extLst>
          </p:cNvPr>
          <p:cNvSpPr/>
          <p:nvPr/>
        </p:nvSpPr>
        <p:spPr>
          <a:xfrm>
            <a:off x="635458" y="6822737"/>
            <a:ext cx="4571797" cy="265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806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Subzone boundaries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26" name="Text 28">
            <a:extLst>
              <a:ext uri="{FF2B5EF4-FFF2-40B4-BE49-F238E27FC236}">
                <a16:creationId xmlns:a16="http://schemas.microsoft.com/office/drawing/2014/main" id="{92945113-8DBA-1F60-6F59-BE42E9E18E30}"/>
              </a:ext>
            </a:extLst>
          </p:cNvPr>
          <p:cNvSpPr/>
          <p:nvPr/>
        </p:nvSpPr>
        <p:spPr>
          <a:xfrm>
            <a:off x="411181" y="7339383"/>
            <a:ext cx="4830578" cy="8118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90705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Responsibility: Load · Schema · Type-cast</a:t>
            </a:r>
            <a:endParaRPr lang="en-US" dirty="0">
              <a:latin typeface="Nunito" pitchFamily="2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90705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No filtering or cleaning at this stage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27" name="Text 29">
            <a:extLst>
              <a:ext uri="{FF2B5EF4-FFF2-40B4-BE49-F238E27FC236}">
                <a16:creationId xmlns:a16="http://schemas.microsoft.com/office/drawing/2014/main" id="{EEA8E293-1940-44CD-D306-6FD3809BCEA4}"/>
              </a:ext>
            </a:extLst>
          </p:cNvPr>
          <p:cNvSpPr/>
          <p:nvPr/>
        </p:nvSpPr>
        <p:spPr>
          <a:xfrm>
            <a:off x="411181" y="9184549"/>
            <a:ext cx="4830578" cy="442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B5E3C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Output: BRONZE_*.csv + .geojson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28" name="Text 30">
            <a:extLst>
              <a:ext uri="{FF2B5EF4-FFF2-40B4-BE49-F238E27FC236}">
                <a16:creationId xmlns:a16="http://schemas.microsoft.com/office/drawing/2014/main" id="{9EF512E3-FA5E-3FFF-AD7E-1815E775B177}"/>
              </a:ext>
            </a:extLst>
          </p:cNvPr>
          <p:cNvSpPr/>
          <p:nvPr/>
        </p:nvSpPr>
        <p:spPr>
          <a:xfrm>
            <a:off x="6104362" y="3752381"/>
            <a:ext cx="4830578" cy="442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8D0E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Cleaning Rules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129" name="Shape 31">
            <a:extLst>
              <a:ext uri="{FF2B5EF4-FFF2-40B4-BE49-F238E27FC236}">
                <a16:creationId xmlns:a16="http://schemas.microsoft.com/office/drawing/2014/main" id="{3D7CF326-E054-39AF-6E8C-CDDEE6D259FE}"/>
              </a:ext>
            </a:extLst>
          </p:cNvPr>
          <p:cNvSpPr/>
          <p:nvPr/>
        </p:nvSpPr>
        <p:spPr>
          <a:xfrm>
            <a:off x="6104362" y="4195220"/>
            <a:ext cx="4830578" cy="1062816"/>
          </a:xfrm>
          <a:prstGeom prst="roundRect">
            <a:avLst>
              <a:gd name="adj" fmla="val 8333"/>
            </a:avLst>
          </a:prstGeom>
          <a:solidFill>
            <a:srgbClr val="111C26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30" name="Text 32">
            <a:extLst>
              <a:ext uri="{FF2B5EF4-FFF2-40B4-BE49-F238E27FC236}">
                <a16:creationId xmlns:a16="http://schemas.microsoft.com/office/drawing/2014/main" id="{78981F4A-40A2-8DAB-5C9D-C6C601C84AC3}"/>
              </a:ext>
            </a:extLst>
          </p:cNvPr>
          <p:cNvSpPr/>
          <p:nvPr/>
        </p:nvSpPr>
        <p:spPr>
          <a:xfrm>
            <a:off x="6328639" y="4269027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D0E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31" name="Text 33">
            <a:extLst>
              <a:ext uri="{FF2B5EF4-FFF2-40B4-BE49-F238E27FC236}">
                <a16:creationId xmlns:a16="http://schemas.microsoft.com/office/drawing/2014/main" id="{20B45EBB-0C91-8E8D-11EB-BB8B9F18B1F0}"/>
              </a:ext>
            </a:extLst>
          </p:cNvPr>
          <p:cNvSpPr/>
          <p:nvPr/>
        </p:nvSpPr>
        <p:spPr>
          <a:xfrm>
            <a:off x="6328639" y="4564254"/>
            <a:ext cx="4571797" cy="61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Folder filter → bbox filter (SG)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Drop zero-cases → deduplicate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32" name="Shape 34">
            <a:extLst>
              <a:ext uri="{FF2B5EF4-FFF2-40B4-BE49-F238E27FC236}">
                <a16:creationId xmlns:a16="http://schemas.microsoft.com/office/drawing/2014/main" id="{00FD7343-6498-9846-E492-84852A3D90EA}"/>
              </a:ext>
            </a:extLst>
          </p:cNvPr>
          <p:cNvSpPr/>
          <p:nvPr/>
        </p:nvSpPr>
        <p:spPr>
          <a:xfrm>
            <a:off x="6104362" y="5361365"/>
            <a:ext cx="4830578" cy="1062816"/>
          </a:xfrm>
          <a:prstGeom prst="roundRect">
            <a:avLst>
              <a:gd name="adj" fmla="val 8333"/>
            </a:avLst>
          </a:prstGeom>
          <a:solidFill>
            <a:srgbClr val="111C26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33" name="Text 35">
            <a:extLst>
              <a:ext uri="{FF2B5EF4-FFF2-40B4-BE49-F238E27FC236}">
                <a16:creationId xmlns:a16="http://schemas.microsoft.com/office/drawing/2014/main" id="{CE5A2903-0002-CD92-6F43-EE88E4B4E874}"/>
              </a:ext>
            </a:extLst>
          </p:cNvPr>
          <p:cNvSpPr/>
          <p:nvPr/>
        </p:nvSpPr>
        <p:spPr>
          <a:xfrm>
            <a:off x="6328639" y="5435172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D0E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34" name="Text 36">
            <a:extLst>
              <a:ext uri="{FF2B5EF4-FFF2-40B4-BE49-F238E27FC236}">
                <a16:creationId xmlns:a16="http://schemas.microsoft.com/office/drawing/2014/main" id="{91572CAA-222C-1510-BBBC-9D98F77C9DB3}"/>
              </a:ext>
            </a:extLst>
          </p:cNvPr>
          <p:cNvSpPr/>
          <p:nvPr/>
        </p:nvSpPr>
        <p:spPr>
          <a:xfrm>
            <a:off x="6328639" y="5730399"/>
            <a:ext cx="4571797" cy="61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Drop sparse temp/wind cols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Cap outliers &gt;300mm/day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Aggregate to daily SG-wide mean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35" name="Shape 37">
            <a:extLst>
              <a:ext uri="{FF2B5EF4-FFF2-40B4-BE49-F238E27FC236}">
                <a16:creationId xmlns:a16="http://schemas.microsoft.com/office/drawing/2014/main" id="{293446E3-2BD7-1071-1A9A-4E52B7A3B149}"/>
              </a:ext>
            </a:extLst>
          </p:cNvPr>
          <p:cNvSpPr/>
          <p:nvPr/>
        </p:nvSpPr>
        <p:spPr>
          <a:xfrm>
            <a:off x="6104362" y="6527510"/>
            <a:ext cx="4830578" cy="1062816"/>
          </a:xfrm>
          <a:prstGeom prst="roundRect">
            <a:avLst>
              <a:gd name="adj" fmla="val 8333"/>
            </a:avLst>
          </a:prstGeom>
          <a:solidFill>
            <a:srgbClr val="111C26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36" name="Text 38">
            <a:extLst>
              <a:ext uri="{FF2B5EF4-FFF2-40B4-BE49-F238E27FC236}">
                <a16:creationId xmlns:a16="http://schemas.microsoft.com/office/drawing/2014/main" id="{24B90ACD-A87C-3BAD-CEF9-5B74C8337A4A}"/>
              </a:ext>
            </a:extLst>
          </p:cNvPr>
          <p:cNvSpPr/>
          <p:nvPr/>
        </p:nvSpPr>
        <p:spPr>
          <a:xfrm>
            <a:off x="6328639" y="6601317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D0E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37" name="Text 39">
            <a:extLst>
              <a:ext uri="{FF2B5EF4-FFF2-40B4-BE49-F238E27FC236}">
                <a16:creationId xmlns:a16="http://schemas.microsoft.com/office/drawing/2014/main" id="{1EF4B789-6417-9CE4-26F1-6BCE1831DD14}"/>
              </a:ext>
            </a:extLst>
          </p:cNvPr>
          <p:cNvSpPr/>
          <p:nvPr/>
        </p:nvSpPr>
        <p:spPr>
          <a:xfrm>
            <a:off x="6328639" y="6896543"/>
            <a:ext cx="4571797" cy="61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Standardise names (UPPER)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Drop zero-pop subzones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Derive elderly_pct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38" name="Shape 40">
            <a:extLst>
              <a:ext uri="{FF2B5EF4-FFF2-40B4-BE49-F238E27FC236}">
                <a16:creationId xmlns:a16="http://schemas.microsoft.com/office/drawing/2014/main" id="{4E4180EC-C32E-F5BC-EF75-23D951B420B7}"/>
              </a:ext>
            </a:extLst>
          </p:cNvPr>
          <p:cNvSpPr/>
          <p:nvPr/>
        </p:nvSpPr>
        <p:spPr>
          <a:xfrm>
            <a:off x="6104362" y="7693655"/>
            <a:ext cx="4830578" cy="1062816"/>
          </a:xfrm>
          <a:prstGeom prst="roundRect">
            <a:avLst>
              <a:gd name="adj" fmla="val 8333"/>
            </a:avLst>
          </a:prstGeom>
          <a:solidFill>
            <a:srgbClr val="111C26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39" name="Text 41">
            <a:extLst>
              <a:ext uri="{FF2B5EF4-FFF2-40B4-BE49-F238E27FC236}">
                <a16:creationId xmlns:a16="http://schemas.microsoft.com/office/drawing/2014/main" id="{BCD46BBE-0765-5BB5-516B-5F95CE275561}"/>
              </a:ext>
            </a:extLst>
          </p:cNvPr>
          <p:cNvSpPr/>
          <p:nvPr/>
        </p:nvSpPr>
        <p:spPr>
          <a:xfrm>
            <a:off x="6328639" y="7767462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8D0E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Geodata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40" name="Text 42">
            <a:extLst>
              <a:ext uri="{FF2B5EF4-FFF2-40B4-BE49-F238E27FC236}">
                <a16:creationId xmlns:a16="http://schemas.microsoft.com/office/drawing/2014/main" id="{138B895D-1E1F-FBB7-D063-EA13F43EFCFF}"/>
              </a:ext>
            </a:extLst>
          </p:cNvPr>
          <p:cNvSpPr/>
          <p:nvPr/>
        </p:nvSpPr>
        <p:spPr>
          <a:xfrm>
            <a:off x="6328639" y="8062688"/>
            <a:ext cx="4571797" cy="61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Filter 49 non-residential zones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Repair geometries · Compute area_km²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7090A8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Store in WGS84 + SVY21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41" name="Text 43">
            <a:extLst>
              <a:ext uri="{FF2B5EF4-FFF2-40B4-BE49-F238E27FC236}">
                <a16:creationId xmlns:a16="http://schemas.microsoft.com/office/drawing/2014/main" id="{6AB447DE-4C9A-B019-64A1-83EA63B7E72A}"/>
              </a:ext>
            </a:extLst>
          </p:cNvPr>
          <p:cNvSpPr/>
          <p:nvPr/>
        </p:nvSpPr>
        <p:spPr>
          <a:xfrm>
            <a:off x="6104362" y="9184549"/>
            <a:ext cx="4830578" cy="442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FA3B1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Output: *_clean.csv + subzones_clean.geojson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42" name="Text 44">
            <a:extLst>
              <a:ext uri="{FF2B5EF4-FFF2-40B4-BE49-F238E27FC236}">
                <a16:creationId xmlns:a16="http://schemas.microsoft.com/office/drawing/2014/main" id="{D455A1B9-7826-B999-972D-AA7A60677CCE}"/>
              </a:ext>
            </a:extLst>
          </p:cNvPr>
          <p:cNvSpPr/>
          <p:nvPr/>
        </p:nvSpPr>
        <p:spPr>
          <a:xfrm>
            <a:off x="11797544" y="3752381"/>
            <a:ext cx="4830578" cy="442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CC6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Feature Groups (subzone × snapshot)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143" name="Shape 45">
            <a:extLst>
              <a:ext uri="{FF2B5EF4-FFF2-40B4-BE49-F238E27FC236}">
                <a16:creationId xmlns:a16="http://schemas.microsoft.com/office/drawing/2014/main" id="{86332035-DB6C-B5B8-AFB6-387B5AA0D672}"/>
              </a:ext>
            </a:extLst>
          </p:cNvPr>
          <p:cNvSpPr/>
          <p:nvPr/>
        </p:nvSpPr>
        <p:spPr>
          <a:xfrm>
            <a:off x="11797544" y="4195220"/>
            <a:ext cx="4830578" cy="885680"/>
          </a:xfrm>
          <a:prstGeom prst="roundRect">
            <a:avLst>
              <a:gd name="adj" fmla="val 10000"/>
            </a:avLst>
          </a:prstGeom>
          <a:solidFill>
            <a:srgbClr val="1A140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44" name="Text 46">
            <a:extLst>
              <a:ext uri="{FF2B5EF4-FFF2-40B4-BE49-F238E27FC236}">
                <a16:creationId xmlns:a16="http://schemas.microsoft.com/office/drawing/2014/main" id="{63896956-0F99-2D59-492D-349850D82AAE}"/>
              </a:ext>
            </a:extLst>
          </p:cNvPr>
          <p:cNvSpPr/>
          <p:nvPr/>
        </p:nvSpPr>
        <p:spPr>
          <a:xfrm>
            <a:off x="12021821" y="4254266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CC6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Weather Lags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45" name="Text 47">
            <a:extLst>
              <a:ext uri="{FF2B5EF4-FFF2-40B4-BE49-F238E27FC236}">
                <a16:creationId xmlns:a16="http://schemas.microsoft.com/office/drawing/2014/main" id="{4F6A7C2D-3371-6F3B-32C5-E2E93A0D2FC6}"/>
              </a:ext>
            </a:extLst>
          </p:cNvPr>
          <p:cNvSpPr/>
          <p:nvPr/>
        </p:nvSpPr>
        <p:spPr>
          <a:xfrm>
            <a:off x="12021821" y="4549492"/>
            <a:ext cx="4571797" cy="501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804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rainfall_lag1w / 2w / 4w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A804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(mosquito 10-14d incubation)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46" name="Shape 48">
            <a:extLst>
              <a:ext uri="{FF2B5EF4-FFF2-40B4-BE49-F238E27FC236}">
                <a16:creationId xmlns:a16="http://schemas.microsoft.com/office/drawing/2014/main" id="{E3E140BA-1EA3-A705-C117-2FAC6EF94C31}"/>
              </a:ext>
            </a:extLst>
          </p:cNvPr>
          <p:cNvSpPr/>
          <p:nvPr/>
        </p:nvSpPr>
        <p:spPr>
          <a:xfrm>
            <a:off x="11797544" y="5184229"/>
            <a:ext cx="4830578" cy="885680"/>
          </a:xfrm>
          <a:prstGeom prst="roundRect">
            <a:avLst>
              <a:gd name="adj" fmla="val 10000"/>
            </a:avLst>
          </a:prstGeom>
          <a:solidFill>
            <a:srgbClr val="1A140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47" name="Text 49">
            <a:extLst>
              <a:ext uri="{FF2B5EF4-FFF2-40B4-BE49-F238E27FC236}">
                <a16:creationId xmlns:a16="http://schemas.microsoft.com/office/drawing/2014/main" id="{3F07D415-E828-14E9-68AA-6A200DACD65B}"/>
              </a:ext>
            </a:extLst>
          </p:cNvPr>
          <p:cNvSpPr/>
          <p:nvPr/>
        </p:nvSpPr>
        <p:spPr>
          <a:xfrm>
            <a:off x="12021821" y="5243275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CC6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Cluster Rolling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48" name="Text 50">
            <a:extLst>
              <a:ext uri="{FF2B5EF4-FFF2-40B4-BE49-F238E27FC236}">
                <a16:creationId xmlns:a16="http://schemas.microsoft.com/office/drawing/2014/main" id="{7A8AA38E-4412-6538-C727-D73D37185FD6}"/>
              </a:ext>
            </a:extLst>
          </p:cNvPr>
          <p:cNvSpPr/>
          <p:nvPr/>
        </p:nvSpPr>
        <p:spPr>
          <a:xfrm>
            <a:off x="12021821" y="5538501"/>
            <a:ext cx="4571797" cy="501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804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cluster_count_rolling2w / 4w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A804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(island-wide momentum)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49" name="Shape 51">
            <a:extLst>
              <a:ext uri="{FF2B5EF4-FFF2-40B4-BE49-F238E27FC236}">
                <a16:creationId xmlns:a16="http://schemas.microsoft.com/office/drawing/2014/main" id="{76BB7925-DC0C-2505-DCDD-E3029B33A648}"/>
              </a:ext>
            </a:extLst>
          </p:cNvPr>
          <p:cNvSpPr/>
          <p:nvPr/>
        </p:nvSpPr>
        <p:spPr>
          <a:xfrm>
            <a:off x="11797544" y="6173238"/>
            <a:ext cx="4830578" cy="885680"/>
          </a:xfrm>
          <a:prstGeom prst="roundRect">
            <a:avLst>
              <a:gd name="adj" fmla="val 10000"/>
            </a:avLst>
          </a:prstGeom>
          <a:solidFill>
            <a:srgbClr val="1A140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50" name="Text 52">
            <a:extLst>
              <a:ext uri="{FF2B5EF4-FFF2-40B4-BE49-F238E27FC236}">
                <a16:creationId xmlns:a16="http://schemas.microsoft.com/office/drawing/2014/main" id="{423FA4C0-4FC5-5895-A1A2-7A717F92544D}"/>
              </a:ext>
            </a:extLst>
          </p:cNvPr>
          <p:cNvSpPr/>
          <p:nvPr/>
        </p:nvSpPr>
        <p:spPr>
          <a:xfrm>
            <a:off x="12021821" y="6232284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CC6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51" name="Text 53">
            <a:extLst>
              <a:ext uri="{FF2B5EF4-FFF2-40B4-BE49-F238E27FC236}">
                <a16:creationId xmlns:a16="http://schemas.microsoft.com/office/drawing/2014/main" id="{63CEB7A6-790B-5AB5-66EF-BF1ECA5562CA}"/>
              </a:ext>
            </a:extLst>
          </p:cNvPr>
          <p:cNvSpPr/>
          <p:nvPr/>
        </p:nvSpPr>
        <p:spPr>
          <a:xfrm>
            <a:off x="12021821" y="6527510"/>
            <a:ext cx="4571797" cy="501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804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active_cluster_overlap (0/1)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A804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cluster_proximity (&lt;2km)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52" name="Shape 54">
            <a:extLst>
              <a:ext uri="{FF2B5EF4-FFF2-40B4-BE49-F238E27FC236}">
                <a16:creationId xmlns:a16="http://schemas.microsoft.com/office/drawing/2014/main" id="{1BEAD7C0-A7C8-E6B0-78BF-BBC01743059F}"/>
              </a:ext>
            </a:extLst>
          </p:cNvPr>
          <p:cNvSpPr/>
          <p:nvPr/>
        </p:nvSpPr>
        <p:spPr>
          <a:xfrm>
            <a:off x="11797544" y="7162247"/>
            <a:ext cx="4830578" cy="885680"/>
          </a:xfrm>
          <a:prstGeom prst="roundRect">
            <a:avLst>
              <a:gd name="adj" fmla="val 10000"/>
            </a:avLst>
          </a:prstGeom>
          <a:solidFill>
            <a:srgbClr val="1A140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53" name="Text 55">
            <a:extLst>
              <a:ext uri="{FF2B5EF4-FFF2-40B4-BE49-F238E27FC236}">
                <a16:creationId xmlns:a16="http://schemas.microsoft.com/office/drawing/2014/main" id="{C5E83B30-109C-D15C-1E82-73A0ED4AE0E3}"/>
              </a:ext>
            </a:extLst>
          </p:cNvPr>
          <p:cNvSpPr/>
          <p:nvPr/>
        </p:nvSpPr>
        <p:spPr>
          <a:xfrm>
            <a:off x="12021821" y="7221293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CC6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54" name="Text 56">
            <a:extLst>
              <a:ext uri="{FF2B5EF4-FFF2-40B4-BE49-F238E27FC236}">
                <a16:creationId xmlns:a16="http://schemas.microsoft.com/office/drawing/2014/main" id="{918A395C-BE0D-D332-018C-25CA09AB7C9B}"/>
              </a:ext>
            </a:extLst>
          </p:cNvPr>
          <p:cNvSpPr/>
          <p:nvPr/>
        </p:nvSpPr>
        <p:spPr>
          <a:xfrm>
            <a:off x="12021821" y="7516519"/>
            <a:ext cx="4571797" cy="501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804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population_density · elderly_pct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A804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vulnerability_index (PCA-weighted)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55" name="Shape 57">
            <a:extLst>
              <a:ext uri="{FF2B5EF4-FFF2-40B4-BE49-F238E27FC236}">
                <a16:creationId xmlns:a16="http://schemas.microsoft.com/office/drawing/2014/main" id="{BE5EA875-D3AE-A86B-DD93-9A72D0AEBB8F}"/>
              </a:ext>
            </a:extLst>
          </p:cNvPr>
          <p:cNvSpPr/>
          <p:nvPr/>
        </p:nvSpPr>
        <p:spPr>
          <a:xfrm>
            <a:off x="11797544" y="8151256"/>
            <a:ext cx="4830578" cy="885680"/>
          </a:xfrm>
          <a:prstGeom prst="roundRect">
            <a:avLst>
              <a:gd name="adj" fmla="val 10000"/>
            </a:avLst>
          </a:prstGeom>
          <a:solidFill>
            <a:srgbClr val="1A140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SG" sz="4400">
              <a:latin typeface="Nunito" pitchFamily="2" charset="0"/>
            </a:endParaRPr>
          </a:p>
        </p:txBody>
      </p:sp>
      <p:sp>
        <p:nvSpPr>
          <p:cNvPr id="156" name="Text 58">
            <a:extLst>
              <a:ext uri="{FF2B5EF4-FFF2-40B4-BE49-F238E27FC236}">
                <a16:creationId xmlns:a16="http://schemas.microsoft.com/office/drawing/2014/main" id="{9D1221ED-0A92-3F5B-555C-D2F39EDD5A42}"/>
              </a:ext>
            </a:extLst>
          </p:cNvPr>
          <p:cNvSpPr/>
          <p:nvPr/>
        </p:nvSpPr>
        <p:spPr>
          <a:xfrm>
            <a:off x="12021821" y="8210301"/>
            <a:ext cx="4571797" cy="295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CC6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Label</a:t>
            </a:r>
            <a:endParaRPr lang="en-US" dirty="0">
              <a:latin typeface="Nunito" pitchFamily="2" charset="0"/>
            </a:endParaRPr>
          </a:p>
        </p:txBody>
      </p:sp>
      <p:sp>
        <p:nvSpPr>
          <p:cNvPr id="157" name="Text 59">
            <a:extLst>
              <a:ext uri="{FF2B5EF4-FFF2-40B4-BE49-F238E27FC236}">
                <a16:creationId xmlns:a16="http://schemas.microsoft.com/office/drawing/2014/main" id="{EA612E81-4B08-7850-2F1F-0712A4EA5AB0}"/>
              </a:ext>
            </a:extLst>
          </p:cNvPr>
          <p:cNvSpPr/>
          <p:nvPr/>
        </p:nvSpPr>
        <p:spPr>
          <a:xfrm>
            <a:off x="12021821" y="8505528"/>
            <a:ext cx="4571797" cy="501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804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label = 1 if cluster overlaps</a:t>
            </a:r>
            <a:endParaRPr lang="en-US" sz="1600" dirty="0">
              <a:latin typeface="Nunito" pitchFamily="2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A804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subzone in next 14 days →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158" name="Text 60">
            <a:extLst>
              <a:ext uri="{FF2B5EF4-FFF2-40B4-BE49-F238E27FC236}">
                <a16:creationId xmlns:a16="http://schemas.microsoft.com/office/drawing/2014/main" id="{A6E6F7FC-B8D3-0E78-5833-594A603D491A}"/>
              </a:ext>
            </a:extLst>
          </p:cNvPr>
          <p:cNvSpPr/>
          <p:nvPr/>
        </p:nvSpPr>
        <p:spPr>
          <a:xfrm>
            <a:off x="11797544" y="9184549"/>
            <a:ext cx="4830578" cy="442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A84C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Output: gold/subzone_features.parquet</a:t>
            </a:r>
            <a:endParaRPr lang="en-US" sz="1600" dirty="0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68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3BD0F-FE25-8C97-DF1A-520334A1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3BFDFB8F-B962-BE82-6E2A-5057913A5E35}"/>
              </a:ext>
            </a:extLst>
          </p:cNvPr>
          <p:cNvSpPr txBox="1"/>
          <p:nvPr/>
        </p:nvSpPr>
        <p:spPr>
          <a:xfrm>
            <a:off x="152400" y="571500"/>
            <a:ext cx="16459200" cy="116339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lang="en-SG" sz="6600" b="1" dirty="0">
                <a:solidFill>
                  <a:srgbClr val="303870"/>
                </a:solidFill>
                <a:latin typeface="Agrandir Wide Bold"/>
              </a:rPr>
              <a:t>System Architecture</a:t>
            </a:r>
            <a:endParaRPr sz="6600" b="1" dirty="0">
              <a:solidFill>
                <a:srgbClr val="303870"/>
              </a:solidFill>
              <a:latin typeface="Agrandir Wide Bold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1614AA-173F-5DF2-26EC-876F8A952D8F}"/>
              </a:ext>
            </a:extLst>
          </p:cNvPr>
          <p:cNvSpPr/>
          <p:nvPr/>
        </p:nvSpPr>
        <p:spPr>
          <a:xfrm>
            <a:off x="335280" y="1652598"/>
            <a:ext cx="1627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i="1" dirty="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Four stages that run continuously — not a one-time training script</a:t>
            </a:r>
            <a:endParaRPr lang="en-US" sz="2600" dirty="0">
              <a:latin typeface="Nunito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05CE3F6-D2A0-7AD8-F92F-337829F2080C}"/>
              </a:ext>
            </a:extLst>
          </p:cNvPr>
          <p:cNvSpPr/>
          <p:nvPr/>
        </p:nvSpPr>
        <p:spPr>
          <a:xfrm>
            <a:off x="499353" y="2895406"/>
            <a:ext cx="3566160" cy="30723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555D19-05C9-E668-7466-12C828572D30}"/>
              </a:ext>
            </a:extLst>
          </p:cNvPr>
          <p:cNvSpPr/>
          <p:nvPr/>
        </p:nvSpPr>
        <p:spPr>
          <a:xfrm>
            <a:off x="1715505" y="3151438"/>
            <a:ext cx="1133856" cy="1133856"/>
          </a:xfrm>
          <a:prstGeom prst="ellipse">
            <a:avLst/>
          </a:prstGeom>
          <a:solidFill>
            <a:srgbClr val="1B8A80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276B9794-E0A4-DBA8-4B1E-C5C7B82CB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632" y="3423565"/>
            <a:ext cx="589606" cy="589606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9DDEC161-7428-E7FC-FAC4-2B4BC7CD21D7}"/>
              </a:ext>
            </a:extLst>
          </p:cNvPr>
          <p:cNvSpPr/>
          <p:nvPr/>
        </p:nvSpPr>
        <p:spPr>
          <a:xfrm>
            <a:off x="590793" y="443159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b="1">
                <a:solidFill>
                  <a:srgbClr val="0E5C56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2500">
              <a:latin typeface="Nunito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CE7902E-0F7F-5752-AC7E-09B849FBE292}"/>
              </a:ext>
            </a:extLst>
          </p:cNvPr>
          <p:cNvSpPr/>
          <p:nvPr/>
        </p:nvSpPr>
        <p:spPr>
          <a:xfrm>
            <a:off x="682233" y="490708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1740" dirty="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SMOTE + time-series CV +</a:t>
            </a:r>
            <a:endParaRPr lang="en-US" sz="1740" dirty="0">
              <a:latin typeface="Nunito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740" dirty="0" err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Optuna</a:t>
            </a:r>
            <a:r>
              <a:rPr lang="en-US" sz="1740" dirty="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 HPT over</a:t>
            </a:r>
            <a:endParaRPr lang="en-US" sz="1740" dirty="0">
              <a:latin typeface="Nunito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740" dirty="0" err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740" dirty="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740" dirty="0" err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740" dirty="0">
              <a:latin typeface="Nunito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0542385-DCC3-398B-ACCD-1BFF5DAA784C}"/>
              </a:ext>
            </a:extLst>
          </p:cNvPr>
          <p:cNvSpPr/>
          <p:nvPr/>
        </p:nvSpPr>
        <p:spPr>
          <a:xfrm>
            <a:off x="4120378" y="4248718"/>
            <a:ext cx="524866" cy="365760"/>
          </a:xfrm>
          <a:prstGeom prst="rightArrow">
            <a:avLst/>
          </a:prstGeom>
          <a:solidFill>
            <a:srgbClr val="1B8A80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F788AED-E3C2-6AE7-8E18-1E8070B38838}"/>
              </a:ext>
            </a:extLst>
          </p:cNvPr>
          <p:cNvSpPr/>
          <p:nvPr/>
        </p:nvSpPr>
        <p:spPr>
          <a:xfrm>
            <a:off x="4700107" y="2895406"/>
            <a:ext cx="3566160" cy="30723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70BB79A-D3CD-ABFB-1B79-13897601CE26}"/>
              </a:ext>
            </a:extLst>
          </p:cNvPr>
          <p:cNvSpPr/>
          <p:nvPr/>
        </p:nvSpPr>
        <p:spPr>
          <a:xfrm>
            <a:off x="5916259" y="3151438"/>
            <a:ext cx="1133856" cy="1133856"/>
          </a:xfrm>
          <a:prstGeom prst="ellipse">
            <a:avLst/>
          </a:prstGeom>
          <a:solidFill>
            <a:srgbClr val="1B8A80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AA6A9477-BB06-E36C-D6AB-9646EE300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384" y="3423565"/>
            <a:ext cx="589606" cy="589606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36682EBE-E07D-90F1-7183-83CF467AB2F0}"/>
              </a:ext>
            </a:extLst>
          </p:cNvPr>
          <p:cNvSpPr/>
          <p:nvPr/>
        </p:nvSpPr>
        <p:spPr>
          <a:xfrm>
            <a:off x="4791547" y="443159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b="1">
                <a:solidFill>
                  <a:srgbClr val="0E5C56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EVALUATE &amp; GATE</a:t>
            </a:r>
            <a:endParaRPr lang="en-US" sz="2500">
              <a:latin typeface="Nunito" pitchFamily="2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28B2908-C2FB-8505-7208-D3692D05E4A2}"/>
              </a:ext>
            </a:extLst>
          </p:cNvPr>
          <p:cNvSpPr/>
          <p:nvPr/>
        </p:nvSpPr>
        <p:spPr>
          <a:xfrm>
            <a:off x="4882987" y="490708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174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Test + OOT metrics vs.</a:t>
            </a:r>
            <a:endParaRPr lang="en-US" sz="1740">
              <a:latin typeface="Nunito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74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a 4-criteria promotion</a:t>
            </a:r>
            <a:endParaRPr lang="en-US" sz="1740">
              <a:latin typeface="Nunito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74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gate (MLflow registry)</a:t>
            </a:r>
            <a:endParaRPr lang="en-US" sz="1740">
              <a:latin typeface="Nunito" pitchFamily="2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A3C335C7-610B-09EF-84EF-009ED0DC2630}"/>
              </a:ext>
            </a:extLst>
          </p:cNvPr>
          <p:cNvSpPr/>
          <p:nvPr/>
        </p:nvSpPr>
        <p:spPr>
          <a:xfrm>
            <a:off x="8321132" y="4248718"/>
            <a:ext cx="524866" cy="365760"/>
          </a:xfrm>
          <a:prstGeom prst="rightArrow">
            <a:avLst/>
          </a:prstGeom>
          <a:solidFill>
            <a:srgbClr val="1B8A80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FEFD96D6-251F-01E5-AFE1-0828111AF941}"/>
              </a:ext>
            </a:extLst>
          </p:cNvPr>
          <p:cNvSpPr/>
          <p:nvPr/>
        </p:nvSpPr>
        <p:spPr>
          <a:xfrm>
            <a:off x="8900859" y="2895406"/>
            <a:ext cx="3566160" cy="30723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4802628-01D2-F1D4-F99F-EF9221306C68}"/>
              </a:ext>
            </a:extLst>
          </p:cNvPr>
          <p:cNvSpPr/>
          <p:nvPr/>
        </p:nvSpPr>
        <p:spPr>
          <a:xfrm>
            <a:off x="10117011" y="3151438"/>
            <a:ext cx="1133856" cy="1133856"/>
          </a:xfrm>
          <a:prstGeom prst="ellipse">
            <a:avLst/>
          </a:prstGeom>
          <a:solidFill>
            <a:srgbClr val="1B8A80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7C949687-A205-2699-6C92-FC603ABB11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9138" y="3423565"/>
            <a:ext cx="589606" cy="589606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768A7A90-DCA8-6BDA-6362-F9644EDDA4C3}"/>
              </a:ext>
            </a:extLst>
          </p:cNvPr>
          <p:cNvSpPr/>
          <p:nvPr/>
        </p:nvSpPr>
        <p:spPr>
          <a:xfrm>
            <a:off x="8992299" y="443159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b="1">
                <a:solidFill>
                  <a:srgbClr val="0E5C56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2500">
              <a:latin typeface="Nunito" pitchFamily="2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D76039F-6FF7-957D-C5C9-D8110B17B66B}"/>
              </a:ext>
            </a:extLst>
          </p:cNvPr>
          <p:cNvSpPr/>
          <p:nvPr/>
        </p:nvSpPr>
        <p:spPr>
          <a:xfrm>
            <a:off x="9083739" y="490708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1740" dirty="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PSI / CSI / SHAP drift +</a:t>
            </a:r>
            <a:endParaRPr lang="en-US" sz="1740" dirty="0">
              <a:latin typeface="Nunito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740" dirty="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data-quality checks on</a:t>
            </a:r>
            <a:endParaRPr lang="en-US" sz="1740" dirty="0">
              <a:latin typeface="Nunito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740" dirty="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live production data</a:t>
            </a:r>
            <a:endParaRPr lang="en-US" sz="1740" dirty="0">
              <a:latin typeface="Nunito" pitchFamily="2" charset="0"/>
            </a:endParaRPr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18A9470B-02C3-29C1-ED84-9D986DAF8EDC}"/>
              </a:ext>
            </a:extLst>
          </p:cNvPr>
          <p:cNvSpPr/>
          <p:nvPr/>
        </p:nvSpPr>
        <p:spPr>
          <a:xfrm>
            <a:off x="12521884" y="4248718"/>
            <a:ext cx="524866" cy="365760"/>
          </a:xfrm>
          <a:prstGeom prst="rightArrow">
            <a:avLst/>
          </a:prstGeom>
          <a:solidFill>
            <a:srgbClr val="1B8A80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B38CDF19-37DF-1B0D-23A0-38C472044B9C}"/>
              </a:ext>
            </a:extLst>
          </p:cNvPr>
          <p:cNvSpPr/>
          <p:nvPr/>
        </p:nvSpPr>
        <p:spPr>
          <a:xfrm>
            <a:off x="13101613" y="2895406"/>
            <a:ext cx="3566160" cy="30723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A2959E39-A6C8-991E-12F9-4F94EE90D8B9}"/>
              </a:ext>
            </a:extLst>
          </p:cNvPr>
          <p:cNvSpPr/>
          <p:nvPr/>
        </p:nvSpPr>
        <p:spPr>
          <a:xfrm>
            <a:off x="14317765" y="3151438"/>
            <a:ext cx="1133856" cy="1133856"/>
          </a:xfrm>
          <a:prstGeom prst="ellipse">
            <a:avLst/>
          </a:prstGeom>
          <a:solidFill>
            <a:srgbClr val="1B8A80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6821E225-0C52-B645-5561-C83E6F11A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89892" y="3423565"/>
            <a:ext cx="589606" cy="589606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AB9BD958-79CE-9E00-87C6-2FF5A5400683}"/>
              </a:ext>
            </a:extLst>
          </p:cNvPr>
          <p:cNvSpPr/>
          <p:nvPr/>
        </p:nvSpPr>
        <p:spPr>
          <a:xfrm>
            <a:off x="13193053" y="4431598"/>
            <a:ext cx="3383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b="1">
                <a:solidFill>
                  <a:srgbClr val="0E5C56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2500">
              <a:latin typeface="Nunito" pitchFamily="2" charset="0"/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B36BC2E3-0A56-6BAF-C1ED-97A15582BDD1}"/>
              </a:ext>
            </a:extLst>
          </p:cNvPr>
          <p:cNvSpPr/>
          <p:nvPr/>
        </p:nvSpPr>
        <p:spPr>
          <a:xfrm>
            <a:off x="13284493" y="490708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sz="174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Drift or quality breach</a:t>
            </a:r>
            <a:endParaRPr lang="en-US" sz="1740">
              <a:latin typeface="Nunito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74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automatically re-triggers</a:t>
            </a:r>
            <a:endParaRPr lang="en-US" sz="1740">
              <a:latin typeface="Nunito" pitchFamily="2" charset="0"/>
            </a:endParaRPr>
          </a:p>
          <a:p>
            <a:pPr algn="ctr">
              <a:lnSpc>
                <a:spcPct val="105000"/>
              </a:lnSpc>
            </a:pPr>
            <a:r>
              <a:rPr lang="en-US" sz="174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the training stage</a:t>
            </a:r>
            <a:endParaRPr lang="en-US" sz="1740">
              <a:latin typeface="Nunito" pitchFamily="2" charset="0"/>
            </a:endParaRP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0E9AFA15-DBF7-B6FD-0D92-EB31C1AB7760}"/>
              </a:ext>
            </a:extLst>
          </p:cNvPr>
          <p:cNvSpPr/>
          <p:nvPr/>
        </p:nvSpPr>
        <p:spPr>
          <a:xfrm>
            <a:off x="14884693" y="6004366"/>
            <a:ext cx="0" cy="731520"/>
          </a:xfrm>
          <a:prstGeom prst="line">
            <a:avLst/>
          </a:prstGeom>
          <a:noFill/>
          <a:ln w="22225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BBF4AE03-F669-C936-E984-A5CEEDF819BA}"/>
              </a:ext>
            </a:extLst>
          </p:cNvPr>
          <p:cNvSpPr/>
          <p:nvPr/>
        </p:nvSpPr>
        <p:spPr>
          <a:xfrm flipV="1">
            <a:off x="2282433" y="6004366"/>
            <a:ext cx="0" cy="731520"/>
          </a:xfrm>
          <a:prstGeom prst="line">
            <a:avLst/>
          </a:prstGeom>
          <a:noFill/>
          <a:ln w="22225">
            <a:solidFill>
              <a:srgbClr val="E8743B"/>
            </a:solidFill>
            <a:prstDash val="solid"/>
            <a:tailEnd type="triangle"/>
          </a:ln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526BC9ED-7672-72A1-D924-D1E10360E4CB}"/>
              </a:ext>
            </a:extLst>
          </p:cNvPr>
          <p:cNvSpPr/>
          <p:nvPr/>
        </p:nvSpPr>
        <p:spPr>
          <a:xfrm>
            <a:off x="2282433" y="6735886"/>
            <a:ext cx="12602260" cy="0"/>
          </a:xfrm>
          <a:prstGeom prst="line">
            <a:avLst/>
          </a:prstGeom>
          <a:noFill/>
          <a:ln w="22225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81FE6773-AA0D-E4A5-4EA4-7452ADF00BE2}"/>
              </a:ext>
            </a:extLst>
          </p:cNvPr>
          <p:cNvSpPr/>
          <p:nvPr/>
        </p:nvSpPr>
        <p:spPr>
          <a:xfrm>
            <a:off x="499353" y="6882190"/>
            <a:ext cx="126022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kern="0" spc="100">
                <a:solidFill>
                  <a:srgbClr val="E8743B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AUTOMATED FEEDBACK LOOP — fires when drift or data-quality thresholds are breached</a:t>
            </a:r>
            <a:endParaRPr lang="en-US" sz="1900">
              <a:latin typeface="Nunito" pitchFamily="2" charset="0"/>
            </a:endParaRPr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E89167A3-DEDF-37FA-B392-1746D7AD8B61}"/>
              </a:ext>
            </a:extLst>
          </p:cNvPr>
          <p:cNvSpPr/>
          <p:nvPr/>
        </p:nvSpPr>
        <p:spPr>
          <a:xfrm>
            <a:off x="499353" y="7741726"/>
            <a:ext cx="126022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i="1" dirty="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Backed by </a:t>
            </a:r>
            <a:r>
              <a:rPr lang="en-US" sz="2200" i="1" dirty="0" err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MLflow</a:t>
            </a:r>
            <a:r>
              <a:rPr lang="en-US" sz="2200" i="1" dirty="0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 experiment tracking and a model registry with Candidate → Production stage transitions · Version-controlled via Git · All components containerised in Docker · Horizontally scalable: FastAPI workers and Airflow executors scale independently</a:t>
            </a:r>
            <a:endParaRPr lang="en-US" sz="2200" dirty="0">
              <a:latin typeface="Nunito" pitchFamily="2" charset="0"/>
            </a:endParaRPr>
          </a:p>
        </p:txBody>
      </p:sp>
      <p:grpSp>
        <p:nvGrpSpPr>
          <p:cNvPr id="34" name="Group 2">
            <a:extLst>
              <a:ext uri="{FF2B5EF4-FFF2-40B4-BE49-F238E27FC236}">
                <a16:creationId xmlns:a16="http://schemas.microsoft.com/office/drawing/2014/main" id="{F9E4FCFD-8049-1231-D1C4-1959FB9A7D79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5" name="Freeform 3">
              <a:extLst>
                <a:ext uri="{FF2B5EF4-FFF2-40B4-BE49-F238E27FC236}">
                  <a16:creationId xmlns:a16="http://schemas.microsoft.com/office/drawing/2014/main" id="{0662525B-B103-B004-325B-897416C39D7B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4">
              <a:extLst>
                <a:ext uri="{FF2B5EF4-FFF2-40B4-BE49-F238E27FC236}">
                  <a16:creationId xmlns:a16="http://schemas.microsoft.com/office/drawing/2014/main" id="{A881EFAB-480B-2262-A5CB-AC0DB9433E60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0CBF7D77-3753-1856-375F-AB39C2CAF79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7484" y="116655"/>
            <a:ext cx="4275643" cy="253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123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080C-252F-D41F-0152-75EF98351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>
            <a:extLst>
              <a:ext uri="{FF2B5EF4-FFF2-40B4-BE49-F238E27FC236}">
                <a16:creationId xmlns:a16="http://schemas.microsoft.com/office/drawing/2014/main" id="{3980A96A-EF44-3162-4F53-00BDFCF2BE68}"/>
              </a:ext>
            </a:extLst>
          </p:cNvPr>
          <p:cNvSpPr txBox="1"/>
          <p:nvPr/>
        </p:nvSpPr>
        <p:spPr>
          <a:xfrm>
            <a:off x="152400" y="571500"/>
            <a:ext cx="16459200" cy="116339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lang="en-SG" sz="6600" b="1" dirty="0">
                <a:solidFill>
                  <a:srgbClr val="303870"/>
                </a:solidFill>
                <a:latin typeface="Agrandir Wide Bold"/>
              </a:rPr>
              <a:t>Model Training Approach</a:t>
            </a:r>
            <a:endParaRPr sz="6600" b="1" dirty="0">
              <a:solidFill>
                <a:srgbClr val="303870"/>
              </a:solidFill>
              <a:latin typeface="Agrandir Wide Bold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8AA6AE-FF0E-BDA0-D643-E183CE4E9759}"/>
              </a:ext>
            </a:extLst>
          </p:cNvPr>
          <p:cNvSpPr/>
          <p:nvPr/>
        </p:nvSpPr>
        <p:spPr>
          <a:xfrm>
            <a:off x="292022" y="1588992"/>
            <a:ext cx="1577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>
                <a:solidFill>
                  <a:srgbClr val="5C7A7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Two candidate models, tuned with Optuna and validated with strict time-series controls</a:t>
            </a:r>
            <a:endParaRPr lang="en-US" sz="2400">
              <a:latin typeface="Nunito" pitchFamily="2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9E36C1D-09CD-01A8-AB7A-ACBC478DA48B}"/>
              </a:ext>
            </a:extLst>
          </p:cNvPr>
          <p:cNvSpPr/>
          <p:nvPr/>
        </p:nvSpPr>
        <p:spPr>
          <a:xfrm>
            <a:off x="292022" y="2302224"/>
            <a:ext cx="850392" cy="850392"/>
          </a:xfrm>
          <a:prstGeom prst="ellipse">
            <a:avLst/>
          </a:prstGeom>
          <a:solidFill>
            <a:srgbClr val="0D4F4F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pic>
        <p:nvPicPr>
          <p:cNvPr id="5" name="Image 0" descr="icons/ensemble_w.png">
            <a:extLst>
              <a:ext uri="{FF2B5EF4-FFF2-40B4-BE49-F238E27FC236}">
                <a16:creationId xmlns:a16="http://schemas.microsoft.com/office/drawing/2014/main" id="{6FD8D8C7-9A17-E0C0-D2D0-0E8A3E45B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04" y="2501106"/>
            <a:ext cx="452628" cy="45262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9C2CACA-772A-620B-8AD1-CB860E0D3874}"/>
              </a:ext>
            </a:extLst>
          </p:cNvPr>
          <p:cNvSpPr/>
          <p:nvPr/>
        </p:nvSpPr>
        <p:spPr>
          <a:xfrm>
            <a:off x="1457882" y="2219928"/>
            <a:ext cx="1035558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Two Candidates, One Winner</a:t>
            </a:r>
            <a:endParaRPr lang="en-US" sz="2700">
              <a:latin typeface="Nunito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839F33C-8569-E231-FFE7-65E2633481E6}"/>
              </a:ext>
            </a:extLst>
          </p:cNvPr>
          <p:cNvSpPr/>
          <p:nvPr/>
        </p:nvSpPr>
        <p:spPr>
          <a:xfrm>
            <a:off x="1457882" y="2741136"/>
            <a:ext cx="10355580" cy="11658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75">
                <a:solidFill>
                  <a:srgbClr val="5C7A7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XGBoost and LightGBM are each tuned independently with </a:t>
            </a:r>
            <a:r>
              <a:rPr lang="en-US" sz="1875" err="1">
                <a:solidFill>
                  <a:srgbClr val="5C7A7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Optuna</a:t>
            </a:r>
            <a:r>
              <a:rPr lang="en-US" sz="1875">
                <a:solidFill>
                  <a:srgbClr val="5C7A7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875" err="1">
                <a:solidFill>
                  <a:srgbClr val="5C7A7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875">
                <a:solidFill>
                  <a:srgbClr val="5C7A7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 keeps outperforming. 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7A74186-8B8C-1AAD-92F8-FF05B8E31A4E}"/>
              </a:ext>
            </a:extLst>
          </p:cNvPr>
          <p:cNvSpPr/>
          <p:nvPr/>
        </p:nvSpPr>
        <p:spPr>
          <a:xfrm>
            <a:off x="292022" y="4263612"/>
            <a:ext cx="850392" cy="850392"/>
          </a:xfrm>
          <a:prstGeom prst="ellipse">
            <a:avLst/>
          </a:prstGeom>
          <a:solidFill>
            <a:srgbClr val="0D4F4F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pic>
        <p:nvPicPr>
          <p:cNvPr id="9" name="Image 1" descr="icons/cv_w.png">
            <a:extLst>
              <a:ext uri="{FF2B5EF4-FFF2-40B4-BE49-F238E27FC236}">
                <a16:creationId xmlns:a16="http://schemas.microsoft.com/office/drawing/2014/main" id="{8AE09CB5-F1FB-7FCF-8528-621800B76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04" y="4462494"/>
            <a:ext cx="452628" cy="452628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AFE4DBC8-0B66-FCBD-9B60-1762DA958AF0}"/>
              </a:ext>
            </a:extLst>
          </p:cNvPr>
          <p:cNvSpPr/>
          <p:nvPr/>
        </p:nvSpPr>
        <p:spPr>
          <a:xfrm>
            <a:off x="1457882" y="4181316"/>
            <a:ext cx="1035558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Time-Series Cross-Validation</a:t>
            </a:r>
            <a:endParaRPr lang="en-US" sz="2700">
              <a:latin typeface="Nunito" pitchFamily="2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14132908-08EE-BA08-BD65-FDE7419EA8BF}"/>
              </a:ext>
            </a:extLst>
          </p:cNvPr>
          <p:cNvSpPr/>
          <p:nvPr/>
        </p:nvSpPr>
        <p:spPr>
          <a:xfrm>
            <a:off x="1457882" y="4702524"/>
            <a:ext cx="10355580" cy="11658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875">
                <a:solidFill>
                  <a:srgbClr val="5C7A7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5-fold expanding-window CV inside the training window - earlier dates always train, later dates always validate. Standard k-fold would leak future cluster activity.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B11D2AF-48FE-9973-8220-B3C1B4008B9F}"/>
              </a:ext>
            </a:extLst>
          </p:cNvPr>
          <p:cNvSpPr/>
          <p:nvPr/>
        </p:nvSpPr>
        <p:spPr>
          <a:xfrm>
            <a:off x="292022" y="6225000"/>
            <a:ext cx="850392" cy="850392"/>
          </a:xfrm>
          <a:prstGeom prst="ellipse">
            <a:avLst/>
          </a:prstGeom>
          <a:solidFill>
            <a:srgbClr val="0D4F4F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pic>
        <p:nvPicPr>
          <p:cNvPr id="13" name="Image 2" descr="icons/smote_w.png">
            <a:extLst>
              <a:ext uri="{FF2B5EF4-FFF2-40B4-BE49-F238E27FC236}">
                <a16:creationId xmlns:a16="http://schemas.microsoft.com/office/drawing/2014/main" id="{34BCA0AD-21E4-0439-79B9-3ECC0F0A28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04" y="6423882"/>
            <a:ext cx="452628" cy="452628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BC9AFF32-91FF-2883-837A-E5B557677FD3}"/>
              </a:ext>
            </a:extLst>
          </p:cNvPr>
          <p:cNvSpPr/>
          <p:nvPr/>
        </p:nvSpPr>
        <p:spPr>
          <a:xfrm>
            <a:off x="1457882" y="6142704"/>
            <a:ext cx="1035558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2700">
              <a:latin typeface="Nunito" pitchFamily="2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3045207-EB03-F2BF-347D-7DC907E17EF3}"/>
              </a:ext>
            </a:extLst>
          </p:cNvPr>
          <p:cNvSpPr/>
          <p:nvPr/>
        </p:nvSpPr>
        <p:spPr>
          <a:xfrm>
            <a:off x="1457882" y="6663912"/>
            <a:ext cx="10355580" cy="11658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</a:pPr>
            <a:r>
              <a:rPr lang="en-US" sz="1875" dirty="0">
                <a:solidFill>
                  <a:srgbClr val="5C7A7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Positive rate is only 12.4% in the training set. SMOTE oversamples the minority class on training folds only — never applied to validation, test, or OOT data.</a:t>
            </a:r>
            <a:endParaRPr lang="en-US" sz="1875" dirty="0">
              <a:latin typeface="Nunito" pitchFamily="2" charset="0"/>
            </a:endParaRPr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EE0D4E99-E097-C1D7-5BDE-D599398E02A8}"/>
              </a:ext>
            </a:extLst>
          </p:cNvPr>
          <p:cNvSpPr/>
          <p:nvPr/>
        </p:nvSpPr>
        <p:spPr>
          <a:xfrm>
            <a:off x="11580432" y="2953733"/>
            <a:ext cx="4567428" cy="2018687"/>
          </a:xfrm>
          <a:prstGeom prst="roundRect">
            <a:avLst>
              <a:gd name="adj" fmla="val 4324"/>
            </a:avLst>
          </a:prstGeom>
          <a:solidFill>
            <a:srgbClr val="E76F51"/>
          </a:solidFill>
          <a:ln/>
          <a:effectLst>
            <a:outerShdw blurRad="101600" dist="38100" dir="2700000" algn="bl" rotWithShape="0">
              <a:srgbClr val="0D4F4F">
                <a:alpha val="12000"/>
              </a:srgbClr>
            </a:outerShdw>
          </a:effectLst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C94411B-52CC-0635-7324-D1DA4E94DA36}"/>
              </a:ext>
            </a:extLst>
          </p:cNvPr>
          <p:cNvSpPr/>
          <p:nvPr/>
        </p:nvSpPr>
        <p:spPr>
          <a:xfrm>
            <a:off x="11580432" y="2804701"/>
            <a:ext cx="456742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4000" dirty="0">
              <a:latin typeface="Nunito" pitchFamily="2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47AB0987-EBF5-F8AC-73A3-83963A72E4A4}"/>
              </a:ext>
            </a:extLst>
          </p:cNvPr>
          <p:cNvSpPr/>
          <p:nvPr/>
        </p:nvSpPr>
        <p:spPr>
          <a:xfrm>
            <a:off x="11580431" y="3632747"/>
            <a:ext cx="4567428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2000" dirty="0">
              <a:latin typeface="Nunito" pitchFamily="2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A84F10EF-7B09-43C3-23DF-1D09C8D798A9}"/>
              </a:ext>
            </a:extLst>
          </p:cNvPr>
          <p:cNvSpPr/>
          <p:nvPr/>
        </p:nvSpPr>
        <p:spPr>
          <a:xfrm>
            <a:off x="11854752" y="4218041"/>
            <a:ext cx="40187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 dirty="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A false negative means a missed outbreak - we </a:t>
            </a:r>
            <a:r>
              <a:rPr lang="en-US" sz="1650" dirty="0" err="1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optimise</a:t>
            </a:r>
            <a:r>
              <a:rPr lang="en-US" sz="1650" dirty="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 for recall over precision</a:t>
            </a:r>
            <a:endParaRPr lang="en-US" sz="1650" dirty="0">
              <a:latin typeface="Nunito" pitchFamily="2" charset="0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CCABEC1E-86CA-FBB0-8492-BB5969EF8560}"/>
              </a:ext>
            </a:extLst>
          </p:cNvPr>
          <p:cNvSpPr/>
          <p:nvPr/>
        </p:nvSpPr>
        <p:spPr>
          <a:xfrm>
            <a:off x="11580432" y="5246741"/>
            <a:ext cx="5394960" cy="3291840"/>
          </a:xfrm>
          <a:prstGeom prst="roundRect">
            <a:avLst>
              <a:gd name="adj" fmla="val 3556"/>
            </a:avLst>
          </a:prstGeom>
          <a:solidFill>
            <a:srgbClr val="E4F0EE"/>
          </a:solidFill>
          <a:ln/>
          <a:effectLst>
            <a:outerShdw blurRad="101600" dist="38100" dir="2700000" algn="bl" rotWithShape="0">
              <a:srgbClr val="0D4F4F">
                <a:alpha val="12000"/>
              </a:srgbClr>
            </a:outerShdw>
          </a:effectLst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8109C2D-76B7-BD58-5ED8-0C0625FC2A9B}"/>
              </a:ext>
            </a:extLst>
          </p:cNvPr>
          <p:cNvSpPr/>
          <p:nvPr/>
        </p:nvSpPr>
        <p:spPr>
          <a:xfrm>
            <a:off x="11732868" y="5390393"/>
            <a:ext cx="5242524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kern="0" spc="150" dirty="0">
                <a:solidFill>
                  <a:srgbClr val="0D4F4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12 ENGINEERED FEATURES · 4 GROUPS</a:t>
            </a:r>
            <a:endParaRPr lang="en-US" sz="1800" dirty="0">
              <a:latin typeface="Nunito" pitchFamily="2" charset="0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5C5247D1-E276-6FCC-EA98-90D60117225E}"/>
              </a:ext>
            </a:extLst>
          </p:cNvPr>
          <p:cNvSpPr/>
          <p:nvPr/>
        </p:nvSpPr>
        <p:spPr>
          <a:xfrm>
            <a:off x="11854752" y="6069701"/>
            <a:ext cx="4114800" cy="21259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5000"/>
              </a:lnSpc>
              <a:spcAft>
                <a:spcPts val="1050"/>
              </a:spcAft>
              <a:buSzPct val="100000"/>
              <a:buChar char="•"/>
            </a:pPr>
            <a:r>
              <a:rPr lang="en-US" sz="1875" dirty="0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Rainfall lags: 1w, 2w, 4w</a:t>
            </a:r>
            <a:endParaRPr lang="en-US" sz="1875" dirty="0">
              <a:latin typeface="Nunito" pitchFamily="2" charset="0"/>
            </a:endParaRPr>
          </a:p>
          <a:p>
            <a:pPr marL="514350" indent="-514350">
              <a:lnSpc>
                <a:spcPct val="105000"/>
              </a:lnSpc>
              <a:spcAft>
                <a:spcPts val="1050"/>
              </a:spcAft>
              <a:buSzPct val="100000"/>
              <a:buChar char="•"/>
            </a:pPr>
            <a:r>
              <a:rPr lang="en-US" sz="1875" dirty="0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Cluster momentum: rolling 2w / 4w</a:t>
            </a:r>
            <a:endParaRPr lang="en-US" sz="1875" dirty="0">
              <a:latin typeface="Nunito" pitchFamily="2" charset="0"/>
            </a:endParaRPr>
          </a:p>
          <a:p>
            <a:pPr marL="514350" indent="-514350">
              <a:lnSpc>
                <a:spcPct val="105000"/>
              </a:lnSpc>
              <a:spcAft>
                <a:spcPts val="1050"/>
              </a:spcAft>
              <a:buSzPct val="100000"/>
              <a:buChar char="•"/>
            </a:pPr>
            <a:r>
              <a:rPr lang="en-US" sz="1875" dirty="0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Demographics: pop., density, elderly %, area</a:t>
            </a:r>
            <a:endParaRPr lang="en-US" sz="1875" dirty="0">
              <a:latin typeface="Nunito" pitchFamily="2" charset="0"/>
            </a:endParaRPr>
          </a:p>
          <a:p>
            <a:pPr marL="514350" indent="-514350">
              <a:lnSpc>
                <a:spcPct val="105000"/>
              </a:lnSpc>
              <a:spcAft>
                <a:spcPts val="1050"/>
              </a:spcAft>
              <a:buSzPct val="100000"/>
              <a:buChar char="•"/>
            </a:pPr>
            <a:r>
              <a:rPr lang="en-US" sz="1875" dirty="0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Vulnerability index (PCA composite)</a:t>
            </a:r>
            <a:endParaRPr lang="en-US" sz="1875" dirty="0">
              <a:latin typeface="Nunito" pitchFamily="2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9D222FC1-892F-6851-85A3-8B844D4BC8E8}"/>
              </a:ext>
            </a:extLst>
          </p:cNvPr>
          <p:cNvSpPr/>
          <p:nvPr/>
        </p:nvSpPr>
        <p:spPr>
          <a:xfrm>
            <a:off x="174029" y="8346852"/>
            <a:ext cx="1577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kern="0" spc="150">
                <a:solidFill>
                  <a:srgbClr val="5C7A7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STRICT TEMPORAL SPLIT — NO FUTURE DATA LEAKS INTO FEATURES</a:t>
            </a:r>
            <a:endParaRPr lang="en-US" sz="1800">
              <a:latin typeface="Nunito" pitchFamily="2" charset="0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17000E23-5880-43C8-0ED4-A1220D429D87}"/>
              </a:ext>
            </a:extLst>
          </p:cNvPr>
          <p:cNvSpPr/>
          <p:nvPr/>
        </p:nvSpPr>
        <p:spPr>
          <a:xfrm>
            <a:off x="174029" y="8826912"/>
            <a:ext cx="4046220" cy="1234440"/>
          </a:xfrm>
          <a:prstGeom prst="roundRect">
            <a:avLst>
              <a:gd name="adj" fmla="val 6667"/>
            </a:avLst>
          </a:prstGeom>
          <a:solidFill>
            <a:srgbClr val="0D4F4F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280135E6-6CD1-7393-20CD-314ED9EF6D66}"/>
              </a:ext>
            </a:extLst>
          </p:cNvPr>
          <p:cNvSpPr/>
          <p:nvPr/>
        </p:nvSpPr>
        <p:spPr>
          <a:xfrm>
            <a:off x="174029" y="8909208"/>
            <a:ext cx="40462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 kern="0" spc="15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950">
              <a:latin typeface="Nunito" pitchFamily="2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2E794761-1EAD-1713-135C-E045EE06C0F3}"/>
              </a:ext>
            </a:extLst>
          </p:cNvPr>
          <p:cNvSpPr/>
          <p:nvPr/>
        </p:nvSpPr>
        <p:spPr>
          <a:xfrm>
            <a:off x="174029" y="9279540"/>
            <a:ext cx="4046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Jul 2015 - Dec 2018</a:t>
            </a:r>
            <a:endParaRPr lang="en-US" sz="1650">
              <a:latin typeface="Nunito" pitchFamily="2" charset="0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BA1322A1-8D5C-63E4-4EAD-D8C4D38A47E8}"/>
              </a:ext>
            </a:extLst>
          </p:cNvPr>
          <p:cNvSpPr/>
          <p:nvPr/>
        </p:nvSpPr>
        <p:spPr>
          <a:xfrm>
            <a:off x="174029" y="9622440"/>
            <a:ext cx="4046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51,238 rows   •   10.4% positive</a:t>
            </a:r>
            <a:endParaRPr lang="en-US" sz="1500">
              <a:latin typeface="Nunito" pitchFamily="2" charset="0"/>
            </a:endParaRPr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499B95E5-EA8F-6BBA-E66D-6C6E245CA52E}"/>
              </a:ext>
            </a:extLst>
          </p:cNvPr>
          <p:cNvSpPr/>
          <p:nvPr/>
        </p:nvSpPr>
        <p:spPr>
          <a:xfrm>
            <a:off x="4247681" y="9348120"/>
            <a:ext cx="192024" cy="192024"/>
          </a:xfrm>
          <a:prstGeom prst="ellipse">
            <a:avLst/>
          </a:prstGeom>
          <a:solidFill>
            <a:srgbClr val="5C7A7A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019DE648-8A3D-593A-1BB3-AB52838ACD96}"/>
              </a:ext>
            </a:extLst>
          </p:cNvPr>
          <p:cNvSpPr/>
          <p:nvPr/>
        </p:nvSpPr>
        <p:spPr>
          <a:xfrm>
            <a:off x="4467137" y="8826912"/>
            <a:ext cx="4046220" cy="1234440"/>
          </a:xfrm>
          <a:prstGeom prst="roundRect">
            <a:avLst>
              <a:gd name="adj" fmla="val 6667"/>
            </a:avLst>
          </a:prstGeom>
          <a:solidFill>
            <a:srgbClr val="5C9999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FB6E7958-72BA-6897-60CF-63EBF6D44739}"/>
              </a:ext>
            </a:extLst>
          </p:cNvPr>
          <p:cNvSpPr/>
          <p:nvPr/>
        </p:nvSpPr>
        <p:spPr>
          <a:xfrm>
            <a:off x="4467137" y="8909208"/>
            <a:ext cx="40462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 kern="0" spc="15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950">
              <a:latin typeface="Nunito" pitchFamily="2" charset="0"/>
            </a:endParaRPr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54110B97-EC1C-385F-5796-2098EFA2AD50}"/>
              </a:ext>
            </a:extLst>
          </p:cNvPr>
          <p:cNvSpPr/>
          <p:nvPr/>
        </p:nvSpPr>
        <p:spPr>
          <a:xfrm>
            <a:off x="4467137" y="9279540"/>
            <a:ext cx="4046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Jan - Jun 2019</a:t>
            </a:r>
            <a:endParaRPr lang="en-US" sz="1650">
              <a:latin typeface="Nunito" pitchFamily="2" charset="0"/>
            </a:endParaRP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17DBC47E-2333-DE41-0443-9742E83E06DE}"/>
              </a:ext>
            </a:extLst>
          </p:cNvPr>
          <p:cNvSpPr/>
          <p:nvPr/>
        </p:nvSpPr>
        <p:spPr>
          <a:xfrm>
            <a:off x="4467137" y="9622440"/>
            <a:ext cx="4046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4,658 rows   •   16.7% positive</a:t>
            </a:r>
            <a:endParaRPr lang="en-US" sz="1500">
              <a:latin typeface="Nunito" pitchFamily="2" charset="0"/>
            </a:endParaRPr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CFC4548B-092E-D3AB-6AFE-EA9573F0486B}"/>
              </a:ext>
            </a:extLst>
          </p:cNvPr>
          <p:cNvSpPr/>
          <p:nvPr/>
        </p:nvSpPr>
        <p:spPr>
          <a:xfrm>
            <a:off x="8540789" y="9348120"/>
            <a:ext cx="192024" cy="192024"/>
          </a:xfrm>
          <a:prstGeom prst="ellipse">
            <a:avLst/>
          </a:prstGeom>
          <a:solidFill>
            <a:srgbClr val="5C7A7A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59F6E0B1-4F22-A174-B60A-D68673C871AF}"/>
              </a:ext>
            </a:extLst>
          </p:cNvPr>
          <p:cNvSpPr/>
          <p:nvPr/>
        </p:nvSpPr>
        <p:spPr>
          <a:xfrm>
            <a:off x="8760245" y="8826912"/>
            <a:ext cx="4046220" cy="1234440"/>
          </a:xfrm>
          <a:prstGeom prst="roundRect">
            <a:avLst>
              <a:gd name="adj" fmla="val 6667"/>
            </a:avLst>
          </a:prstGeom>
          <a:solidFill>
            <a:srgbClr val="E76F51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66FD6A84-B468-F48E-6021-85CBDCEAF73E}"/>
              </a:ext>
            </a:extLst>
          </p:cNvPr>
          <p:cNvSpPr/>
          <p:nvPr/>
        </p:nvSpPr>
        <p:spPr>
          <a:xfrm>
            <a:off x="8760245" y="8909208"/>
            <a:ext cx="40462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 kern="0" spc="15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OOT 1</a:t>
            </a:r>
            <a:endParaRPr lang="en-US" sz="1950">
              <a:latin typeface="Nunito" pitchFamily="2" charset="0"/>
            </a:endParaRPr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1EA54B25-2074-3BDF-3EF4-E3FD6E2BD8CA}"/>
              </a:ext>
            </a:extLst>
          </p:cNvPr>
          <p:cNvSpPr/>
          <p:nvPr/>
        </p:nvSpPr>
        <p:spPr>
          <a:xfrm>
            <a:off x="8760245" y="9279540"/>
            <a:ext cx="4046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Jul - Dec 2019</a:t>
            </a:r>
            <a:endParaRPr lang="en-US" sz="1650">
              <a:latin typeface="Nunito" pitchFamily="2" charset="0"/>
            </a:endParaRPr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BCB92E3F-EBFD-3856-BF94-F73187006A60}"/>
              </a:ext>
            </a:extLst>
          </p:cNvPr>
          <p:cNvSpPr/>
          <p:nvPr/>
        </p:nvSpPr>
        <p:spPr>
          <a:xfrm>
            <a:off x="8760245" y="9622440"/>
            <a:ext cx="4046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6,850 rows   •   29.2% positive</a:t>
            </a:r>
            <a:endParaRPr lang="en-US" sz="1500">
              <a:latin typeface="Nunito" pitchFamily="2" charset="0"/>
            </a:endParaRPr>
          </a:p>
        </p:txBody>
      </p:sp>
      <p:sp>
        <p:nvSpPr>
          <p:cNvPr id="38" name="Shape 33">
            <a:extLst>
              <a:ext uri="{FF2B5EF4-FFF2-40B4-BE49-F238E27FC236}">
                <a16:creationId xmlns:a16="http://schemas.microsoft.com/office/drawing/2014/main" id="{8C1A0065-0D33-6A38-F00B-5190658AD6BF}"/>
              </a:ext>
            </a:extLst>
          </p:cNvPr>
          <p:cNvSpPr/>
          <p:nvPr/>
        </p:nvSpPr>
        <p:spPr>
          <a:xfrm>
            <a:off x="12833897" y="9348120"/>
            <a:ext cx="192024" cy="192024"/>
          </a:xfrm>
          <a:prstGeom prst="ellipse">
            <a:avLst/>
          </a:prstGeom>
          <a:solidFill>
            <a:srgbClr val="5C7A7A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A5B7E40B-FCA6-D381-0FA6-F8DE7E7488C1}"/>
              </a:ext>
            </a:extLst>
          </p:cNvPr>
          <p:cNvSpPr/>
          <p:nvPr/>
        </p:nvSpPr>
        <p:spPr>
          <a:xfrm>
            <a:off x="13053353" y="8826912"/>
            <a:ext cx="4046220" cy="1234440"/>
          </a:xfrm>
          <a:prstGeom prst="roundRect">
            <a:avLst>
              <a:gd name="adj" fmla="val 6667"/>
            </a:avLst>
          </a:prstGeom>
          <a:solidFill>
            <a:srgbClr val="B5482F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DDCD4896-51FC-6DAD-2759-344B74C82A3F}"/>
              </a:ext>
            </a:extLst>
          </p:cNvPr>
          <p:cNvSpPr/>
          <p:nvPr/>
        </p:nvSpPr>
        <p:spPr>
          <a:xfrm>
            <a:off x="13053353" y="8909208"/>
            <a:ext cx="40462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50" b="1" kern="0" spc="15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OOT 2</a:t>
            </a:r>
            <a:endParaRPr lang="en-US" sz="1950">
              <a:latin typeface="Nunito" pitchFamily="2" charset="0"/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35925268-18CF-6267-4B0C-E7AA4AE5D318}"/>
              </a:ext>
            </a:extLst>
          </p:cNvPr>
          <p:cNvSpPr/>
          <p:nvPr/>
        </p:nvSpPr>
        <p:spPr>
          <a:xfrm>
            <a:off x="13053353" y="9279540"/>
            <a:ext cx="4046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5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Jan - Nov 2020</a:t>
            </a:r>
            <a:endParaRPr lang="en-US" sz="1650">
              <a:latin typeface="Nunito" pitchFamily="2" charset="0"/>
            </a:endParaRPr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61E499F5-E405-BD34-C672-F07EB5C7F908}"/>
              </a:ext>
            </a:extLst>
          </p:cNvPr>
          <p:cNvSpPr/>
          <p:nvPr/>
        </p:nvSpPr>
        <p:spPr>
          <a:xfrm>
            <a:off x="13053353" y="9622440"/>
            <a:ext cx="40462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7,398 rows   •   25.7% positive</a:t>
            </a:r>
            <a:endParaRPr lang="en-US" sz="1500">
              <a:latin typeface="Nunito" pitchFamily="2" charset="0"/>
            </a:endParaRPr>
          </a:p>
        </p:txBody>
      </p:sp>
      <p:grpSp>
        <p:nvGrpSpPr>
          <p:cNvPr id="43" name="Group 2">
            <a:extLst>
              <a:ext uri="{FF2B5EF4-FFF2-40B4-BE49-F238E27FC236}">
                <a16:creationId xmlns:a16="http://schemas.microsoft.com/office/drawing/2014/main" id="{4E53D8D5-D70D-56D2-8493-250A25FF53AE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44" name="Freeform 3">
              <a:extLst>
                <a:ext uri="{FF2B5EF4-FFF2-40B4-BE49-F238E27FC236}">
                  <a16:creationId xmlns:a16="http://schemas.microsoft.com/office/drawing/2014/main" id="{D69AA51C-9748-1DE7-C257-1BB7B4050555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">
              <a:extLst>
                <a:ext uri="{FF2B5EF4-FFF2-40B4-BE49-F238E27FC236}">
                  <a16:creationId xmlns:a16="http://schemas.microsoft.com/office/drawing/2014/main" id="{21BAEE11-B2CB-7CF3-2ED5-F45D3A3948DC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15F6C30B-6861-1B17-E051-12663C75241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7484" y="116655"/>
            <a:ext cx="4275643" cy="253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491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366D-ADB0-2E64-81AE-9F10819D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4C23F10B-7371-1864-A8AB-9541A61A80AE}"/>
              </a:ext>
            </a:extLst>
          </p:cNvPr>
          <p:cNvSpPr/>
          <p:nvPr/>
        </p:nvSpPr>
        <p:spPr>
          <a:xfrm>
            <a:off x="371654" y="1504188"/>
            <a:ext cx="1627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i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OOT1 vs. OOT2 performance</a:t>
            </a:r>
            <a:endParaRPr lang="en-US" sz="2500">
              <a:latin typeface="Nunito" pitchFamily="2" charset="0"/>
            </a:endParaRP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7F846D85-0E70-06DB-1CE1-B534DD178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1533912"/>
              </p:ext>
            </p:extLst>
          </p:nvPr>
        </p:nvGraphicFramePr>
        <p:xfrm>
          <a:off x="280214" y="2089404"/>
          <a:ext cx="10222992" cy="5865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>
            <a:extLst>
              <a:ext uri="{FF2B5EF4-FFF2-40B4-BE49-F238E27FC236}">
                <a16:creationId xmlns:a16="http://schemas.microsoft.com/office/drawing/2014/main" id="{F21CD7F9-3480-D019-7B9D-F5A84CFCE3FB}"/>
              </a:ext>
            </a:extLst>
          </p:cNvPr>
          <p:cNvSpPr/>
          <p:nvPr/>
        </p:nvSpPr>
        <p:spPr>
          <a:xfrm>
            <a:off x="280214" y="815644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i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Test: 6,850 rows · 2,003 positive (29.2%)  ·  OOT: 7,398 rows · 1,901 positive (25.7%)</a:t>
            </a:r>
            <a:endParaRPr lang="en-US">
              <a:latin typeface="Nunito" pitchFamily="2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AF1E0F7-6373-EC70-C6E5-BDBBD67B1D30}"/>
              </a:ext>
            </a:extLst>
          </p:cNvPr>
          <p:cNvSpPr/>
          <p:nvPr/>
        </p:nvSpPr>
        <p:spPr>
          <a:xfrm>
            <a:off x="280214" y="8668512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40" i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OOT (Jan–Nov 2020) overlaps the documented DENV-3 serotype-shift outbreak (35,000+ cases) — treated as a concept-drift case study.</a:t>
            </a:r>
            <a:endParaRPr lang="en-US" sz="1740">
              <a:latin typeface="Nunito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818CD76-62D9-EC77-71C3-FBAE48508B24}"/>
              </a:ext>
            </a:extLst>
          </p:cNvPr>
          <p:cNvSpPr/>
          <p:nvPr/>
        </p:nvSpPr>
        <p:spPr>
          <a:xfrm>
            <a:off x="10784012" y="258097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kern="0" spc="200">
                <a:solidFill>
                  <a:srgbClr val="0E5C56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2200">
              <a:latin typeface="Nunito" pitchFamily="2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8FA122A-5477-2D19-CD85-411E76866A89}"/>
              </a:ext>
            </a:extLst>
          </p:cNvPr>
          <p:cNvSpPr/>
          <p:nvPr/>
        </p:nvSpPr>
        <p:spPr>
          <a:xfrm>
            <a:off x="10813508" y="3166188"/>
            <a:ext cx="6217920" cy="841248"/>
          </a:xfrm>
          <a:prstGeom prst="roundRect">
            <a:avLst>
              <a:gd name="adj" fmla="val 15217"/>
            </a:avLst>
          </a:prstGeom>
          <a:solidFill>
            <a:srgbClr val="E6F4F1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FA699C7-86FD-B5E3-0940-F4C824CB0629}"/>
              </a:ext>
            </a:extLst>
          </p:cNvPr>
          <p:cNvSpPr/>
          <p:nvPr/>
        </p:nvSpPr>
        <p:spPr>
          <a:xfrm>
            <a:off x="10955096" y="3349068"/>
            <a:ext cx="475488" cy="475488"/>
          </a:xfrm>
          <a:prstGeom prst="ellipse">
            <a:avLst/>
          </a:prstGeom>
          <a:solidFill>
            <a:srgbClr val="E6F4F1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0AFCCEF-A90E-E96C-DD3A-1B9E778BA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215" y="3463187"/>
            <a:ext cx="247254" cy="247254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F5852EA5-57F8-5884-30D0-CBFD19907C83}"/>
              </a:ext>
            </a:extLst>
          </p:cNvPr>
          <p:cNvSpPr/>
          <p:nvPr/>
        </p:nvSpPr>
        <p:spPr>
          <a:xfrm>
            <a:off x="11631752" y="3166188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3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Recall ≥ 0.70 (Test)</a:t>
            </a:r>
            <a:endParaRPr lang="en-US" sz="1900" dirty="0">
              <a:latin typeface="Nunito" pitchFamily="2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37308DA-9A8A-2259-196B-7BE04DCA4240}"/>
              </a:ext>
            </a:extLst>
          </p:cNvPr>
          <p:cNvSpPr/>
          <p:nvPr/>
        </p:nvSpPr>
        <p:spPr>
          <a:xfrm>
            <a:off x="15472232" y="3166188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900" b="1">
                <a:solidFill>
                  <a:srgbClr val="1B8A8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900">
              <a:latin typeface="Nunito" pitchFamily="2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317CED46-CA5F-BD6E-D24C-E270ECEE4359}"/>
              </a:ext>
            </a:extLst>
          </p:cNvPr>
          <p:cNvSpPr/>
          <p:nvPr/>
        </p:nvSpPr>
        <p:spPr>
          <a:xfrm>
            <a:off x="10813508" y="4153740"/>
            <a:ext cx="6217920" cy="841248"/>
          </a:xfrm>
          <a:prstGeom prst="roundRect">
            <a:avLst>
              <a:gd name="adj" fmla="val 15217"/>
            </a:avLst>
          </a:prstGeom>
          <a:solidFill>
            <a:srgbClr val="E6F4F1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327DCCA-4F8E-6831-4493-1D37E593CE2C}"/>
              </a:ext>
            </a:extLst>
          </p:cNvPr>
          <p:cNvSpPr/>
          <p:nvPr/>
        </p:nvSpPr>
        <p:spPr>
          <a:xfrm>
            <a:off x="10955096" y="4336620"/>
            <a:ext cx="475488" cy="475488"/>
          </a:xfrm>
          <a:prstGeom prst="ellipse">
            <a:avLst/>
          </a:prstGeom>
          <a:solidFill>
            <a:srgbClr val="E6F4F1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58478E0F-DD10-08F8-9960-C3EA8A250B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215" y="4450739"/>
            <a:ext cx="247254" cy="24725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8FB6F43F-7E37-EDFE-019D-CEF3F4452051}"/>
              </a:ext>
            </a:extLst>
          </p:cNvPr>
          <p:cNvSpPr/>
          <p:nvPr/>
        </p:nvSpPr>
        <p:spPr>
          <a:xfrm>
            <a:off x="11631752" y="415374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>
                <a:solidFill>
                  <a:srgbClr val="13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OOT drop ≤ 10pp</a:t>
            </a:r>
            <a:endParaRPr lang="en-US" sz="1900">
              <a:latin typeface="Nunito" pitchFamily="2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0ADB96F5-ECED-932C-D5AA-7B89008EA471}"/>
              </a:ext>
            </a:extLst>
          </p:cNvPr>
          <p:cNvSpPr/>
          <p:nvPr/>
        </p:nvSpPr>
        <p:spPr>
          <a:xfrm>
            <a:off x="15472232" y="4153740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900" b="1">
                <a:solidFill>
                  <a:srgbClr val="1B8A8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3.3 pp</a:t>
            </a:r>
            <a:endParaRPr lang="en-US" sz="1900">
              <a:latin typeface="Nunito" pitchFamily="2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7A97F012-D91E-1614-566F-061E5EC55008}"/>
              </a:ext>
            </a:extLst>
          </p:cNvPr>
          <p:cNvSpPr/>
          <p:nvPr/>
        </p:nvSpPr>
        <p:spPr>
          <a:xfrm>
            <a:off x="10813508" y="5141292"/>
            <a:ext cx="6217920" cy="841248"/>
          </a:xfrm>
          <a:prstGeom prst="roundRect">
            <a:avLst>
              <a:gd name="adj" fmla="val 15217"/>
            </a:avLst>
          </a:prstGeom>
          <a:solidFill>
            <a:srgbClr val="E6F4F1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B4083EFB-56CA-BF71-0145-EE27CBFCBD3E}"/>
              </a:ext>
            </a:extLst>
          </p:cNvPr>
          <p:cNvSpPr/>
          <p:nvPr/>
        </p:nvSpPr>
        <p:spPr>
          <a:xfrm>
            <a:off x="10955096" y="5324172"/>
            <a:ext cx="475488" cy="475488"/>
          </a:xfrm>
          <a:prstGeom prst="ellipse">
            <a:avLst/>
          </a:prstGeom>
          <a:solidFill>
            <a:srgbClr val="E6F4F1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F14CF080-A7E5-EB54-DDD3-8FE5E6F8A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215" y="5438291"/>
            <a:ext cx="247254" cy="247254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A7F9DF60-5F34-9A97-FD06-CCB7BBF44119}"/>
              </a:ext>
            </a:extLst>
          </p:cNvPr>
          <p:cNvSpPr/>
          <p:nvPr/>
        </p:nvSpPr>
        <p:spPr>
          <a:xfrm>
            <a:off x="11631752" y="5141292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>
                <a:solidFill>
                  <a:srgbClr val="13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AUC-ROC ≥ 0.75 (Test)</a:t>
            </a:r>
            <a:endParaRPr lang="en-US" sz="1900">
              <a:latin typeface="Nunito" pitchFamily="2" charset="0"/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772765F9-2B08-B533-5A44-F2BCA5B889BB}"/>
              </a:ext>
            </a:extLst>
          </p:cNvPr>
          <p:cNvSpPr/>
          <p:nvPr/>
        </p:nvSpPr>
        <p:spPr>
          <a:xfrm>
            <a:off x="15472232" y="5141292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900" b="1">
                <a:solidFill>
                  <a:srgbClr val="1B8A8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900">
              <a:latin typeface="Nunito" pitchFamily="2" charset="0"/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D47A8BE6-4F1D-5CEB-FE42-496763310F19}"/>
              </a:ext>
            </a:extLst>
          </p:cNvPr>
          <p:cNvSpPr/>
          <p:nvPr/>
        </p:nvSpPr>
        <p:spPr>
          <a:xfrm>
            <a:off x="10813508" y="6128844"/>
            <a:ext cx="6217920" cy="841248"/>
          </a:xfrm>
          <a:prstGeom prst="roundRect">
            <a:avLst>
              <a:gd name="adj" fmla="val 15217"/>
            </a:avLst>
          </a:prstGeom>
          <a:solidFill>
            <a:srgbClr val="E6F4F1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BBA9DE86-B663-B48B-FCD5-CC2BA5E00C5F}"/>
              </a:ext>
            </a:extLst>
          </p:cNvPr>
          <p:cNvSpPr/>
          <p:nvPr/>
        </p:nvSpPr>
        <p:spPr>
          <a:xfrm>
            <a:off x="10955096" y="6311724"/>
            <a:ext cx="475488" cy="475488"/>
          </a:xfrm>
          <a:prstGeom prst="ellipse">
            <a:avLst/>
          </a:prstGeom>
          <a:solidFill>
            <a:srgbClr val="E6F4F1"/>
          </a:solidFill>
          <a:ln/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9E9B6182-25D3-5BD4-10FA-ABA232AC3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9215" y="6425843"/>
            <a:ext cx="247254" cy="247254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7E84D11D-36AA-252F-FE1A-AA46B5FB8336}"/>
              </a:ext>
            </a:extLst>
          </p:cNvPr>
          <p:cNvSpPr/>
          <p:nvPr/>
        </p:nvSpPr>
        <p:spPr>
          <a:xfrm>
            <a:off x="11631752" y="6128844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>
                <a:solidFill>
                  <a:srgbClr val="13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SHAP logged &amp; sensible</a:t>
            </a:r>
            <a:endParaRPr lang="en-US" sz="1900">
              <a:latin typeface="Nunito" pitchFamily="2" charset="0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AA64867E-7137-0DD4-F25F-783167E34286}"/>
              </a:ext>
            </a:extLst>
          </p:cNvPr>
          <p:cNvSpPr/>
          <p:nvPr/>
        </p:nvSpPr>
        <p:spPr>
          <a:xfrm>
            <a:off x="15472232" y="6128844"/>
            <a:ext cx="1426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900" b="1">
                <a:solidFill>
                  <a:srgbClr val="1B8A8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900">
              <a:latin typeface="Nunito" pitchFamily="2" charset="0"/>
            </a:endParaRPr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DAC11CD4-73B9-1287-4AD6-766CB7E68EA1}"/>
              </a:ext>
            </a:extLst>
          </p:cNvPr>
          <p:cNvSpPr/>
          <p:nvPr/>
        </p:nvSpPr>
        <p:spPr>
          <a:xfrm>
            <a:off x="10784012" y="7226124"/>
            <a:ext cx="6217920" cy="768096"/>
          </a:xfrm>
          <a:prstGeom prst="roundRect">
            <a:avLst>
              <a:gd name="adj" fmla="val 16667"/>
            </a:avLst>
          </a:prstGeom>
          <a:solidFill>
            <a:srgbClr val="0E5C56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739F8113-67BB-41D6-8DFB-CC5469407120}"/>
              </a:ext>
            </a:extLst>
          </p:cNvPr>
          <p:cNvSpPr/>
          <p:nvPr/>
        </p:nvSpPr>
        <p:spPr>
          <a:xfrm>
            <a:off x="10784012" y="7226124"/>
            <a:ext cx="6217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0" b="1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PROMOTED TO PRODUCTION</a:t>
            </a:r>
            <a:endParaRPr lang="en-US" sz="2300">
              <a:latin typeface="Nunito" pitchFamily="2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F28ACC68-E1DE-B72D-15FF-9BF09F809E06}"/>
              </a:ext>
            </a:extLst>
          </p:cNvPr>
          <p:cNvSpPr/>
          <p:nvPr/>
        </p:nvSpPr>
        <p:spPr>
          <a:xfrm>
            <a:off x="10784012" y="8140524"/>
            <a:ext cx="6217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60" i="1">
                <a:solidFill>
                  <a:srgbClr val="1B8A80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Confusion matrix now shows real negatives (tn=1,617, fn=39) — no longer always-positive.</a:t>
            </a:r>
            <a:endParaRPr lang="en-US" sz="1760">
              <a:latin typeface="Nunito" pitchFamily="2" charset="0"/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F96697C7-1CB2-CFDD-4972-205FC661E253}"/>
              </a:ext>
            </a:extLst>
          </p:cNvPr>
          <p:cNvSpPr/>
          <p:nvPr/>
        </p:nvSpPr>
        <p:spPr>
          <a:xfrm>
            <a:off x="17099280" y="9555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5210CF81-3751-9A2C-2361-C70856E2DBFD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2" name="Freeform 3">
              <a:extLst>
                <a:ext uri="{FF2B5EF4-FFF2-40B4-BE49-F238E27FC236}">
                  <a16:creationId xmlns:a16="http://schemas.microsoft.com/office/drawing/2014/main" id="{C115EAC9-A776-39AB-739B-60A8B588411F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4">
              <a:extLst>
                <a:ext uri="{FF2B5EF4-FFF2-40B4-BE49-F238E27FC236}">
                  <a16:creationId xmlns:a16="http://schemas.microsoft.com/office/drawing/2014/main" id="{C1A5D862-7379-1A56-05EB-2A9E91E636E6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D7E81DC-941A-1DA5-FC1F-1C95DD5CCF15}"/>
              </a:ext>
            </a:extLst>
          </p:cNvPr>
          <p:cNvSpPr txBox="1"/>
          <p:nvPr/>
        </p:nvSpPr>
        <p:spPr>
          <a:xfrm>
            <a:off x="152400" y="571500"/>
            <a:ext cx="16459200" cy="116339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lang="en-SG" sz="6600" b="1" dirty="0">
                <a:solidFill>
                  <a:srgbClr val="303870"/>
                </a:solidFill>
                <a:latin typeface="Agrandir Wide Bold"/>
              </a:rPr>
              <a:t>Model Evaluation</a:t>
            </a:r>
            <a:endParaRPr sz="6600" b="1" dirty="0">
              <a:solidFill>
                <a:srgbClr val="303870"/>
              </a:solidFill>
              <a:latin typeface="Agrandir Wide Bold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3B9A33A-129B-DA09-3C4A-C39C9C4235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7484" y="116655"/>
            <a:ext cx="4275643" cy="253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4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AF21-890F-47FF-D970-F4DE04A2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07C13F6-D3C7-0225-2220-B1EB981C97B0}"/>
              </a:ext>
            </a:extLst>
          </p:cNvPr>
          <p:cNvSpPr/>
          <p:nvPr/>
        </p:nvSpPr>
        <p:spPr>
          <a:xfrm>
            <a:off x="424754" y="1574244"/>
            <a:ext cx="1577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>
                <a:solidFill>
                  <a:srgbClr val="5C7A7A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Mean |SHAP| values (test set) and OOT 2020 drift diagnostics (CSI)</a:t>
            </a:r>
            <a:endParaRPr lang="en-US" sz="2400">
              <a:latin typeface="Nunito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3838CE-6AB5-EA26-FF82-54387BF137B5}"/>
              </a:ext>
            </a:extLst>
          </p:cNvPr>
          <p:cNvSpPr/>
          <p:nvPr/>
        </p:nvSpPr>
        <p:spPr>
          <a:xfrm>
            <a:off x="424754" y="2356056"/>
            <a:ext cx="8915400" cy="4800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50" b="1" kern="0" spc="150">
                <a:solidFill>
                  <a:srgbClr val="0D4F4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SHAP FEATURE IMPORTANCE (TOP 8)</a:t>
            </a:r>
            <a:endParaRPr lang="en-US" sz="1950">
              <a:latin typeface="Nunito" pitchFamily="2" charset="0"/>
            </a:endParaRP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1E85C2A3-F2F3-90CE-4DBC-CBDCD2A56F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5372678"/>
              </p:ext>
            </p:extLst>
          </p:nvPr>
        </p:nvGraphicFramePr>
        <p:xfrm>
          <a:off x="150434" y="2836116"/>
          <a:ext cx="946404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E4F547D6-6937-0926-5D0C-D4D3C522592C}"/>
              </a:ext>
            </a:extLst>
          </p:cNvPr>
          <p:cNvSpPr/>
          <p:nvPr/>
        </p:nvSpPr>
        <p:spPr>
          <a:xfrm>
            <a:off x="10163114" y="2459292"/>
            <a:ext cx="6926580" cy="3497580"/>
          </a:xfrm>
          <a:prstGeom prst="roundRect">
            <a:avLst>
              <a:gd name="adj" fmla="val 3137"/>
            </a:avLst>
          </a:prstGeom>
          <a:solidFill>
            <a:srgbClr val="FCE9E2"/>
          </a:solidFill>
          <a:ln/>
          <a:effectLst>
            <a:outerShdw blurRad="101600" dist="38100" dir="2700000" algn="bl" rotWithShape="0">
              <a:srgbClr val="0D4F4F">
                <a:alpha val="12000"/>
              </a:srgbClr>
            </a:outerShdw>
          </a:effectLst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C03E866-3419-8267-8120-189FC772C691}"/>
              </a:ext>
            </a:extLst>
          </p:cNvPr>
          <p:cNvSpPr/>
          <p:nvPr/>
        </p:nvSpPr>
        <p:spPr>
          <a:xfrm>
            <a:off x="10506014" y="2671524"/>
            <a:ext cx="754380" cy="75438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5AB85B9-AAB0-A7E5-5CCB-DEA4E1D7F709}"/>
              </a:ext>
            </a:extLst>
          </p:cNvPr>
          <p:cNvSpPr/>
          <p:nvPr/>
        </p:nvSpPr>
        <p:spPr>
          <a:xfrm>
            <a:off x="10506014" y="2630376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!</a:t>
            </a:r>
            <a:endParaRPr lang="en-US" sz="3900">
              <a:latin typeface="Nunito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AB2CEB5-5E1E-3080-F81A-4F7F8B793BCE}"/>
              </a:ext>
            </a:extLst>
          </p:cNvPr>
          <p:cNvSpPr/>
          <p:nvPr/>
        </p:nvSpPr>
        <p:spPr>
          <a:xfrm>
            <a:off x="11466134" y="269895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>
                <a:solidFill>
                  <a:srgbClr val="0D4F4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DRIFTED FEATURES (CSI &gt; 0.25)</a:t>
            </a:r>
            <a:endParaRPr lang="en-US" sz="2100">
              <a:latin typeface="Nunito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3A19D53-0BCF-3A8E-5E78-DD1BDF02D384}"/>
              </a:ext>
            </a:extLst>
          </p:cNvPr>
          <p:cNvSpPr/>
          <p:nvPr/>
        </p:nvSpPr>
        <p:spPr>
          <a:xfrm>
            <a:off x="10574594" y="3590496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cluster_count_rolling4w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96AE4C9-49D2-8110-5EAE-61360A08C4F2}"/>
              </a:ext>
            </a:extLst>
          </p:cNvPr>
          <p:cNvSpPr/>
          <p:nvPr/>
        </p:nvSpPr>
        <p:spPr>
          <a:xfrm>
            <a:off x="15512354" y="35904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875" b="1">
                <a:solidFill>
                  <a:srgbClr val="E76F51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11.95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C8C0371-7BF4-8B4F-132F-67C6C1E3B706}"/>
              </a:ext>
            </a:extLst>
          </p:cNvPr>
          <p:cNvSpPr/>
          <p:nvPr/>
        </p:nvSpPr>
        <p:spPr>
          <a:xfrm>
            <a:off x="10574594" y="4077414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cluster_count_rolling2w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52258E5-AA7D-5D8A-C0BA-340E6B1BDCF0}"/>
              </a:ext>
            </a:extLst>
          </p:cNvPr>
          <p:cNvSpPr/>
          <p:nvPr/>
        </p:nvSpPr>
        <p:spPr>
          <a:xfrm>
            <a:off x="15512354" y="407741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875" b="1">
                <a:solidFill>
                  <a:srgbClr val="E76F51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10.18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65AB67E-4311-2D01-D8DC-0A2E6C515FB6}"/>
              </a:ext>
            </a:extLst>
          </p:cNvPr>
          <p:cNvSpPr/>
          <p:nvPr/>
        </p:nvSpPr>
        <p:spPr>
          <a:xfrm>
            <a:off x="10574594" y="456433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rainfall_lag4w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F175268-98D8-5043-5595-41B7545C89E9}"/>
              </a:ext>
            </a:extLst>
          </p:cNvPr>
          <p:cNvSpPr/>
          <p:nvPr/>
        </p:nvSpPr>
        <p:spPr>
          <a:xfrm>
            <a:off x="15512354" y="456433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875" b="1">
                <a:solidFill>
                  <a:srgbClr val="E76F51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0.686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527460F-7B8F-3B13-3586-21CEC2488299}"/>
              </a:ext>
            </a:extLst>
          </p:cNvPr>
          <p:cNvSpPr/>
          <p:nvPr/>
        </p:nvSpPr>
        <p:spPr>
          <a:xfrm>
            <a:off x="10574594" y="505125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rainfall_lag2w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EC01BA7-2766-11A3-6AC0-37139F7CE3D3}"/>
              </a:ext>
            </a:extLst>
          </p:cNvPr>
          <p:cNvSpPr/>
          <p:nvPr/>
        </p:nvSpPr>
        <p:spPr>
          <a:xfrm>
            <a:off x="15512354" y="505125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875" b="1">
                <a:solidFill>
                  <a:srgbClr val="E76F51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0.545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1BA8E86-1D06-5BE3-77F6-53A9E890263F}"/>
              </a:ext>
            </a:extLst>
          </p:cNvPr>
          <p:cNvSpPr/>
          <p:nvPr/>
        </p:nvSpPr>
        <p:spPr>
          <a:xfrm>
            <a:off x="10574594" y="553816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75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rainfall_lag1w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B2D22AF-8C54-F7B5-2ACB-F006A0019BDC}"/>
              </a:ext>
            </a:extLst>
          </p:cNvPr>
          <p:cNvSpPr/>
          <p:nvPr/>
        </p:nvSpPr>
        <p:spPr>
          <a:xfrm>
            <a:off x="15512354" y="55381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875" b="1">
                <a:solidFill>
                  <a:srgbClr val="E76F51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0.376</a:t>
            </a:r>
            <a:endParaRPr lang="en-US" sz="1875">
              <a:latin typeface="Nunito" pitchFamily="2" charset="0"/>
            </a:endParaRP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857F2B29-204F-D53A-E258-6CA740688D15}"/>
              </a:ext>
            </a:extLst>
          </p:cNvPr>
          <p:cNvSpPr/>
          <p:nvPr/>
        </p:nvSpPr>
        <p:spPr>
          <a:xfrm>
            <a:off x="10163114" y="6127956"/>
            <a:ext cx="6926580" cy="2057400"/>
          </a:xfrm>
          <a:prstGeom prst="roundRect">
            <a:avLst>
              <a:gd name="adj" fmla="val 5333"/>
            </a:avLst>
          </a:prstGeom>
          <a:solidFill>
            <a:srgbClr val="E4F0EE"/>
          </a:solidFill>
          <a:ln/>
          <a:effectLst>
            <a:outerShdw blurRad="101600" dist="38100" dir="2700000" algn="bl" rotWithShape="0">
              <a:srgbClr val="0D4F4F">
                <a:alpha val="12000"/>
              </a:srgbClr>
            </a:outerShdw>
          </a:effectLst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00BDE6A-871E-1F81-3EDD-5D471C5B45B8}"/>
              </a:ext>
            </a:extLst>
          </p:cNvPr>
          <p:cNvSpPr/>
          <p:nvPr/>
        </p:nvSpPr>
        <p:spPr>
          <a:xfrm>
            <a:off x="10506014" y="6402276"/>
            <a:ext cx="754380" cy="754380"/>
          </a:xfrm>
          <a:prstGeom prst="ellipse">
            <a:avLst/>
          </a:prstGeom>
          <a:solidFill>
            <a:srgbClr val="0D4F4F"/>
          </a:solidFill>
          <a:ln/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9BE3820-9EF6-0CC6-5E64-69F7DE84427F}"/>
              </a:ext>
            </a:extLst>
          </p:cNvPr>
          <p:cNvSpPr/>
          <p:nvPr/>
        </p:nvSpPr>
        <p:spPr>
          <a:xfrm>
            <a:off x="10506014" y="6361128"/>
            <a:ext cx="7543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900" b="1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900">
              <a:latin typeface="Nunito" pitchFamily="2" charset="0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69F58D9-761F-F95A-8AF4-6DEA664EDF1B}"/>
              </a:ext>
            </a:extLst>
          </p:cNvPr>
          <p:cNvSpPr/>
          <p:nvPr/>
        </p:nvSpPr>
        <p:spPr>
          <a:xfrm>
            <a:off x="11466134" y="64297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b="1">
                <a:solidFill>
                  <a:srgbClr val="0D4F4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STABLE FEATURES (CSI = 0.00)</a:t>
            </a:r>
            <a:endParaRPr lang="en-US" sz="2100">
              <a:latin typeface="Nunito" pitchFamily="2" charset="0"/>
            </a:endParaRP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28D30DE-D44E-8ACE-7FE2-214185DC32C5}"/>
              </a:ext>
            </a:extLst>
          </p:cNvPr>
          <p:cNvSpPr/>
          <p:nvPr/>
        </p:nvSpPr>
        <p:spPr>
          <a:xfrm>
            <a:off x="10574594" y="7156656"/>
            <a:ext cx="6240780" cy="8915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875" dirty="0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population, </a:t>
            </a:r>
            <a:r>
              <a:rPr lang="en-US" sz="1875" dirty="0" err="1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elderly_pct</a:t>
            </a:r>
            <a:r>
              <a:rPr lang="en-US" sz="1875" dirty="0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, area_km2, </a:t>
            </a:r>
            <a:r>
              <a:rPr lang="en-US" sz="1875" dirty="0" err="1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population_density</a:t>
            </a:r>
            <a:r>
              <a:rPr lang="en-US" sz="1875" dirty="0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75" dirty="0" err="1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vulnerability_index</a:t>
            </a:r>
            <a:r>
              <a:rPr lang="en-US" sz="1875" dirty="0">
                <a:solidFill>
                  <a:srgbClr val="16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 - all from the static 2019 census snapshot</a:t>
            </a:r>
            <a:endParaRPr lang="en-US" sz="1875" dirty="0">
              <a:latin typeface="Nunito" pitchFamily="2" charset="0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6F6EA37-9C90-7A5F-8AB0-4D58FA0C0487}"/>
              </a:ext>
            </a:extLst>
          </p:cNvPr>
          <p:cNvSpPr/>
          <p:nvPr/>
        </p:nvSpPr>
        <p:spPr>
          <a:xfrm>
            <a:off x="10163114" y="8391095"/>
            <a:ext cx="6926580" cy="1779249"/>
          </a:xfrm>
          <a:prstGeom prst="roundRect">
            <a:avLst>
              <a:gd name="adj" fmla="val 8000"/>
            </a:avLst>
          </a:prstGeom>
          <a:solidFill>
            <a:srgbClr val="0D4F4F"/>
          </a:solidFill>
          <a:ln/>
          <a:effectLst>
            <a:outerShdw blurRad="101600" dist="38100" dir="2700000" algn="bl" rotWithShape="0">
              <a:srgbClr val="0D4F4F">
                <a:alpha val="12000"/>
              </a:srgbClr>
            </a:outerShdw>
          </a:effectLst>
        </p:spPr>
        <p:txBody>
          <a:bodyPr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sz="4050">
              <a:latin typeface="Nunito" pitchFamily="2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5A8A2397-A8DA-07FA-5958-79FAEB05FFFE}"/>
              </a:ext>
            </a:extLst>
          </p:cNvPr>
          <p:cNvSpPr/>
          <p:nvPr/>
        </p:nvSpPr>
        <p:spPr>
          <a:xfrm>
            <a:off x="10505593" y="8697789"/>
            <a:ext cx="6240780" cy="11658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Jan-Nov 2020 is the DENV-3 serotype-shift outbreak (35,000+ cases). Drift in time-varying weather/cluster features is expected; static census demographics correctly stay stable - a textbook concept-drift case study, not a model failure. Bias drift: not applicable - model predicts subzone-level geography, not individuals.</a:t>
            </a:r>
            <a:endParaRPr lang="en-US" sz="1600" dirty="0">
              <a:latin typeface="Nunito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D71C54-9EC5-262F-7428-C0190771FAE9}"/>
              </a:ext>
            </a:extLst>
          </p:cNvPr>
          <p:cNvSpPr txBox="1"/>
          <p:nvPr/>
        </p:nvSpPr>
        <p:spPr>
          <a:xfrm>
            <a:off x="152400" y="571500"/>
            <a:ext cx="12531213" cy="824841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lang="en-SG" sz="4400" b="1" dirty="0">
                <a:solidFill>
                  <a:srgbClr val="303870"/>
                </a:solidFill>
                <a:latin typeface="Agrandir Wide Bold"/>
              </a:rPr>
              <a:t>Feature Importance &amp; Concept Drift</a:t>
            </a:r>
            <a:endParaRPr sz="4400" b="1" dirty="0">
              <a:solidFill>
                <a:srgbClr val="303870"/>
              </a:solidFill>
              <a:latin typeface="Agrandir Wide Bold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501C5D56-B8AB-B161-5BAB-2C5E657EBD9B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6FB6164C-595D-4588-F656-18D223B51580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95171573-41DA-84F5-FFFF-C6D5DF98EE0E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57EB35B9-5E05-D140-1A44-78B38EFB7B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7484" y="116655"/>
            <a:ext cx="4275643" cy="253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952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1158" y="2136744"/>
            <a:ext cx="1627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i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Threshold to retrain the models </a:t>
            </a:r>
            <a:endParaRPr lang="en-US" sz="2600">
              <a:latin typeface="Nunito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1158" y="3051144"/>
            <a:ext cx="5181600" cy="2468880"/>
          </a:xfrm>
          <a:prstGeom prst="roundRect">
            <a:avLst>
              <a:gd name="adj" fmla="val 5185"/>
            </a:avLst>
          </a:prstGeom>
          <a:solidFill>
            <a:srgbClr val="FCEAE2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4038" y="3288888"/>
            <a:ext cx="481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>
                <a:solidFill>
                  <a:srgbClr val="E8743B"/>
                </a:solidFill>
                <a:latin typeface="Nunito" pitchFamily="2" charset="0"/>
                <a:ea typeface="Cambria" pitchFamily="34" charset="-122"/>
                <a:cs typeface="Cambria" pitchFamily="34" charset="-120"/>
              </a:rPr>
              <a:t>2,033 days</a:t>
            </a:r>
            <a:endParaRPr lang="en-US" sz="3800">
              <a:latin typeface="Nunito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84038" y="4056984"/>
            <a:ext cx="481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13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Data freshness</a:t>
            </a:r>
            <a:endParaRPr lang="en-US" sz="2200">
              <a:latin typeface="Nunito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5478" y="4605624"/>
            <a:ext cx="4632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40" i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latest snapshot 2020-11-06 vs. 21-day threshold — pipeline may be broken</a:t>
            </a:r>
            <a:endParaRPr lang="en-US" sz="1740">
              <a:latin typeface="Nunito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8518" y="3051144"/>
            <a:ext cx="5181600" cy="2468880"/>
          </a:xfrm>
          <a:prstGeom prst="roundRect">
            <a:avLst>
              <a:gd name="adj" fmla="val 5185"/>
            </a:avLst>
          </a:prstGeom>
          <a:solidFill>
            <a:srgbClr val="FCEAE2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31398" y="3288888"/>
            <a:ext cx="481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>
                <a:solidFill>
                  <a:srgbClr val="E8743B"/>
                </a:solidFill>
                <a:latin typeface="Nunito" pitchFamily="2" charset="0"/>
                <a:ea typeface="Cambria" pitchFamily="34" charset="-122"/>
                <a:cs typeface="Cambria" pitchFamily="34" charset="-120"/>
              </a:rPr>
              <a:t>14.4% null</a:t>
            </a:r>
            <a:endParaRPr lang="en-US" sz="3800">
              <a:latin typeface="Nunito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31398" y="4056984"/>
            <a:ext cx="481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13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2200">
              <a:latin typeface="Nunito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22838" y="4605624"/>
            <a:ext cx="4632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40" i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population, elderly_pct, area_km², population_density</a:t>
            </a:r>
            <a:endParaRPr lang="en-US" sz="1740">
              <a:latin typeface="Nunito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495878" y="3051144"/>
            <a:ext cx="5181600" cy="2468880"/>
          </a:xfrm>
          <a:prstGeom prst="roundRect">
            <a:avLst>
              <a:gd name="adj" fmla="val 5185"/>
            </a:avLst>
          </a:prstGeom>
          <a:solidFill>
            <a:srgbClr val="FCEAE2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78758" y="3288888"/>
            <a:ext cx="4815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800" b="1">
                <a:solidFill>
                  <a:srgbClr val="E8743B"/>
                </a:solidFill>
                <a:latin typeface="Nunito" pitchFamily="2" charset="0"/>
                <a:ea typeface="Cambria" pitchFamily="34" charset="-122"/>
                <a:cs typeface="Cambria" pitchFamily="34" charset="-120"/>
              </a:rPr>
              <a:t>PSI 2.39</a:t>
            </a:r>
            <a:endParaRPr lang="en-US" sz="3800">
              <a:latin typeface="Nunito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678758" y="4056984"/>
            <a:ext cx="481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13302E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Score drift</a:t>
            </a:r>
            <a:endParaRPr lang="en-US" sz="2200">
              <a:latin typeface="Nunito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770198" y="4605624"/>
            <a:ext cx="4632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40" i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far past the 0.2 significant-drift threshold</a:t>
            </a:r>
            <a:endParaRPr lang="en-US" sz="1740">
              <a:latin typeface="Nunito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1158" y="5922360"/>
            <a:ext cx="1627632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B2A">
                <a:alpha val="12000"/>
              </a:srgbClr>
            </a:outerShdw>
          </a:effectLst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8358" y="6196680"/>
            <a:ext cx="1536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dirty="0">
                <a:solidFill>
                  <a:srgbClr val="0E5C56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Feature CSI — 5 of 12 features flagged </a:t>
            </a:r>
            <a:r>
              <a:rPr lang="en-US" sz="2500" b="1" dirty="0" err="1">
                <a:solidFill>
                  <a:srgbClr val="0E5C56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significant_drift</a:t>
            </a:r>
            <a:endParaRPr lang="en-US" sz="2500" dirty="0">
              <a:latin typeface="Nunito" pitchFamily="2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58358" y="6928200"/>
            <a:ext cx="2267712" cy="585216"/>
          </a:xfrm>
          <a:prstGeom prst="roundRect">
            <a:avLst>
              <a:gd name="adj" fmla="val 50000"/>
            </a:avLst>
          </a:prstGeom>
          <a:solidFill>
            <a:srgbClr val="FCEAE2"/>
          </a:solidFill>
          <a:ln w="9525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8358" y="6928200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rgbClr val="E8743B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rainfall_lag1w</a:t>
            </a:r>
            <a:endParaRPr lang="en-US" sz="1600">
              <a:latin typeface="Nunito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45526" y="6928200"/>
            <a:ext cx="2267712" cy="585216"/>
          </a:xfrm>
          <a:prstGeom prst="roundRect">
            <a:avLst>
              <a:gd name="adj" fmla="val 50000"/>
            </a:avLst>
          </a:prstGeom>
          <a:solidFill>
            <a:srgbClr val="FCEAE2"/>
          </a:solidFill>
          <a:ln w="9525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45526" y="6928200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rgbClr val="E8743B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rainfall_lag2w</a:t>
            </a:r>
            <a:endParaRPr lang="en-US" sz="1600">
              <a:latin typeface="Nunito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32694" y="6928200"/>
            <a:ext cx="2267712" cy="585216"/>
          </a:xfrm>
          <a:prstGeom prst="roundRect">
            <a:avLst>
              <a:gd name="adj" fmla="val 50000"/>
            </a:avLst>
          </a:prstGeom>
          <a:solidFill>
            <a:srgbClr val="FCEAE2"/>
          </a:solidFill>
          <a:ln w="9525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32694" y="6928200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rgbClr val="E8743B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rainfall_lag4w</a:t>
            </a:r>
            <a:endParaRPr lang="en-US" sz="1600">
              <a:latin typeface="Nunito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319862" y="6928200"/>
            <a:ext cx="3419856" cy="585216"/>
          </a:xfrm>
          <a:prstGeom prst="roundRect">
            <a:avLst>
              <a:gd name="adj" fmla="val 50000"/>
            </a:avLst>
          </a:prstGeom>
          <a:solidFill>
            <a:srgbClr val="FCEAE2"/>
          </a:solidFill>
          <a:ln w="9525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319862" y="6928200"/>
            <a:ext cx="3419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rgbClr val="E8743B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cluster_count_rolling2w</a:t>
            </a:r>
            <a:endParaRPr lang="en-US" sz="1600">
              <a:latin typeface="Nunito" pitchFamily="2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1959174" y="6928200"/>
            <a:ext cx="3419856" cy="585216"/>
          </a:xfrm>
          <a:prstGeom prst="roundRect">
            <a:avLst>
              <a:gd name="adj" fmla="val 50000"/>
            </a:avLst>
          </a:prstGeom>
          <a:solidFill>
            <a:srgbClr val="FCEAE2"/>
          </a:solidFill>
          <a:ln w="9525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SG" sz="3600">
              <a:latin typeface="Nunito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959174" y="6928200"/>
            <a:ext cx="3419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rgbClr val="E8743B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cluster_count_rolling4w</a:t>
            </a:r>
            <a:endParaRPr lang="en-US" sz="1600">
              <a:latin typeface="Nunito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58358" y="7751160"/>
            <a:ext cx="1536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>
                <a:solidFill>
                  <a:srgbClr val="5C7873"/>
                </a:solidFill>
                <a:latin typeface="Nunito" pitchFamily="2" charset="0"/>
                <a:ea typeface="Calibri" pitchFamily="34" charset="-122"/>
                <a:cs typeface="Calibri" pitchFamily="34" charset="-120"/>
              </a:rPr>
              <a:t>SHAP drift: top feature unchanged (population, both runs) — but rainfall importance fell 45–78%, a quieter signal than the CSI alarm suggests</a:t>
            </a:r>
            <a:endParaRPr lang="en-US" sz="2000">
              <a:latin typeface="Nunito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7099280" y="9555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">
                <a:solidFill>
                  <a:srgbClr val="5C78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/>
          </a:p>
        </p:txBody>
      </p:sp>
      <p:grpSp>
        <p:nvGrpSpPr>
          <p:cNvPr id="31" name="Group 2">
            <a:extLst>
              <a:ext uri="{FF2B5EF4-FFF2-40B4-BE49-F238E27FC236}">
                <a16:creationId xmlns:a16="http://schemas.microsoft.com/office/drawing/2014/main" id="{AB66C9CC-03B1-719A-C42F-CE1BF9293D25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2" name="Freeform 3">
              <a:extLst>
                <a:ext uri="{FF2B5EF4-FFF2-40B4-BE49-F238E27FC236}">
                  <a16:creationId xmlns:a16="http://schemas.microsoft.com/office/drawing/2014/main" id="{21B5F1F1-7302-146E-080D-C6D58012F350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4">
              <a:extLst>
                <a:ext uri="{FF2B5EF4-FFF2-40B4-BE49-F238E27FC236}">
                  <a16:creationId xmlns:a16="http://schemas.microsoft.com/office/drawing/2014/main" id="{079D23EA-FECF-F73E-A553-FE63A0B03562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00003577-42A9-4A03-E2AB-7F05F4289903}"/>
              </a:ext>
            </a:extLst>
          </p:cNvPr>
          <p:cNvSpPr txBox="1"/>
          <p:nvPr/>
        </p:nvSpPr>
        <p:spPr>
          <a:xfrm>
            <a:off x="152400" y="571500"/>
            <a:ext cx="16459200" cy="116339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lang="en-SG" sz="6600" b="1" dirty="0">
                <a:solidFill>
                  <a:srgbClr val="303870"/>
                </a:solidFill>
                <a:latin typeface="Agrandir Wide Bold"/>
              </a:rPr>
              <a:t>Live Run</a:t>
            </a:r>
            <a:endParaRPr sz="6600" b="1" dirty="0">
              <a:solidFill>
                <a:srgbClr val="303870"/>
              </a:solidFill>
              <a:latin typeface="Agrandir Wide Bold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179040C-6A2F-AB08-C4F4-497F9F3F26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7484" y="116655"/>
            <a:ext cx="4275643" cy="25388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5248E10-48F2-A710-C8B4-40269B8E8661}"/>
              </a:ext>
            </a:extLst>
          </p:cNvPr>
          <p:cNvSpPr/>
          <p:nvPr/>
        </p:nvSpPr>
        <p:spPr>
          <a:xfrm>
            <a:off x="4038600" y="999270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D26978-633D-CEDD-A977-4F6B06BC22C0}"/>
              </a:ext>
            </a:extLst>
          </p:cNvPr>
          <p:cNvSpPr/>
          <p:nvPr/>
        </p:nvSpPr>
        <p:spPr>
          <a:xfrm>
            <a:off x="16228732" y="7530582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3308A-B75A-8AE7-8C47-31ED96C8FFB5}"/>
              </a:ext>
            </a:extLst>
          </p:cNvPr>
          <p:cNvSpPr/>
          <p:nvPr/>
        </p:nvSpPr>
        <p:spPr>
          <a:xfrm>
            <a:off x="15555300" y="751344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9DE4E5-DBFD-94C8-D497-F74CFDE54670}"/>
              </a:ext>
            </a:extLst>
          </p:cNvPr>
          <p:cNvSpPr/>
          <p:nvPr/>
        </p:nvSpPr>
        <p:spPr>
          <a:xfrm>
            <a:off x="9353844" y="5153016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6B9530-0D78-ACF1-9DB5-5E8FA5B3941D}"/>
              </a:ext>
            </a:extLst>
          </p:cNvPr>
          <p:cNvSpPr/>
          <p:nvPr/>
        </p:nvSpPr>
        <p:spPr>
          <a:xfrm>
            <a:off x="9353844" y="5627299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B4C888-4C04-BB9A-D549-43AEEA729E48}"/>
              </a:ext>
            </a:extLst>
          </p:cNvPr>
          <p:cNvSpPr/>
          <p:nvPr/>
        </p:nvSpPr>
        <p:spPr>
          <a:xfrm>
            <a:off x="10569452" y="3095168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2C985-14FC-1A27-AC9B-965DEAD480DC}"/>
              </a:ext>
            </a:extLst>
          </p:cNvPr>
          <p:cNvSpPr/>
          <p:nvPr/>
        </p:nvSpPr>
        <p:spPr>
          <a:xfrm>
            <a:off x="10569452" y="3510821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7DE3B1-A08E-3A50-FA0D-EAF92578ACD0}"/>
              </a:ext>
            </a:extLst>
          </p:cNvPr>
          <p:cNvSpPr/>
          <p:nvPr/>
        </p:nvSpPr>
        <p:spPr>
          <a:xfrm>
            <a:off x="8964000" y="907112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D212C9-B58B-1478-49BE-513EC589DA49}"/>
              </a:ext>
            </a:extLst>
          </p:cNvPr>
          <p:cNvSpPr/>
          <p:nvPr/>
        </p:nvSpPr>
        <p:spPr>
          <a:xfrm>
            <a:off x="9227172" y="907260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D00081-BBAC-4F84-5903-9FBC1201CEE3}"/>
              </a:ext>
            </a:extLst>
          </p:cNvPr>
          <p:cNvSpPr/>
          <p:nvPr/>
        </p:nvSpPr>
        <p:spPr>
          <a:xfrm>
            <a:off x="46698" y="4611955"/>
            <a:ext cx="11002302" cy="190314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AD1172-B9E7-DA86-3CC5-558B5F9A7785}"/>
              </a:ext>
            </a:extLst>
          </p:cNvPr>
          <p:cNvSpPr/>
          <p:nvPr/>
        </p:nvSpPr>
        <p:spPr>
          <a:xfrm>
            <a:off x="46698" y="45536"/>
            <a:ext cx="11002302" cy="448751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ED6DE8-2B1F-CAA0-278F-A02C7F2E39C7}"/>
              </a:ext>
            </a:extLst>
          </p:cNvPr>
          <p:cNvSpPr txBox="1"/>
          <p:nvPr/>
        </p:nvSpPr>
        <p:spPr>
          <a:xfrm>
            <a:off x="49079" y="47738"/>
            <a:ext cx="1393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Historical Data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268B4C-AE2E-316C-4C2D-6A02B7E2AAA4}"/>
              </a:ext>
            </a:extLst>
          </p:cNvPr>
          <p:cNvSpPr/>
          <p:nvPr/>
        </p:nvSpPr>
        <p:spPr>
          <a:xfrm>
            <a:off x="1262314" y="208219"/>
            <a:ext cx="1800000" cy="4248135"/>
          </a:xfrm>
          <a:prstGeom prst="roundRect">
            <a:avLst>
              <a:gd name="adj" fmla="val 6819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Bronze</a:t>
            </a:r>
          </a:p>
        </p:txBody>
      </p:sp>
      <p:sp>
        <p:nvSpPr>
          <p:cNvPr id="19" name="Flowchart: Document 18">
            <a:extLst>
              <a:ext uri="{FF2B5EF4-FFF2-40B4-BE49-F238E27FC236}">
                <a16:creationId xmlns:a16="http://schemas.microsoft.com/office/drawing/2014/main" id="{E8C1C15E-D694-9762-7885-FEA201059138}"/>
              </a:ext>
            </a:extLst>
          </p:cNvPr>
          <p:cNvSpPr/>
          <p:nvPr/>
        </p:nvSpPr>
        <p:spPr>
          <a:xfrm>
            <a:off x="257721" y="845673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SGCharts</a:t>
            </a:r>
            <a:r>
              <a:rPr lang="en-SG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 .</a:t>
            </a:r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01F89A03-AB89-04B6-49AA-E94F721A53AD}"/>
              </a:ext>
            </a:extLst>
          </p:cNvPr>
          <p:cNvSpPr/>
          <p:nvPr/>
        </p:nvSpPr>
        <p:spPr>
          <a:xfrm>
            <a:off x="257719" y="1757299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MSS Weather .</a:t>
            </a:r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21" name="Flowchart: Document 20">
            <a:extLst>
              <a:ext uri="{FF2B5EF4-FFF2-40B4-BE49-F238E27FC236}">
                <a16:creationId xmlns:a16="http://schemas.microsoft.com/office/drawing/2014/main" id="{73635587-4DD0-FFFA-25FA-D85835AFA7E0}"/>
              </a:ext>
            </a:extLst>
          </p:cNvPr>
          <p:cNvSpPr/>
          <p:nvPr/>
        </p:nvSpPr>
        <p:spPr>
          <a:xfrm>
            <a:off x="257719" y="2689388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SingStat</a:t>
            </a:r>
            <a:r>
              <a:rPr lang="en-SG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 .</a:t>
            </a:r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22" name="Flowchart: Document 21">
            <a:extLst>
              <a:ext uri="{FF2B5EF4-FFF2-40B4-BE49-F238E27FC236}">
                <a16:creationId xmlns:a16="http://schemas.microsoft.com/office/drawing/2014/main" id="{400E7621-68E8-C86A-7CE6-77F65D05A334}"/>
              </a:ext>
            </a:extLst>
          </p:cNvPr>
          <p:cNvSpPr/>
          <p:nvPr/>
        </p:nvSpPr>
        <p:spPr>
          <a:xfrm>
            <a:off x="252710" y="3581696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URA </a:t>
            </a:r>
            <a:r>
              <a:rPr lang="en-SG" sz="1050" i="1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Geo.</a:t>
            </a:r>
            <a:r>
              <a:rPr lang="en-SG" sz="105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json</a:t>
            </a:r>
            <a:endParaRPr lang="en-SG" sz="105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23" name="Cylinder 22">
            <a:extLst>
              <a:ext uri="{FF2B5EF4-FFF2-40B4-BE49-F238E27FC236}">
                <a16:creationId xmlns:a16="http://schemas.microsoft.com/office/drawing/2014/main" id="{EEA3BD9E-630F-29D0-0D0F-856D8E390127}"/>
              </a:ext>
            </a:extLst>
          </p:cNvPr>
          <p:cNvSpPr/>
          <p:nvPr/>
        </p:nvSpPr>
        <p:spPr>
          <a:xfrm>
            <a:off x="1626949" y="81054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105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28DCC0B5-4A31-FB22-7DB0-FE0DF3E90244}"/>
              </a:ext>
            </a:extLst>
          </p:cNvPr>
          <p:cNvSpPr/>
          <p:nvPr/>
        </p:nvSpPr>
        <p:spPr>
          <a:xfrm>
            <a:off x="1626949" y="1722173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weather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31ACA7EA-369A-C82F-2F76-5CB60D3A60D5}"/>
              </a:ext>
            </a:extLst>
          </p:cNvPr>
          <p:cNvSpPr/>
          <p:nvPr/>
        </p:nvSpPr>
        <p:spPr>
          <a:xfrm>
            <a:off x="1626949" y="265396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0AAD1EA9-65C2-030C-DEFE-8A0F2DD8B014}"/>
              </a:ext>
            </a:extLst>
          </p:cNvPr>
          <p:cNvSpPr/>
          <p:nvPr/>
        </p:nvSpPr>
        <p:spPr>
          <a:xfrm>
            <a:off x="1626949" y="354657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geodata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C4060D-3E2F-D6AC-79A7-F4D807F77A26}"/>
              </a:ext>
            </a:extLst>
          </p:cNvPr>
          <p:cNvCxnSpPr>
            <a:cxnSpLocks/>
            <a:stCxn id="19" idx="3"/>
            <a:endCxn id="23" idx="2"/>
          </p:cNvCxnSpPr>
          <p:nvPr/>
        </p:nvCxnSpPr>
        <p:spPr>
          <a:xfrm>
            <a:off x="1102076" y="1188198"/>
            <a:ext cx="524873" cy="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1040A88-F592-DDC8-23D4-A95FBD852343}"/>
              </a:ext>
            </a:extLst>
          </p:cNvPr>
          <p:cNvCxnSpPr>
            <a:cxnSpLocks/>
            <a:stCxn id="20" idx="3"/>
            <a:endCxn id="24" idx="2"/>
          </p:cNvCxnSpPr>
          <p:nvPr/>
        </p:nvCxnSpPr>
        <p:spPr>
          <a:xfrm>
            <a:off x="1102074" y="2099824"/>
            <a:ext cx="524875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E02935F-E173-B568-A46F-09AE9ED483A5}"/>
              </a:ext>
            </a:extLst>
          </p:cNvPr>
          <p:cNvCxnSpPr>
            <a:cxnSpLocks/>
            <a:stCxn id="21" idx="3"/>
            <a:endCxn id="25" idx="2"/>
          </p:cNvCxnSpPr>
          <p:nvPr/>
        </p:nvCxnSpPr>
        <p:spPr>
          <a:xfrm flipV="1">
            <a:off x="1102074" y="3031612"/>
            <a:ext cx="524875" cy="30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AFB1C21-F550-D82C-6EA6-F814166E0246}"/>
              </a:ext>
            </a:extLst>
          </p:cNvPr>
          <p:cNvCxnSpPr>
            <a:cxnSpLocks/>
            <a:stCxn id="22" idx="3"/>
            <a:endCxn id="26" idx="2"/>
          </p:cNvCxnSpPr>
          <p:nvPr/>
        </p:nvCxnSpPr>
        <p:spPr>
          <a:xfrm>
            <a:off x="1097065" y="3924221"/>
            <a:ext cx="529884" cy="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025C87B-7384-E2F1-AB4C-37BDBE7AAAD0}"/>
              </a:ext>
            </a:extLst>
          </p:cNvPr>
          <p:cNvSpPr/>
          <p:nvPr/>
        </p:nvSpPr>
        <p:spPr>
          <a:xfrm>
            <a:off x="5181600" y="208200"/>
            <a:ext cx="1800000" cy="4248943"/>
          </a:xfrm>
          <a:prstGeom prst="roundRect">
            <a:avLst>
              <a:gd name="adj" fmla="val 68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Silver</a:t>
            </a:r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0D900BCE-AC5D-4241-BAB9-66C33A4A54B5}"/>
              </a:ext>
            </a:extLst>
          </p:cNvPr>
          <p:cNvSpPr/>
          <p:nvPr/>
        </p:nvSpPr>
        <p:spPr>
          <a:xfrm>
            <a:off x="5546235" y="81054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CC4CEAA0-926E-1E67-EA6C-D63AAD996407}"/>
              </a:ext>
            </a:extLst>
          </p:cNvPr>
          <p:cNvSpPr/>
          <p:nvPr/>
        </p:nvSpPr>
        <p:spPr>
          <a:xfrm>
            <a:off x="5546235" y="1722173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weather</a:t>
            </a:r>
          </a:p>
        </p:txBody>
      </p:sp>
      <p:sp>
        <p:nvSpPr>
          <p:cNvPr id="34" name="Cylinder 33">
            <a:extLst>
              <a:ext uri="{FF2B5EF4-FFF2-40B4-BE49-F238E27FC236}">
                <a16:creationId xmlns:a16="http://schemas.microsoft.com/office/drawing/2014/main" id="{19781F29-3974-FCFC-71DF-BE5850F76010}"/>
              </a:ext>
            </a:extLst>
          </p:cNvPr>
          <p:cNvSpPr/>
          <p:nvPr/>
        </p:nvSpPr>
        <p:spPr>
          <a:xfrm>
            <a:off x="5546235" y="265396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1D86E028-5D6A-C399-290D-C712F4DF2A66}"/>
              </a:ext>
            </a:extLst>
          </p:cNvPr>
          <p:cNvSpPr/>
          <p:nvPr/>
        </p:nvSpPr>
        <p:spPr>
          <a:xfrm>
            <a:off x="5546235" y="354657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geodata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F4C4FC3-DA7A-A188-2A89-D9E18FC8413D}"/>
              </a:ext>
            </a:extLst>
          </p:cNvPr>
          <p:cNvCxnSpPr>
            <a:cxnSpLocks/>
            <a:stCxn id="23" idx="4"/>
            <a:endCxn id="32" idx="2"/>
          </p:cNvCxnSpPr>
          <p:nvPr/>
        </p:nvCxnSpPr>
        <p:spPr>
          <a:xfrm>
            <a:off x="2706949" y="1188199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F3DDA8B-2C9A-EA53-BE4A-3679A64F7641}"/>
              </a:ext>
            </a:extLst>
          </p:cNvPr>
          <p:cNvCxnSpPr>
            <a:cxnSpLocks/>
            <a:stCxn id="24" idx="4"/>
            <a:endCxn id="33" idx="2"/>
          </p:cNvCxnSpPr>
          <p:nvPr/>
        </p:nvCxnSpPr>
        <p:spPr>
          <a:xfrm>
            <a:off x="2706949" y="2099824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12D87A3-1BF7-2A52-BD20-818CDA7EDE98}"/>
              </a:ext>
            </a:extLst>
          </p:cNvPr>
          <p:cNvCxnSpPr>
            <a:cxnSpLocks/>
            <a:stCxn id="25" idx="4"/>
            <a:endCxn id="34" idx="2"/>
          </p:cNvCxnSpPr>
          <p:nvPr/>
        </p:nvCxnSpPr>
        <p:spPr>
          <a:xfrm>
            <a:off x="2706949" y="3031612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C8C203F-466B-1D76-C215-5BD0AB07BC53}"/>
              </a:ext>
            </a:extLst>
          </p:cNvPr>
          <p:cNvCxnSpPr>
            <a:cxnSpLocks/>
            <a:stCxn id="26" idx="4"/>
            <a:endCxn id="35" idx="2"/>
          </p:cNvCxnSpPr>
          <p:nvPr/>
        </p:nvCxnSpPr>
        <p:spPr>
          <a:xfrm>
            <a:off x="2706949" y="3924222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8DC7766-67B2-3B9B-C429-F780B5C9557B}"/>
              </a:ext>
            </a:extLst>
          </p:cNvPr>
          <p:cNvSpPr/>
          <p:nvPr/>
        </p:nvSpPr>
        <p:spPr>
          <a:xfrm>
            <a:off x="9144000" y="208200"/>
            <a:ext cx="1800000" cy="6230700"/>
          </a:xfrm>
          <a:prstGeom prst="roundRect">
            <a:avLst>
              <a:gd name="adj" fmla="val 68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Gold</a:t>
            </a:r>
          </a:p>
        </p:txBody>
      </p:sp>
      <p:sp>
        <p:nvSpPr>
          <p:cNvPr id="41" name="Cylinder 40">
            <a:extLst>
              <a:ext uri="{FF2B5EF4-FFF2-40B4-BE49-F238E27FC236}">
                <a16:creationId xmlns:a16="http://schemas.microsoft.com/office/drawing/2014/main" id="{B44FEBEA-1DDC-7306-DC48-0DD61EAE5758}"/>
              </a:ext>
            </a:extLst>
          </p:cNvPr>
          <p:cNvSpPr/>
          <p:nvPr/>
        </p:nvSpPr>
        <p:spPr>
          <a:xfrm>
            <a:off x="9347201" y="2851307"/>
            <a:ext cx="1407503" cy="996793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</a:t>
            </a:r>
            <a:endParaRPr lang="en-SG" sz="105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cxnSp>
        <p:nvCxnSpPr>
          <p:cNvPr id="42" name="Straight Arrow Connector 80">
            <a:extLst>
              <a:ext uri="{FF2B5EF4-FFF2-40B4-BE49-F238E27FC236}">
                <a16:creationId xmlns:a16="http://schemas.microsoft.com/office/drawing/2014/main" id="{F27E7B19-C96F-3FC7-309F-FE5C5DC4EC02}"/>
              </a:ext>
            </a:extLst>
          </p:cNvPr>
          <p:cNvCxnSpPr>
            <a:cxnSpLocks/>
            <a:stCxn id="32" idx="4"/>
            <a:endCxn id="41" idx="2"/>
          </p:cNvCxnSpPr>
          <p:nvPr/>
        </p:nvCxnSpPr>
        <p:spPr>
          <a:xfrm>
            <a:off x="6626235" y="1188199"/>
            <a:ext cx="2720966" cy="2161505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83">
            <a:extLst>
              <a:ext uri="{FF2B5EF4-FFF2-40B4-BE49-F238E27FC236}">
                <a16:creationId xmlns:a16="http://schemas.microsoft.com/office/drawing/2014/main" id="{5A57E6F7-1AA9-BC17-4770-00D0B97143FF}"/>
              </a:ext>
            </a:extLst>
          </p:cNvPr>
          <p:cNvCxnSpPr>
            <a:cxnSpLocks/>
            <a:stCxn id="33" idx="4"/>
            <a:endCxn id="41" idx="2"/>
          </p:cNvCxnSpPr>
          <p:nvPr/>
        </p:nvCxnSpPr>
        <p:spPr>
          <a:xfrm>
            <a:off x="6626235" y="2099824"/>
            <a:ext cx="2720966" cy="1249880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86">
            <a:extLst>
              <a:ext uri="{FF2B5EF4-FFF2-40B4-BE49-F238E27FC236}">
                <a16:creationId xmlns:a16="http://schemas.microsoft.com/office/drawing/2014/main" id="{D8DE0735-C841-D03D-18B7-F51809471D0A}"/>
              </a:ext>
            </a:extLst>
          </p:cNvPr>
          <p:cNvCxnSpPr>
            <a:cxnSpLocks/>
            <a:stCxn id="34" idx="4"/>
            <a:endCxn id="41" idx="2"/>
          </p:cNvCxnSpPr>
          <p:nvPr/>
        </p:nvCxnSpPr>
        <p:spPr>
          <a:xfrm>
            <a:off x="6626235" y="3031612"/>
            <a:ext cx="2720966" cy="318092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89">
            <a:extLst>
              <a:ext uri="{FF2B5EF4-FFF2-40B4-BE49-F238E27FC236}">
                <a16:creationId xmlns:a16="http://schemas.microsoft.com/office/drawing/2014/main" id="{D825283D-623F-68E6-E618-0690DE044F8A}"/>
              </a:ext>
            </a:extLst>
          </p:cNvPr>
          <p:cNvCxnSpPr>
            <a:cxnSpLocks/>
            <a:stCxn id="35" idx="4"/>
            <a:endCxn id="41" idx="2"/>
          </p:cNvCxnSpPr>
          <p:nvPr/>
        </p:nvCxnSpPr>
        <p:spPr>
          <a:xfrm flipV="1">
            <a:off x="6626235" y="3349704"/>
            <a:ext cx="2720966" cy="57451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3E53C4FA-7C5C-01D9-9CA1-7C342EC8F7BC}"/>
              </a:ext>
            </a:extLst>
          </p:cNvPr>
          <p:cNvSpPr/>
          <p:nvPr/>
        </p:nvSpPr>
        <p:spPr>
          <a:xfrm>
            <a:off x="3212500" y="810548"/>
            <a:ext cx="1800000" cy="3344413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200" b="1">
                <a:solidFill>
                  <a:srgbClr val="6B7A7A"/>
                </a:solidFill>
                <a:latin typeface="Nunito" pitchFamily="2" charset="0"/>
              </a:rPr>
              <a:t>Pre-processing</a:t>
            </a:r>
            <a:endParaRPr lang="en-SG" sz="1050" b="1">
              <a:solidFill>
                <a:srgbClr val="6B7A7A"/>
              </a:solidFill>
              <a:latin typeface="Nunito" pitchFamily="2" charset="0"/>
            </a:endParaRPr>
          </a:p>
          <a:p>
            <a:pPr algn="ctr"/>
            <a:endParaRPr lang="en-SG" sz="105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Enforce schema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Handle null values and outliers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Remove duplicates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Repair geometrics</a:t>
            </a:r>
          </a:p>
        </p:txBody>
      </p:sp>
      <p:cxnSp>
        <p:nvCxnSpPr>
          <p:cNvPr id="47" name="Straight Arrow Connector 80">
            <a:extLst>
              <a:ext uri="{FF2B5EF4-FFF2-40B4-BE49-F238E27FC236}">
                <a16:creationId xmlns:a16="http://schemas.microsoft.com/office/drawing/2014/main" id="{A937F0E9-0D3A-DF70-F164-92F4965764B8}"/>
              </a:ext>
            </a:extLst>
          </p:cNvPr>
          <p:cNvCxnSpPr>
            <a:cxnSpLocks/>
            <a:stCxn id="32" idx="4"/>
            <a:endCxn id="49" idx="1"/>
          </p:cNvCxnSpPr>
          <p:nvPr/>
        </p:nvCxnSpPr>
        <p:spPr>
          <a:xfrm>
            <a:off x="6626235" y="1188199"/>
            <a:ext cx="2720966" cy="34044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DDF11D-A435-5987-999A-72BB5254F012}"/>
              </a:ext>
            </a:extLst>
          </p:cNvPr>
          <p:cNvSpPr txBox="1"/>
          <p:nvPr/>
        </p:nvSpPr>
        <p:spPr>
          <a:xfrm>
            <a:off x="9640422" y="2875290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49" name="Flowchart: Document 48">
            <a:extLst>
              <a:ext uri="{FF2B5EF4-FFF2-40B4-BE49-F238E27FC236}">
                <a16:creationId xmlns:a16="http://schemas.microsoft.com/office/drawing/2014/main" id="{F939FBF4-B535-421C-CEB9-6CD06D5AA647}"/>
              </a:ext>
            </a:extLst>
          </p:cNvPr>
          <p:cNvSpPr/>
          <p:nvPr/>
        </p:nvSpPr>
        <p:spPr>
          <a:xfrm>
            <a:off x="9347201" y="1114191"/>
            <a:ext cx="1396998" cy="82890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subzone_features.parquet</a:t>
            </a:r>
            <a:endParaRPr lang="en-SG" sz="105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308DDB-AB26-6864-886F-A4C8B66E7439}"/>
              </a:ext>
            </a:extLst>
          </p:cNvPr>
          <p:cNvSpPr txBox="1"/>
          <p:nvPr/>
        </p:nvSpPr>
        <p:spPr>
          <a:xfrm>
            <a:off x="5735837" y="7995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E36977-F6D5-3A85-FF52-C9DA83BFB3BC}"/>
              </a:ext>
            </a:extLst>
          </p:cNvPr>
          <p:cNvSpPr txBox="1"/>
          <p:nvPr/>
        </p:nvSpPr>
        <p:spPr>
          <a:xfrm>
            <a:off x="5745081" y="17139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55B100-BB95-D24F-9F99-CE431EED0534}"/>
              </a:ext>
            </a:extLst>
          </p:cNvPr>
          <p:cNvSpPr txBox="1"/>
          <p:nvPr/>
        </p:nvSpPr>
        <p:spPr>
          <a:xfrm>
            <a:off x="5725573" y="26283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D9EA88-36F5-7CBA-ADBB-5A93D2AC1F5C}"/>
              </a:ext>
            </a:extLst>
          </p:cNvPr>
          <p:cNvSpPr txBox="1"/>
          <p:nvPr/>
        </p:nvSpPr>
        <p:spPr>
          <a:xfrm>
            <a:off x="5735022" y="35427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AC5C1F-2C67-8852-0122-BCD8CE0D9BD8}"/>
              </a:ext>
            </a:extLst>
          </p:cNvPr>
          <p:cNvSpPr txBox="1"/>
          <p:nvPr/>
        </p:nvSpPr>
        <p:spPr>
          <a:xfrm>
            <a:off x="1801396" y="7995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C8C8DC-4AA9-81E1-CBBC-DD8A26C23AFC}"/>
              </a:ext>
            </a:extLst>
          </p:cNvPr>
          <p:cNvSpPr txBox="1"/>
          <p:nvPr/>
        </p:nvSpPr>
        <p:spPr>
          <a:xfrm>
            <a:off x="1810640" y="17139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988E6B-FE9C-B660-D47B-C50A1A82F912}"/>
              </a:ext>
            </a:extLst>
          </p:cNvPr>
          <p:cNvSpPr txBox="1"/>
          <p:nvPr/>
        </p:nvSpPr>
        <p:spPr>
          <a:xfrm>
            <a:off x="1791132" y="26283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D470EF-608D-CCDA-E779-CC20BF8CA868}"/>
              </a:ext>
            </a:extLst>
          </p:cNvPr>
          <p:cNvSpPr txBox="1"/>
          <p:nvPr/>
        </p:nvSpPr>
        <p:spPr>
          <a:xfrm>
            <a:off x="1800581" y="35427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8" name="Cylinder 57">
            <a:extLst>
              <a:ext uri="{FF2B5EF4-FFF2-40B4-BE49-F238E27FC236}">
                <a16:creationId xmlns:a16="http://schemas.microsoft.com/office/drawing/2014/main" id="{B23428C5-3BC1-C0B0-A8F5-93EE21287708}"/>
              </a:ext>
            </a:extLst>
          </p:cNvPr>
          <p:cNvSpPr/>
          <p:nvPr/>
        </p:nvSpPr>
        <p:spPr>
          <a:xfrm>
            <a:off x="9341949" y="4921020"/>
            <a:ext cx="1407503" cy="996793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err="1">
                <a:solidFill>
                  <a:srgbClr val="595959"/>
                </a:solidFill>
                <a:latin typeface="Nunito" pitchFamily="2" charset="0"/>
              </a:rPr>
              <a:t>current_week_case_count</a:t>
            </a:r>
            <a:endParaRPr lang="en-SG" sz="1050">
              <a:solidFill>
                <a:srgbClr val="595959"/>
              </a:solidFill>
              <a:latin typeface="Nunito" pitchFamily="2" charset="0"/>
            </a:endParaRPr>
          </a:p>
          <a:p>
            <a:pPr algn="ctr"/>
            <a:r>
              <a:rPr lang="en-SG" sz="1050" err="1">
                <a:solidFill>
                  <a:srgbClr val="595959"/>
                </a:solidFill>
                <a:latin typeface="Nunito" pitchFamily="2" charset="0"/>
              </a:rPr>
              <a:t>vulnerability_index</a:t>
            </a:r>
            <a:endParaRPr lang="en-SG" sz="1050">
              <a:solidFill>
                <a:srgbClr val="595959"/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2E0444-E231-B47F-FC2F-0AE72DA421FD}"/>
              </a:ext>
            </a:extLst>
          </p:cNvPr>
          <p:cNvSpPr txBox="1"/>
          <p:nvPr/>
        </p:nvSpPr>
        <p:spPr>
          <a:xfrm>
            <a:off x="9725740" y="4921020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b="1">
                <a:solidFill>
                  <a:srgbClr val="1C334E"/>
                </a:solidFill>
                <a:latin typeface="Nunito" pitchFamily="2" charset="0"/>
              </a:rPr>
              <a:t>REDIS</a:t>
            </a:r>
          </a:p>
        </p:txBody>
      </p:sp>
      <p:cxnSp>
        <p:nvCxnSpPr>
          <p:cNvPr id="60" name="Straight Arrow Connector 89">
            <a:extLst>
              <a:ext uri="{FF2B5EF4-FFF2-40B4-BE49-F238E27FC236}">
                <a16:creationId xmlns:a16="http://schemas.microsoft.com/office/drawing/2014/main" id="{43AA8AC4-D0E9-6F7D-D8D4-7C9FE43BF5CD}"/>
              </a:ext>
            </a:extLst>
          </p:cNvPr>
          <p:cNvCxnSpPr>
            <a:cxnSpLocks/>
            <a:stCxn id="34" idx="4"/>
            <a:endCxn id="9" idx="1"/>
          </p:cNvCxnSpPr>
          <p:nvPr/>
        </p:nvCxnSpPr>
        <p:spPr>
          <a:xfrm>
            <a:off x="6626235" y="3031612"/>
            <a:ext cx="2727609" cy="2211404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7B31821A-148F-ACE5-E859-2031583F4460}"/>
              </a:ext>
            </a:extLst>
          </p:cNvPr>
          <p:cNvSpPr/>
          <p:nvPr/>
        </p:nvSpPr>
        <p:spPr>
          <a:xfrm>
            <a:off x="7156767" y="799544"/>
            <a:ext cx="1800000" cy="3355418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200" b="1" dirty="0">
                <a:solidFill>
                  <a:srgbClr val="6B7A7A"/>
                </a:solidFill>
                <a:latin typeface="Nunito" pitchFamily="2" charset="0"/>
              </a:rPr>
              <a:t>Feature Engineering</a:t>
            </a: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Lag features (weather)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Rolling aggregates (clusters)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Spatial join (clusters × subzones)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Vulnerability index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Label creation</a:t>
            </a: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2B1D4E6-8B87-94EE-2F0C-8D3070EA23CD}"/>
              </a:ext>
            </a:extLst>
          </p:cNvPr>
          <p:cNvSpPr txBox="1"/>
          <p:nvPr/>
        </p:nvSpPr>
        <p:spPr>
          <a:xfrm>
            <a:off x="9227172" y="876925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Used for model dev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3297A3-966B-DF83-C5DE-35C23817B65A}"/>
              </a:ext>
            </a:extLst>
          </p:cNvPr>
          <p:cNvSpPr txBox="1"/>
          <p:nvPr/>
        </p:nvSpPr>
        <p:spPr>
          <a:xfrm>
            <a:off x="9202871" y="2612009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Offline Feature Store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8855B17-245E-A152-B980-CC91E69190C6}"/>
              </a:ext>
            </a:extLst>
          </p:cNvPr>
          <p:cNvSpPr txBox="1"/>
          <p:nvPr/>
        </p:nvSpPr>
        <p:spPr>
          <a:xfrm>
            <a:off x="9202871" y="4686300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Online Feature Store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C64171D-CBD7-16BB-BCE8-E30042AC2393}"/>
              </a:ext>
            </a:extLst>
          </p:cNvPr>
          <p:cNvSpPr/>
          <p:nvPr/>
        </p:nvSpPr>
        <p:spPr>
          <a:xfrm>
            <a:off x="11766233" y="6591300"/>
            <a:ext cx="5086089" cy="2479820"/>
          </a:xfrm>
          <a:prstGeom prst="roundRect">
            <a:avLst>
              <a:gd name="adj" fmla="val 420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b"/>
          <a:lstStyle/>
          <a:p>
            <a:pPr algn="ctr"/>
            <a:r>
              <a:rPr lang="en-SG" sz="1400" b="1">
                <a:solidFill>
                  <a:srgbClr val="595959"/>
                </a:solidFill>
                <a:latin typeface="Nunito" pitchFamily="2" charset="0"/>
              </a:rPr>
              <a:t>Model Registry (</a:t>
            </a:r>
            <a:r>
              <a:rPr lang="en-SG" sz="1400" b="1" err="1">
                <a:solidFill>
                  <a:srgbClr val="595959"/>
                </a:solidFill>
                <a:latin typeface="Nunito" pitchFamily="2" charset="0"/>
              </a:rPr>
              <a:t>MLflow</a:t>
            </a:r>
            <a:r>
              <a:rPr lang="en-SG" sz="1400" b="1">
                <a:solidFill>
                  <a:srgbClr val="595959"/>
                </a:solidFill>
                <a:latin typeface="Nunito" pitchFamily="2" charset="0"/>
              </a:rPr>
              <a:t>)</a:t>
            </a:r>
          </a:p>
        </p:txBody>
      </p:sp>
      <p:cxnSp>
        <p:nvCxnSpPr>
          <p:cNvPr id="66" name="Straight Arrow Connector 80">
            <a:extLst>
              <a:ext uri="{FF2B5EF4-FFF2-40B4-BE49-F238E27FC236}">
                <a16:creationId xmlns:a16="http://schemas.microsoft.com/office/drawing/2014/main" id="{79E82154-B56C-C139-CDED-182FC7A9705E}"/>
              </a:ext>
            </a:extLst>
          </p:cNvPr>
          <p:cNvCxnSpPr>
            <a:cxnSpLocks/>
            <a:stCxn id="49" idx="3"/>
            <a:endCxn id="80" idx="1"/>
          </p:cNvCxnSpPr>
          <p:nvPr/>
        </p:nvCxnSpPr>
        <p:spPr>
          <a:xfrm>
            <a:off x="10744199" y="1528646"/>
            <a:ext cx="841580" cy="1300231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80">
            <a:extLst>
              <a:ext uri="{FF2B5EF4-FFF2-40B4-BE49-F238E27FC236}">
                <a16:creationId xmlns:a16="http://schemas.microsoft.com/office/drawing/2014/main" id="{CEF0D7E8-3C66-752A-9284-3FE795DB8BC9}"/>
              </a:ext>
            </a:extLst>
          </p:cNvPr>
          <p:cNvCxnSpPr>
            <a:cxnSpLocks/>
            <a:stCxn id="78" idx="2"/>
            <a:endCxn id="77" idx="0"/>
          </p:cNvCxnSpPr>
          <p:nvPr/>
        </p:nvCxnSpPr>
        <p:spPr>
          <a:xfrm rot="16200000" flipH="1">
            <a:off x="12748472" y="5155679"/>
            <a:ext cx="1613229" cy="193893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Single Corner Rounded 67">
            <a:extLst>
              <a:ext uri="{FF2B5EF4-FFF2-40B4-BE49-F238E27FC236}">
                <a16:creationId xmlns:a16="http://schemas.microsoft.com/office/drawing/2014/main" id="{DE5406FE-BAD5-F946-3E79-0AB536E0AB56}"/>
              </a:ext>
            </a:extLst>
          </p:cNvPr>
          <p:cNvSpPr/>
          <p:nvPr/>
        </p:nvSpPr>
        <p:spPr>
          <a:xfrm>
            <a:off x="12128417" y="6896100"/>
            <a:ext cx="914400" cy="814481"/>
          </a:xfrm>
          <a:prstGeom prst="round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>
                <a:solidFill>
                  <a:srgbClr val="6B7A7A"/>
                </a:solidFill>
                <a:latin typeface="Nunito" pitchFamily="2" charset="0"/>
              </a:rPr>
              <a:t>model_v1</a:t>
            </a:r>
            <a:endParaRPr lang="en-SG" sz="110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69" name="Rectangle: Single Corner Rounded 68">
            <a:extLst>
              <a:ext uri="{FF2B5EF4-FFF2-40B4-BE49-F238E27FC236}">
                <a16:creationId xmlns:a16="http://schemas.microsoft.com/office/drawing/2014/main" id="{47044753-D839-D2AB-029C-FC1C92AC4CA3}"/>
              </a:ext>
            </a:extLst>
          </p:cNvPr>
          <p:cNvSpPr/>
          <p:nvPr/>
        </p:nvSpPr>
        <p:spPr>
          <a:xfrm>
            <a:off x="13258800" y="6896100"/>
            <a:ext cx="914400" cy="814481"/>
          </a:xfrm>
          <a:prstGeom prst="round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>
                <a:solidFill>
                  <a:srgbClr val="6B7A7A"/>
                </a:solidFill>
                <a:latin typeface="Nunito" pitchFamily="2" charset="0"/>
              </a:rPr>
              <a:t>model_v2</a:t>
            </a:r>
            <a:endParaRPr lang="en-SG" sz="110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70" name="Straight Arrow Connector 80">
            <a:extLst>
              <a:ext uri="{FF2B5EF4-FFF2-40B4-BE49-F238E27FC236}">
                <a16:creationId xmlns:a16="http://schemas.microsoft.com/office/drawing/2014/main" id="{74E5B9D3-BA7E-A02F-9496-E5BBDC5D640C}"/>
              </a:ext>
            </a:extLst>
          </p:cNvPr>
          <p:cNvCxnSpPr>
            <a:cxnSpLocks/>
            <a:stCxn id="79" idx="2"/>
            <a:endCxn id="127" idx="0"/>
          </p:cNvCxnSpPr>
          <p:nvPr/>
        </p:nvCxnSpPr>
        <p:spPr>
          <a:xfrm rot="16200000" flipH="1">
            <a:off x="14893670" y="5818446"/>
            <a:ext cx="1583009" cy="583183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1AFED63-C721-A41A-7413-D1A575D52058}"/>
              </a:ext>
            </a:extLst>
          </p:cNvPr>
          <p:cNvSpPr txBox="1"/>
          <p:nvPr/>
        </p:nvSpPr>
        <p:spPr>
          <a:xfrm>
            <a:off x="12533738" y="5402633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>
                <a:solidFill>
                  <a:srgbClr val="1C334E"/>
                </a:solidFill>
                <a:latin typeface="Nunito" pitchFamily="2" charset="0"/>
              </a:rPr>
              <a:t>output </a:t>
            </a:r>
            <a:r>
              <a:rPr lang="en-SG" sz="1200" b="1">
                <a:solidFill>
                  <a:srgbClr val="1C334E"/>
                </a:solidFill>
                <a:latin typeface="Nunito" pitchFamily="2" charset="0"/>
              </a:rPr>
              <a:t>candidate</a:t>
            </a:r>
            <a:r>
              <a:rPr lang="en-SG" sz="120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C01A3F8-6F9F-C3AC-AD7A-BDC7DBE898CF}"/>
              </a:ext>
            </a:extLst>
          </p:cNvPr>
          <p:cNvSpPr txBox="1"/>
          <p:nvPr/>
        </p:nvSpPr>
        <p:spPr>
          <a:xfrm>
            <a:off x="13868400" y="5390244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1200">
                <a:solidFill>
                  <a:srgbClr val="1C334E"/>
                </a:solidFill>
                <a:latin typeface="Nunito" pitchFamily="2" charset="0"/>
              </a:rPr>
              <a:t>evaluate </a:t>
            </a:r>
            <a:r>
              <a:rPr lang="en-SG" sz="1200" b="1">
                <a:solidFill>
                  <a:srgbClr val="1C334E"/>
                </a:solidFill>
                <a:latin typeface="Nunito" pitchFamily="2" charset="0"/>
              </a:rPr>
              <a:t>candidate</a:t>
            </a:r>
            <a:r>
              <a:rPr lang="en-SG" sz="120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462E48-2006-CB34-2383-40B871DA96F0}"/>
              </a:ext>
            </a:extLst>
          </p:cNvPr>
          <p:cNvSpPr txBox="1"/>
          <p:nvPr/>
        </p:nvSpPr>
        <p:spPr>
          <a:xfrm>
            <a:off x="15344775" y="5402633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>
                <a:solidFill>
                  <a:srgbClr val="1C334E"/>
                </a:solidFill>
                <a:latin typeface="Nunito" pitchFamily="2" charset="0"/>
              </a:rPr>
              <a:t>output </a:t>
            </a:r>
            <a:r>
              <a:rPr lang="en-SG" sz="1200" b="1">
                <a:solidFill>
                  <a:srgbClr val="1C334E"/>
                </a:solidFill>
                <a:latin typeface="Nunito" pitchFamily="2" charset="0"/>
              </a:rPr>
              <a:t>promoted</a:t>
            </a:r>
            <a:r>
              <a:rPr lang="en-SG" sz="120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cxnSp>
        <p:nvCxnSpPr>
          <p:cNvPr id="74" name="Straight Arrow Connector 80">
            <a:extLst>
              <a:ext uri="{FF2B5EF4-FFF2-40B4-BE49-F238E27FC236}">
                <a16:creationId xmlns:a16="http://schemas.microsoft.com/office/drawing/2014/main" id="{6D1D89B7-691D-7B48-051C-37250194E86C}"/>
              </a:ext>
            </a:extLst>
          </p:cNvPr>
          <p:cNvCxnSpPr>
            <a:cxnSpLocks/>
            <a:stCxn id="75" idx="0"/>
            <a:endCxn id="76" idx="2"/>
          </p:cNvCxnSpPr>
          <p:nvPr/>
        </p:nvCxnSpPr>
        <p:spPr>
          <a:xfrm rot="16200000" flipV="1">
            <a:off x="14161766" y="6003152"/>
            <a:ext cx="1624253" cy="25501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F6ECD9AE-0FC7-D531-12E1-B58F604D3737}"/>
              </a:ext>
            </a:extLst>
          </p:cNvPr>
          <p:cNvSpPr/>
          <p:nvPr/>
        </p:nvSpPr>
        <p:spPr>
          <a:xfrm>
            <a:off x="15011400" y="694278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2787DD3-04C6-297B-D7B5-5E550AC35E8B}"/>
              </a:ext>
            </a:extLst>
          </p:cNvPr>
          <p:cNvSpPr/>
          <p:nvPr/>
        </p:nvSpPr>
        <p:spPr>
          <a:xfrm>
            <a:off x="14756383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1DD36BC-C965-A0AA-0DC2-7FDF6C669A0F}"/>
              </a:ext>
            </a:extLst>
          </p:cNvPr>
          <p:cNvSpPr/>
          <p:nvPr/>
        </p:nvSpPr>
        <p:spPr>
          <a:xfrm>
            <a:off x="14434555" y="6931763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2853D9D-0778-1A25-2E07-4EF79D5C96F9}"/>
              </a:ext>
            </a:extLst>
          </p:cNvPr>
          <p:cNvSpPr/>
          <p:nvPr/>
        </p:nvSpPr>
        <p:spPr>
          <a:xfrm>
            <a:off x="12495617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EB8D0D6-E39F-21E5-DA58-30C562CEF265}"/>
              </a:ext>
            </a:extLst>
          </p:cNvPr>
          <p:cNvSpPr/>
          <p:nvPr/>
        </p:nvSpPr>
        <p:spPr>
          <a:xfrm>
            <a:off x="15303583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80" name="Rectangle: Folded Corner 79">
            <a:extLst>
              <a:ext uri="{FF2B5EF4-FFF2-40B4-BE49-F238E27FC236}">
                <a16:creationId xmlns:a16="http://schemas.microsoft.com/office/drawing/2014/main" id="{9B5B2DB6-F9CA-0BC2-8291-9FB856C1F15F}"/>
              </a:ext>
            </a:extLst>
          </p:cNvPr>
          <p:cNvSpPr/>
          <p:nvPr/>
        </p:nvSpPr>
        <p:spPr>
          <a:xfrm>
            <a:off x="11585779" y="324738"/>
            <a:ext cx="2664000" cy="5008278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>
                <a:solidFill>
                  <a:srgbClr val="6B7A7A"/>
                </a:solidFill>
                <a:latin typeface="Nunito" pitchFamily="2" charset="0"/>
              </a:rPr>
              <a:t>train.py</a:t>
            </a:r>
          </a:p>
          <a:p>
            <a:pPr algn="ctr"/>
            <a:endParaRPr lang="en-SG" sz="1600" b="1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>
                <a:solidFill>
                  <a:srgbClr val="6B7A7A"/>
                </a:solidFill>
                <a:latin typeface="Nunito" pitchFamily="2" charset="0"/>
              </a:rPr>
              <a:t>Splits data temporally (Train/Val/Test/OOT)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>
                <a:solidFill>
                  <a:srgbClr val="6B7A7A"/>
                </a:solidFill>
                <a:latin typeface="Nunito" pitchFamily="2" charset="0"/>
              </a:rPr>
              <a:t>Applies SMOTE on training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>
                <a:solidFill>
                  <a:srgbClr val="6B7A7A"/>
                </a:solidFill>
                <a:latin typeface="Nunito" pitchFamily="2" charset="0"/>
              </a:rPr>
              <a:t>Runs 5-fold time-series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>
                <a:solidFill>
                  <a:srgbClr val="6B7A7A"/>
                </a:solidFill>
                <a:latin typeface="Nunito" pitchFamily="2" charset="0"/>
              </a:rPr>
              <a:t>CV Trains </a:t>
            </a:r>
            <a:r>
              <a:rPr lang="en-SG" sz="1200" err="1">
                <a:solidFill>
                  <a:srgbClr val="6B7A7A"/>
                </a:solidFill>
                <a:latin typeface="Nunito" pitchFamily="2" charset="0"/>
              </a:rPr>
              <a:t>XGBoost</a:t>
            </a:r>
            <a:r>
              <a:rPr lang="en-SG" sz="1200">
                <a:solidFill>
                  <a:srgbClr val="6B7A7A"/>
                </a:solidFill>
                <a:latin typeface="Nunito" pitchFamily="2" charset="0"/>
              </a:rPr>
              <a:t> and </a:t>
            </a:r>
            <a:r>
              <a:rPr lang="en-SG" sz="1200" err="1">
                <a:solidFill>
                  <a:srgbClr val="6B7A7A"/>
                </a:solidFill>
                <a:latin typeface="Nunito" pitchFamily="2" charset="0"/>
              </a:rPr>
              <a:t>LightGBM</a:t>
            </a:r>
            <a:endParaRPr lang="en-SG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err="1">
                <a:solidFill>
                  <a:srgbClr val="6B7A7A"/>
                </a:solidFill>
                <a:latin typeface="Nunito" pitchFamily="2" charset="0"/>
              </a:rPr>
              <a:t>Optuna</a:t>
            </a:r>
            <a:r>
              <a:rPr lang="en-SG" sz="1200">
                <a:solidFill>
                  <a:srgbClr val="6B7A7A"/>
                </a:solidFill>
                <a:latin typeface="Nunito" pitchFamily="2" charset="0"/>
              </a:rPr>
              <a:t> tunes hyperparameters against validation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>
                <a:solidFill>
                  <a:srgbClr val="6B7A7A"/>
                </a:solidFill>
                <a:latin typeface="Nunito" pitchFamily="2" charset="0"/>
              </a:rPr>
              <a:t>All runs logged to </a:t>
            </a:r>
            <a:r>
              <a:rPr lang="en-SG" sz="1200" err="1">
                <a:solidFill>
                  <a:srgbClr val="6B7A7A"/>
                </a:solidFill>
                <a:latin typeface="Nunito" pitchFamily="2" charset="0"/>
              </a:rPr>
              <a:t>MLflow</a:t>
            </a:r>
            <a:endParaRPr lang="en-SG" sz="160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81" name="Rectangle: Folded Corner 80">
            <a:extLst>
              <a:ext uri="{FF2B5EF4-FFF2-40B4-BE49-F238E27FC236}">
                <a16:creationId xmlns:a16="http://schemas.microsoft.com/office/drawing/2014/main" id="{0A85AB4A-7400-BAB2-E5F0-FB2561D7D39D}"/>
              </a:ext>
            </a:extLst>
          </p:cNvPr>
          <p:cNvSpPr/>
          <p:nvPr/>
        </p:nvSpPr>
        <p:spPr>
          <a:xfrm>
            <a:off x="14404800" y="324737"/>
            <a:ext cx="2664000" cy="5008277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>
                <a:solidFill>
                  <a:srgbClr val="6B7A7A"/>
                </a:solidFill>
                <a:latin typeface="Nunito" pitchFamily="2" charset="0"/>
              </a:rPr>
              <a:t>evaluate.py</a:t>
            </a:r>
          </a:p>
          <a:p>
            <a:pPr algn="ctr"/>
            <a:endParaRPr lang="en-SG" sz="1600" b="1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Test set metrics such as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Precision, Recall, F1, AUC-ROC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SHAP values generated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Spatial accuracy check run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Evaluate against OOT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PSI — measures if feature distributions have shifted vs training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CSI — measures if individual feature contributions have shifted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Promotion gate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Recall &gt; 0.70 on test set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OOT perf within acceptable degradation over time (OOT drop &lt; 10pp)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Register as Production in </a:t>
            </a:r>
            <a:r>
              <a:rPr lang="en-US" sz="1200" err="1">
                <a:solidFill>
                  <a:srgbClr val="6B7A7A"/>
                </a:solidFill>
                <a:latin typeface="Nunito" pitchFamily="2" charset="0"/>
              </a:rPr>
              <a:t>Mlflow</a:t>
            </a: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 if </a:t>
            </a:r>
            <a:r>
              <a:rPr lang="en-US" sz="1200" b="1">
                <a:solidFill>
                  <a:srgbClr val="6B7A7A"/>
                </a:solidFill>
                <a:latin typeface="Nunito" pitchFamily="2" charset="0"/>
              </a:rPr>
              <a:t>PASS</a:t>
            </a:r>
          </a:p>
        </p:txBody>
      </p:sp>
      <p:sp>
        <p:nvSpPr>
          <p:cNvPr id="82" name="Rectangle: Single Corner Rounded 81">
            <a:extLst>
              <a:ext uri="{FF2B5EF4-FFF2-40B4-BE49-F238E27FC236}">
                <a16:creationId xmlns:a16="http://schemas.microsoft.com/office/drawing/2014/main" id="{17A14248-39CF-54BF-D7C5-C8AAC8CFA4FC}"/>
              </a:ext>
            </a:extLst>
          </p:cNvPr>
          <p:cNvSpPr/>
          <p:nvPr/>
        </p:nvSpPr>
        <p:spPr>
          <a:xfrm>
            <a:off x="14389183" y="6896100"/>
            <a:ext cx="914400" cy="814481"/>
          </a:xfrm>
          <a:prstGeom prst="round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>
                <a:solidFill>
                  <a:srgbClr val="6B7A7A"/>
                </a:solidFill>
                <a:latin typeface="Nunito" pitchFamily="2" charset="0"/>
              </a:rPr>
              <a:t>model_v3</a:t>
            </a:r>
            <a:endParaRPr lang="en-SG" sz="110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B8D178-5655-5B60-1834-D10DE7954494}"/>
              </a:ext>
            </a:extLst>
          </p:cNvPr>
          <p:cNvSpPr txBox="1"/>
          <p:nvPr/>
        </p:nvSpPr>
        <p:spPr>
          <a:xfrm>
            <a:off x="14423653" y="7429501"/>
            <a:ext cx="845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Candidate</a:t>
            </a:r>
          </a:p>
        </p:txBody>
      </p:sp>
      <p:sp>
        <p:nvSpPr>
          <p:cNvPr id="84" name="Rounded Rectangle 45">
            <a:extLst>
              <a:ext uri="{FF2B5EF4-FFF2-40B4-BE49-F238E27FC236}">
                <a16:creationId xmlns:a16="http://schemas.microsoft.com/office/drawing/2014/main" id="{0132357A-FD71-C98A-F38A-D22374F1CA0A}"/>
              </a:ext>
            </a:extLst>
          </p:cNvPr>
          <p:cNvSpPr/>
          <p:nvPr/>
        </p:nvSpPr>
        <p:spPr>
          <a:xfrm>
            <a:off x="8103960" y="6734970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1B4332"/>
                </a:solidFill>
                <a:latin typeface="Nunito" pitchFamily="2" charset="0"/>
              </a:rPr>
              <a:t>Reads </a:t>
            </a:r>
            <a:r>
              <a:rPr lang="en-US" sz="1000" b="1" err="1">
                <a:solidFill>
                  <a:srgbClr val="1B4332"/>
                </a:solidFill>
                <a:latin typeface="Nunito" pitchFamily="2" charset="0"/>
              </a:rPr>
              <a:t>subzone_features</a:t>
            </a:r>
            <a:endParaRPr lang="en-US" sz="1000" b="1">
              <a:solidFill>
                <a:srgbClr val="1B4332"/>
              </a:solidFill>
              <a:latin typeface="Nunito" pitchFamily="2" charset="0"/>
            </a:endParaRPr>
          </a:p>
          <a:p>
            <a:pPr algn="ctr"/>
            <a:r>
              <a:rPr lang="en-US" sz="1000" i="1">
                <a:solidFill>
                  <a:srgbClr val="6B7A7A"/>
                </a:solidFill>
                <a:latin typeface="Nunito" pitchFamily="2" charset="0"/>
              </a:rPr>
              <a:t>(all 330 subzones)</a:t>
            </a:r>
          </a:p>
        </p:txBody>
      </p:sp>
      <p:cxnSp>
        <p:nvCxnSpPr>
          <p:cNvPr id="85" name="Straight Arrow Connector 80">
            <a:extLst>
              <a:ext uri="{FF2B5EF4-FFF2-40B4-BE49-F238E27FC236}">
                <a16:creationId xmlns:a16="http://schemas.microsoft.com/office/drawing/2014/main" id="{19394A94-5DB2-3DF0-2FE6-07E5CE610721}"/>
              </a:ext>
            </a:extLst>
          </p:cNvPr>
          <p:cNvCxnSpPr>
            <a:cxnSpLocks/>
            <a:stCxn id="11" idx="3"/>
            <a:endCxn id="84" idx="0"/>
          </p:cNvCxnSpPr>
          <p:nvPr/>
        </p:nvCxnSpPr>
        <p:spPr>
          <a:xfrm flipH="1">
            <a:off x="8814480" y="3185168"/>
            <a:ext cx="1934972" cy="3549802"/>
          </a:xfrm>
          <a:prstGeom prst="bentConnector4">
            <a:avLst>
              <a:gd name="adj1" fmla="val -36755"/>
              <a:gd name="adj2" fmla="val 95631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0">
            <a:extLst>
              <a:ext uri="{FF2B5EF4-FFF2-40B4-BE49-F238E27FC236}">
                <a16:creationId xmlns:a16="http://schemas.microsoft.com/office/drawing/2014/main" id="{19CCA68E-FB3E-13BD-29D3-F528D85282A6}"/>
              </a:ext>
            </a:extLst>
          </p:cNvPr>
          <p:cNvCxnSpPr>
            <a:cxnSpLocks/>
            <a:stCxn id="122" idx="1"/>
            <a:endCxn id="84" idx="3"/>
          </p:cNvCxnSpPr>
          <p:nvPr/>
        </p:nvCxnSpPr>
        <p:spPr>
          <a:xfrm rot="10800000">
            <a:off x="9525001" y="7049858"/>
            <a:ext cx="400097" cy="444819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9D510852-F889-5324-9746-BA8D5BF13BCC}"/>
              </a:ext>
            </a:extLst>
          </p:cNvPr>
          <p:cNvCxnSpPr>
            <a:cxnSpLocks/>
            <a:stCxn id="122" idx="3"/>
            <a:endCxn id="8" idx="2"/>
          </p:cNvCxnSpPr>
          <p:nvPr/>
        </p:nvCxnSpPr>
        <p:spPr>
          <a:xfrm>
            <a:off x="11346137" y="7494676"/>
            <a:ext cx="4299163" cy="198768"/>
          </a:xfrm>
          <a:prstGeom prst="bentConnector4">
            <a:avLst>
              <a:gd name="adj1" fmla="val 4937"/>
              <a:gd name="adj2" fmla="val 869917"/>
            </a:avLst>
          </a:prstGeom>
          <a:ln>
            <a:solidFill>
              <a:srgbClr val="1C3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45">
            <a:extLst>
              <a:ext uri="{FF2B5EF4-FFF2-40B4-BE49-F238E27FC236}">
                <a16:creationId xmlns:a16="http://schemas.microsoft.com/office/drawing/2014/main" id="{6141CC98-EFD9-0586-CD8D-B2F77417DEC1}"/>
              </a:ext>
            </a:extLst>
          </p:cNvPr>
          <p:cNvSpPr/>
          <p:nvPr/>
        </p:nvSpPr>
        <p:spPr>
          <a:xfrm>
            <a:off x="8103960" y="7677526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1B4332"/>
                </a:solidFill>
                <a:latin typeface="Nunito" pitchFamily="2" charset="0"/>
              </a:rPr>
              <a:t>Model loaded from </a:t>
            </a:r>
            <a:r>
              <a:rPr lang="en-US" sz="1000" b="1" err="1">
                <a:solidFill>
                  <a:srgbClr val="1B4332"/>
                </a:solidFill>
                <a:latin typeface="Nunito" pitchFamily="2" charset="0"/>
              </a:rPr>
              <a:t>MLflow</a:t>
            </a:r>
            <a:endParaRPr lang="en-US" sz="1000" i="1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89" name="Straight Arrow Connector 80">
            <a:extLst>
              <a:ext uri="{FF2B5EF4-FFF2-40B4-BE49-F238E27FC236}">
                <a16:creationId xmlns:a16="http://schemas.microsoft.com/office/drawing/2014/main" id="{D7D6C28F-AD92-874E-0A9E-35899F169A2B}"/>
              </a:ext>
            </a:extLst>
          </p:cNvPr>
          <p:cNvCxnSpPr>
            <a:cxnSpLocks/>
            <a:stCxn id="122" idx="1"/>
            <a:endCxn id="88" idx="3"/>
          </p:cNvCxnSpPr>
          <p:nvPr/>
        </p:nvCxnSpPr>
        <p:spPr>
          <a:xfrm rot="10800000" flipV="1">
            <a:off x="9525001" y="7494675"/>
            <a:ext cx="400097" cy="49773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0">
            <a:extLst>
              <a:ext uri="{FF2B5EF4-FFF2-40B4-BE49-F238E27FC236}">
                <a16:creationId xmlns:a16="http://schemas.microsoft.com/office/drawing/2014/main" id="{FB3D881B-156A-2038-6928-AAAA23E960F1}"/>
              </a:ext>
            </a:extLst>
          </p:cNvPr>
          <p:cNvCxnSpPr>
            <a:cxnSpLocks/>
            <a:stCxn id="84" idx="1"/>
            <a:endCxn id="92" idx="4"/>
          </p:cNvCxnSpPr>
          <p:nvPr/>
        </p:nvCxnSpPr>
        <p:spPr>
          <a:xfrm rot="10800000">
            <a:off x="6879192" y="5756449"/>
            <a:ext cx="1224769" cy="129340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80">
            <a:extLst>
              <a:ext uri="{FF2B5EF4-FFF2-40B4-BE49-F238E27FC236}">
                <a16:creationId xmlns:a16="http://schemas.microsoft.com/office/drawing/2014/main" id="{79FC04B6-5023-C662-707B-EDD3A5B5D00A}"/>
              </a:ext>
            </a:extLst>
          </p:cNvPr>
          <p:cNvCxnSpPr>
            <a:cxnSpLocks/>
            <a:stCxn id="88" idx="1"/>
            <a:endCxn id="92" idx="4"/>
          </p:cNvCxnSpPr>
          <p:nvPr/>
        </p:nvCxnSpPr>
        <p:spPr>
          <a:xfrm rot="10800000">
            <a:off x="6879192" y="5756449"/>
            <a:ext cx="1224769" cy="2235964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ylinder 91">
            <a:extLst>
              <a:ext uri="{FF2B5EF4-FFF2-40B4-BE49-F238E27FC236}">
                <a16:creationId xmlns:a16="http://schemas.microsoft.com/office/drawing/2014/main" id="{465AE010-46CE-80EC-F564-8B732B038BE4}"/>
              </a:ext>
            </a:extLst>
          </p:cNvPr>
          <p:cNvSpPr/>
          <p:nvPr/>
        </p:nvSpPr>
        <p:spPr>
          <a:xfrm>
            <a:off x="5799191" y="537879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risk_tier</a:t>
            </a:r>
            <a:endParaRPr lang="en-SG" sz="120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860CF46-9881-B00A-4933-5FCFF24ED1FA}"/>
              </a:ext>
            </a:extLst>
          </p:cNvPr>
          <p:cNvSpPr txBox="1"/>
          <p:nvPr/>
        </p:nvSpPr>
        <p:spPr>
          <a:xfrm>
            <a:off x="5982132" y="5351158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FB74BAA-AE2F-F052-6F90-6C3712ABB630}"/>
              </a:ext>
            </a:extLst>
          </p:cNvPr>
          <p:cNvSpPr txBox="1"/>
          <p:nvPr/>
        </p:nvSpPr>
        <p:spPr>
          <a:xfrm>
            <a:off x="7467600" y="7154213"/>
            <a:ext cx="79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>
                <a:solidFill>
                  <a:srgbClr val="1C334E"/>
                </a:solidFill>
                <a:latin typeface="Nunito" pitchFamily="2" charset="0"/>
              </a:rPr>
              <a:t>scores and output</a:t>
            </a:r>
          </a:p>
        </p:txBody>
      </p:sp>
      <p:pic>
        <p:nvPicPr>
          <p:cNvPr id="95" name="Picture 94" descr="Dashboard Icon PNG Images, Vectors Free Download - Pngtree">
            <a:extLst>
              <a:ext uri="{FF2B5EF4-FFF2-40B4-BE49-F238E27FC236}">
                <a16:creationId xmlns:a16="http://schemas.microsoft.com/office/drawing/2014/main" id="{82E6EA9C-6062-82EF-09CD-6772107301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7" t="15601" r="7810" b="14900"/>
          <a:stretch>
            <a:fillRect/>
          </a:stretch>
        </p:blipFill>
        <p:spPr>
          <a:xfrm>
            <a:off x="5709413" y="6942670"/>
            <a:ext cx="1235273" cy="1010678"/>
          </a:xfrm>
          <a:prstGeom prst="rect">
            <a:avLst/>
          </a:prstGeom>
        </p:spPr>
      </p:pic>
      <p:cxnSp>
        <p:nvCxnSpPr>
          <p:cNvPr id="96" name="Straight Arrow Connector 80">
            <a:extLst>
              <a:ext uri="{FF2B5EF4-FFF2-40B4-BE49-F238E27FC236}">
                <a16:creationId xmlns:a16="http://schemas.microsoft.com/office/drawing/2014/main" id="{28FCABE1-C4F8-2832-F20B-FA14C177CBAB}"/>
              </a:ext>
            </a:extLst>
          </p:cNvPr>
          <p:cNvCxnSpPr>
            <a:cxnSpLocks/>
            <a:stCxn id="92" idx="3"/>
            <a:endCxn id="95" idx="0"/>
          </p:cNvCxnSpPr>
          <p:nvPr/>
        </p:nvCxnSpPr>
        <p:spPr>
          <a:xfrm rot="5400000">
            <a:off x="5928836" y="6532315"/>
            <a:ext cx="808570" cy="12141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D9A7A980-6942-576B-EF64-F3B67B9C436D}"/>
              </a:ext>
            </a:extLst>
          </p:cNvPr>
          <p:cNvSpPr/>
          <p:nvPr/>
        </p:nvSpPr>
        <p:spPr>
          <a:xfrm>
            <a:off x="6052763" y="6290491"/>
            <a:ext cx="540000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>
                <a:solidFill>
                  <a:srgbClr val="6B7A7A"/>
                </a:solidFill>
                <a:latin typeface="Nunito" pitchFamily="2" charset="0"/>
              </a:rPr>
              <a:t>API</a:t>
            </a:r>
            <a:endParaRPr lang="en-US" sz="800" i="1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pic>
        <p:nvPicPr>
          <p:cNvPr id="98" name="Picture 97" descr="Sign Up for Banking Account Alerts | Community First Credit Union">
            <a:extLst>
              <a:ext uri="{FF2B5EF4-FFF2-40B4-BE49-F238E27FC236}">
                <a16:creationId xmlns:a16="http://schemas.microsoft.com/office/drawing/2014/main" id="{5B1E21ED-9721-F63F-9FD0-EDCD9F5CDE8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1261" t="10517" r="24760" b="12979"/>
          <a:stretch>
            <a:fillRect/>
          </a:stretch>
        </p:blipFill>
        <p:spPr>
          <a:xfrm>
            <a:off x="3440616" y="7031059"/>
            <a:ext cx="841457" cy="795055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F527B302-41F0-D1B9-730D-1CC47B39E6B2}"/>
              </a:ext>
            </a:extLst>
          </p:cNvPr>
          <p:cNvSpPr txBox="1"/>
          <p:nvPr/>
        </p:nvSpPr>
        <p:spPr>
          <a:xfrm>
            <a:off x="5801359" y="7968213"/>
            <a:ext cx="1091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>
                <a:solidFill>
                  <a:srgbClr val="1C334E"/>
                </a:solidFill>
                <a:latin typeface="Nunito" pitchFamily="2" charset="0"/>
              </a:rPr>
              <a:t>Dashboard</a:t>
            </a:r>
          </a:p>
        </p:txBody>
      </p:sp>
      <p:sp>
        <p:nvSpPr>
          <p:cNvPr id="100" name="Rounded Rectangle 45">
            <a:extLst>
              <a:ext uri="{FF2B5EF4-FFF2-40B4-BE49-F238E27FC236}">
                <a16:creationId xmlns:a16="http://schemas.microsoft.com/office/drawing/2014/main" id="{22BB6622-FB71-F428-59B8-B70DA2B8DA83}"/>
              </a:ext>
            </a:extLst>
          </p:cNvPr>
          <p:cNvSpPr/>
          <p:nvPr/>
        </p:nvSpPr>
        <p:spPr>
          <a:xfrm>
            <a:off x="9906000" y="9059213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1B4332"/>
                </a:solidFill>
                <a:latin typeface="Nunito" pitchFamily="2" charset="0"/>
              </a:rPr>
              <a:t>Model loaded at start-up and stored in memory.</a:t>
            </a:r>
            <a:endParaRPr lang="en-US" sz="1000" i="1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72E38CDF-1908-D2AA-2895-F58BCE486541}"/>
              </a:ext>
            </a:extLst>
          </p:cNvPr>
          <p:cNvCxnSpPr>
            <a:cxnSpLocks/>
            <a:stCxn id="100" idx="3"/>
            <a:endCxn id="7" idx="2"/>
          </p:cNvCxnSpPr>
          <p:nvPr/>
        </p:nvCxnSpPr>
        <p:spPr>
          <a:xfrm flipV="1">
            <a:off x="11327040" y="7710582"/>
            <a:ext cx="4991692" cy="1663518"/>
          </a:xfrm>
          <a:prstGeom prst="bentConnector2">
            <a:avLst/>
          </a:prstGeom>
          <a:ln>
            <a:solidFill>
              <a:srgbClr val="1C3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45">
            <a:extLst>
              <a:ext uri="{FF2B5EF4-FFF2-40B4-BE49-F238E27FC236}">
                <a16:creationId xmlns:a16="http://schemas.microsoft.com/office/drawing/2014/main" id="{9BD3EEB0-C3AE-94CB-D377-45D21B2F9276}"/>
              </a:ext>
            </a:extLst>
          </p:cNvPr>
          <p:cNvSpPr/>
          <p:nvPr/>
        </p:nvSpPr>
        <p:spPr>
          <a:xfrm>
            <a:off x="8096377" y="9059213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1B4332"/>
                </a:solidFill>
                <a:latin typeface="Nunito" pitchFamily="2" charset="0"/>
              </a:rPr>
              <a:t>Reads both </a:t>
            </a:r>
            <a:r>
              <a:rPr lang="en-US" sz="1000" b="1" err="1">
                <a:solidFill>
                  <a:srgbClr val="1B4332"/>
                </a:solidFill>
                <a:latin typeface="Nunito" pitchFamily="2" charset="0"/>
              </a:rPr>
              <a:t>subzone_features</a:t>
            </a:r>
            <a:endParaRPr lang="en-US" sz="1000" b="1">
              <a:solidFill>
                <a:srgbClr val="1B4332"/>
              </a:solidFill>
              <a:latin typeface="Nunito" pitchFamily="2" charset="0"/>
            </a:endParaRPr>
          </a:p>
          <a:p>
            <a:pPr algn="ctr"/>
            <a:r>
              <a:rPr lang="en-US" sz="1000" b="1">
                <a:solidFill>
                  <a:srgbClr val="1B4332"/>
                </a:solidFill>
                <a:latin typeface="Nunito" pitchFamily="2" charset="0"/>
              </a:rPr>
              <a:t>and REDIS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61033CD-ED34-9AF2-82D7-6CDD3B130D4B}"/>
              </a:ext>
            </a:extLst>
          </p:cNvPr>
          <p:cNvSpPr txBox="1"/>
          <p:nvPr/>
        </p:nvSpPr>
        <p:spPr>
          <a:xfrm>
            <a:off x="3324859" y="7838301"/>
            <a:ext cx="1091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>
                <a:solidFill>
                  <a:srgbClr val="1C334E"/>
                </a:solidFill>
                <a:latin typeface="Nunito" pitchFamily="2" charset="0"/>
              </a:rPr>
              <a:t>Mobile Alert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AFA20C4-24F5-6A0C-049D-C4513334C461}"/>
              </a:ext>
            </a:extLst>
          </p:cNvPr>
          <p:cNvSpPr txBox="1"/>
          <p:nvPr/>
        </p:nvSpPr>
        <p:spPr>
          <a:xfrm>
            <a:off x="49079" y="4612889"/>
            <a:ext cx="1551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Operational Data</a:t>
            </a:r>
          </a:p>
        </p:txBody>
      </p:sp>
      <p:sp>
        <p:nvSpPr>
          <p:cNvPr id="105" name="Cylinder 104">
            <a:extLst>
              <a:ext uri="{FF2B5EF4-FFF2-40B4-BE49-F238E27FC236}">
                <a16:creationId xmlns:a16="http://schemas.microsoft.com/office/drawing/2014/main" id="{402EEFD5-6A3A-FD2E-6536-B16DF9E79096}"/>
              </a:ext>
            </a:extLst>
          </p:cNvPr>
          <p:cNvSpPr/>
          <p:nvPr/>
        </p:nvSpPr>
        <p:spPr>
          <a:xfrm>
            <a:off x="990600" y="537100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confirmed</a:t>
            </a:r>
          </a:p>
          <a:p>
            <a:pPr algn="ctr"/>
            <a:r>
              <a:rPr lang="en-SG" sz="120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cases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1C30EF6-6196-2EF7-ABAE-A2207FAF1FE9}"/>
              </a:ext>
            </a:extLst>
          </p:cNvPr>
          <p:cNvSpPr txBox="1"/>
          <p:nvPr/>
        </p:nvSpPr>
        <p:spPr>
          <a:xfrm>
            <a:off x="1175080" y="5352656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107" name="Cylinder 106">
            <a:extLst>
              <a:ext uri="{FF2B5EF4-FFF2-40B4-BE49-F238E27FC236}">
                <a16:creationId xmlns:a16="http://schemas.microsoft.com/office/drawing/2014/main" id="{392DD850-E316-D3B3-BEA8-E95F6084D90D}"/>
              </a:ext>
            </a:extLst>
          </p:cNvPr>
          <p:cNvSpPr/>
          <p:nvPr/>
        </p:nvSpPr>
        <p:spPr>
          <a:xfrm>
            <a:off x="3352800" y="533829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vulnerability</a:t>
            </a:r>
          </a:p>
          <a:p>
            <a:pPr algn="ctr"/>
            <a:r>
              <a:rPr lang="en-SG" sz="120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alerts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1769066-3B51-0821-1CA2-477BF5ADAD6C}"/>
              </a:ext>
            </a:extLst>
          </p:cNvPr>
          <p:cNvSpPr txBox="1"/>
          <p:nvPr/>
        </p:nvSpPr>
        <p:spPr>
          <a:xfrm>
            <a:off x="3536773" y="5325818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0310409-B2AE-CC2B-51F7-FD642482D71E}"/>
              </a:ext>
            </a:extLst>
          </p:cNvPr>
          <p:cNvSpPr txBox="1"/>
          <p:nvPr/>
        </p:nvSpPr>
        <p:spPr>
          <a:xfrm>
            <a:off x="-43911" y="7523704"/>
            <a:ext cx="103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>
                <a:solidFill>
                  <a:srgbClr val="1C334E"/>
                </a:solidFill>
                <a:latin typeface="Nunito" pitchFamily="2" charset="0"/>
              </a:rPr>
              <a:t>Submission from Hospitals</a:t>
            </a:r>
          </a:p>
        </p:txBody>
      </p:sp>
      <p:sp>
        <p:nvSpPr>
          <p:cNvPr id="110" name="Flowchart: Document 109">
            <a:extLst>
              <a:ext uri="{FF2B5EF4-FFF2-40B4-BE49-F238E27FC236}">
                <a16:creationId xmlns:a16="http://schemas.microsoft.com/office/drawing/2014/main" id="{47458C56-946C-1727-6AD2-0755829D0A8E}"/>
              </a:ext>
            </a:extLst>
          </p:cNvPr>
          <p:cNvSpPr/>
          <p:nvPr/>
        </p:nvSpPr>
        <p:spPr>
          <a:xfrm>
            <a:off x="55665" y="6845547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confirmed</a:t>
            </a:r>
          </a:p>
          <a:p>
            <a:pPr algn="ctr"/>
            <a:r>
              <a:rPr lang="en-SG" sz="105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cases</a:t>
            </a:r>
          </a:p>
        </p:txBody>
      </p:sp>
      <p:cxnSp>
        <p:nvCxnSpPr>
          <p:cNvPr id="111" name="Straight Arrow Connector 80">
            <a:extLst>
              <a:ext uri="{FF2B5EF4-FFF2-40B4-BE49-F238E27FC236}">
                <a16:creationId xmlns:a16="http://schemas.microsoft.com/office/drawing/2014/main" id="{280F3E0B-0D2F-9D77-482A-02DC492B2079}"/>
              </a:ext>
            </a:extLst>
          </p:cNvPr>
          <p:cNvCxnSpPr>
            <a:cxnSpLocks/>
            <a:stCxn id="110" idx="0"/>
            <a:endCxn id="105" idx="2"/>
          </p:cNvCxnSpPr>
          <p:nvPr/>
        </p:nvCxnSpPr>
        <p:spPr>
          <a:xfrm rot="5400000" flipH="1" flipV="1">
            <a:off x="185774" y="6040722"/>
            <a:ext cx="1096895" cy="512757"/>
          </a:xfrm>
          <a:prstGeom prst="bentConnector2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711AE77-31AB-17E6-31F5-FE1FCE50F4F6}"/>
              </a:ext>
            </a:extLst>
          </p:cNvPr>
          <p:cNvSpPr/>
          <p:nvPr/>
        </p:nvSpPr>
        <p:spPr>
          <a:xfrm>
            <a:off x="252709" y="6273155"/>
            <a:ext cx="540000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>
                <a:solidFill>
                  <a:srgbClr val="6B7A7A"/>
                </a:solidFill>
                <a:latin typeface="Nunito" pitchFamily="2" charset="0"/>
              </a:rPr>
              <a:t>API</a:t>
            </a:r>
            <a:endParaRPr lang="en-US" sz="800" i="1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cxnSp>
        <p:nvCxnSpPr>
          <p:cNvPr id="113" name="Straight Arrow Connector 80">
            <a:extLst>
              <a:ext uri="{FF2B5EF4-FFF2-40B4-BE49-F238E27FC236}">
                <a16:creationId xmlns:a16="http://schemas.microsoft.com/office/drawing/2014/main" id="{820D0531-5583-DDDF-65C2-6D4A65D0780B}"/>
              </a:ext>
            </a:extLst>
          </p:cNvPr>
          <p:cNvCxnSpPr>
            <a:cxnSpLocks/>
            <a:stCxn id="106" idx="0"/>
            <a:endCxn id="10" idx="1"/>
          </p:cNvCxnSpPr>
          <p:nvPr/>
        </p:nvCxnSpPr>
        <p:spPr>
          <a:xfrm rot="16200000" flipH="1">
            <a:off x="5260153" y="1623609"/>
            <a:ext cx="364643" cy="7822737"/>
          </a:xfrm>
          <a:prstGeom prst="bentConnector4">
            <a:avLst>
              <a:gd name="adj1" fmla="val -141055"/>
              <a:gd name="adj2" fmla="val 79672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3C8EAFCC-DDEE-E23A-A886-FF563BD73961}"/>
              </a:ext>
            </a:extLst>
          </p:cNvPr>
          <p:cNvSpPr txBox="1"/>
          <p:nvPr/>
        </p:nvSpPr>
        <p:spPr>
          <a:xfrm>
            <a:off x="2731469" y="4727916"/>
            <a:ext cx="4531795" cy="246221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000" b="1">
                <a:solidFill>
                  <a:srgbClr val="6B7A7A"/>
                </a:solidFill>
                <a:latin typeface="Nunito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900" dirty="0" err="1"/>
              <a:t>FastAPI</a:t>
            </a:r>
            <a:r>
              <a:rPr lang="en-US" sz="900" dirty="0"/>
              <a:t> updates Redis</a:t>
            </a:r>
            <a:r>
              <a:rPr lang="en-US" sz="900" b="0" dirty="0"/>
              <a:t>: </a:t>
            </a:r>
            <a:r>
              <a:rPr lang="en-US" sz="900" b="0" dirty="0" err="1"/>
              <a:t>current_week_case_count</a:t>
            </a:r>
            <a:r>
              <a:rPr lang="en-US" sz="900" b="0" dirty="0"/>
              <a:t> (actual count) for that subzone</a:t>
            </a:r>
            <a:endParaRPr lang="en-SG" sz="900" b="0" dirty="0"/>
          </a:p>
        </p:txBody>
      </p:sp>
      <p:cxnSp>
        <p:nvCxnSpPr>
          <p:cNvPr id="115" name="Straight Arrow Connector 80">
            <a:extLst>
              <a:ext uri="{FF2B5EF4-FFF2-40B4-BE49-F238E27FC236}">
                <a16:creationId xmlns:a16="http://schemas.microsoft.com/office/drawing/2014/main" id="{EA3B6C90-D608-56FF-3B7C-5C23A312936C}"/>
              </a:ext>
            </a:extLst>
          </p:cNvPr>
          <p:cNvCxnSpPr>
            <a:cxnSpLocks/>
            <a:stCxn id="107" idx="3"/>
            <a:endCxn id="98" idx="0"/>
          </p:cNvCxnSpPr>
          <p:nvPr/>
        </p:nvCxnSpPr>
        <p:spPr>
          <a:xfrm rot="5400000">
            <a:off x="3408344" y="6546602"/>
            <a:ext cx="937459" cy="31455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CF69EE1-A526-F762-A45F-C1424482D820}"/>
              </a:ext>
            </a:extLst>
          </p:cNvPr>
          <p:cNvSpPr/>
          <p:nvPr/>
        </p:nvSpPr>
        <p:spPr>
          <a:xfrm>
            <a:off x="3416563" y="6328590"/>
            <a:ext cx="869675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>
                <a:solidFill>
                  <a:srgbClr val="6B7A7A"/>
                </a:solidFill>
                <a:latin typeface="Nunito" pitchFamily="2" charset="0"/>
              </a:rPr>
              <a:t>SSE </a:t>
            </a:r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Push</a:t>
            </a:r>
          </a:p>
          <a:p>
            <a:pPr algn="ctr"/>
            <a:r>
              <a:rPr lang="en-SG" sz="1000" b="1" i="1" dirty="0">
                <a:solidFill>
                  <a:srgbClr val="6B7A7A"/>
                </a:solidFill>
                <a:latin typeface="Nunito" pitchFamily="2" charset="0"/>
              </a:rPr>
              <a:t>(</a:t>
            </a:r>
            <a:r>
              <a:rPr lang="en-SG" sz="1000" b="1" i="1" dirty="0" err="1">
                <a:solidFill>
                  <a:srgbClr val="6B7A7A"/>
                </a:solidFill>
                <a:latin typeface="Nunito" pitchFamily="2" charset="0"/>
              </a:rPr>
              <a:t>FastAPI</a:t>
            </a:r>
            <a:r>
              <a:rPr lang="en-SG" sz="1000" b="1" i="1" dirty="0">
                <a:solidFill>
                  <a:srgbClr val="6B7A7A"/>
                </a:solidFill>
                <a:latin typeface="Nunito" pitchFamily="2" charset="0"/>
              </a:rPr>
              <a:t>)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cxnSp>
        <p:nvCxnSpPr>
          <p:cNvPr id="117" name="Straight Arrow Connector 80">
            <a:extLst>
              <a:ext uri="{FF2B5EF4-FFF2-40B4-BE49-F238E27FC236}">
                <a16:creationId xmlns:a16="http://schemas.microsoft.com/office/drawing/2014/main" id="{6576EF7C-FA1F-057B-0B27-DA7C25FC48A8}"/>
              </a:ext>
            </a:extLst>
          </p:cNvPr>
          <p:cNvCxnSpPr>
            <a:cxnSpLocks/>
            <a:stCxn id="100" idx="1"/>
            <a:endCxn id="102" idx="3"/>
          </p:cNvCxnSpPr>
          <p:nvPr/>
        </p:nvCxnSpPr>
        <p:spPr>
          <a:xfrm flipH="1">
            <a:off x="9517417" y="9374100"/>
            <a:ext cx="388583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80">
            <a:extLst>
              <a:ext uri="{FF2B5EF4-FFF2-40B4-BE49-F238E27FC236}">
                <a16:creationId xmlns:a16="http://schemas.microsoft.com/office/drawing/2014/main" id="{B128EBFB-39BB-9A4F-1325-F511D67163F4}"/>
              </a:ext>
            </a:extLst>
          </p:cNvPr>
          <p:cNvCxnSpPr>
            <a:cxnSpLocks/>
            <a:stCxn id="102" idx="1"/>
            <a:endCxn id="107" idx="4"/>
          </p:cNvCxnSpPr>
          <p:nvPr/>
        </p:nvCxnSpPr>
        <p:spPr>
          <a:xfrm rot="10800000">
            <a:off x="4432801" y="5715950"/>
            <a:ext cx="3663577" cy="3658151"/>
          </a:xfrm>
          <a:prstGeom prst="bentConnector3">
            <a:avLst>
              <a:gd name="adj1" fmla="val 80852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74B23FC3-D32B-4AAB-AD60-856AAE98D82F}"/>
              </a:ext>
            </a:extLst>
          </p:cNvPr>
          <p:cNvSpPr txBox="1"/>
          <p:nvPr/>
        </p:nvSpPr>
        <p:spPr>
          <a:xfrm>
            <a:off x="5078476" y="8991600"/>
            <a:ext cx="258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>
                <a:solidFill>
                  <a:srgbClr val="1C334E"/>
                </a:solidFill>
                <a:latin typeface="Nunito" pitchFamily="2" charset="0"/>
              </a:rPr>
              <a:t>model scores subzone</a:t>
            </a:r>
          </a:p>
          <a:p>
            <a:r>
              <a:rPr lang="en-US" sz="1200">
                <a:solidFill>
                  <a:srgbClr val="1C334E"/>
                </a:solidFill>
                <a:latin typeface="Nunito" pitchFamily="2" charset="0"/>
              </a:rPr>
              <a:t>Pushed only if score &gt; threshold</a:t>
            </a:r>
            <a:r>
              <a:rPr lang="en-SG" sz="1200">
                <a:solidFill>
                  <a:srgbClr val="1C334E"/>
                </a:solidFill>
                <a:latin typeface="Nunito" pitchFamily="2" charset="0"/>
              </a:rPr>
              <a:t> </a:t>
            </a:r>
          </a:p>
        </p:txBody>
      </p:sp>
      <p:cxnSp>
        <p:nvCxnSpPr>
          <p:cNvPr id="120" name="Straight Arrow Connector 80">
            <a:extLst>
              <a:ext uri="{FF2B5EF4-FFF2-40B4-BE49-F238E27FC236}">
                <a16:creationId xmlns:a16="http://schemas.microsoft.com/office/drawing/2014/main" id="{D7689315-8BF2-1F8E-D21E-9CA1097E0498}"/>
              </a:ext>
            </a:extLst>
          </p:cNvPr>
          <p:cNvCxnSpPr>
            <a:cxnSpLocks/>
            <a:stCxn id="12" idx="3"/>
            <a:endCxn id="14" idx="0"/>
          </p:cNvCxnSpPr>
          <p:nvPr/>
        </p:nvCxnSpPr>
        <p:spPr>
          <a:xfrm flipH="1">
            <a:off x="9317172" y="3600821"/>
            <a:ext cx="1432280" cy="5471786"/>
          </a:xfrm>
          <a:prstGeom prst="bentConnector4">
            <a:avLst>
              <a:gd name="adj1" fmla="val -39015"/>
              <a:gd name="adj2" fmla="val 94921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80">
            <a:extLst>
              <a:ext uri="{FF2B5EF4-FFF2-40B4-BE49-F238E27FC236}">
                <a16:creationId xmlns:a16="http://schemas.microsoft.com/office/drawing/2014/main" id="{FCDAFF75-5A63-3BB7-3035-C487476FCBE9}"/>
              </a:ext>
            </a:extLst>
          </p:cNvPr>
          <p:cNvCxnSpPr>
            <a:cxnSpLocks/>
            <a:stCxn id="58" idx="4"/>
            <a:endCxn id="13" idx="0"/>
          </p:cNvCxnSpPr>
          <p:nvPr/>
        </p:nvCxnSpPr>
        <p:spPr>
          <a:xfrm flipH="1">
            <a:off x="9054000" y="5419417"/>
            <a:ext cx="1695452" cy="3651703"/>
          </a:xfrm>
          <a:prstGeom prst="bentConnector4">
            <a:avLst>
              <a:gd name="adj1" fmla="val -24157"/>
              <a:gd name="adj2" fmla="val 88124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ounded Rectangle 45">
            <a:extLst>
              <a:ext uri="{FF2B5EF4-FFF2-40B4-BE49-F238E27FC236}">
                <a16:creationId xmlns:a16="http://schemas.microsoft.com/office/drawing/2014/main" id="{69A1A310-D7FA-C384-A473-467A061F2E35}"/>
              </a:ext>
            </a:extLst>
          </p:cNvPr>
          <p:cNvSpPr/>
          <p:nvPr/>
        </p:nvSpPr>
        <p:spPr>
          <a:xfrm>
            <a:off x="9925097" y="7179789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1B4332"/>
                </a:solidFill>
                <a:latin typeface="Nunito" pitchFamily="2" charset="0"/>
              </a:rPr>
              <a:t>Airflow trigger</a:t>
            </a:r>
          </a:p>
          <a:p>
            <a:pPr algn="ctr"/>
            <a:r>
              <a:rPr lang="en-US" sz="1000" i="1">
                <a:solidFill>
                  <a:srgbClr val="6B7A7A"/>
                </a:solidFill>
                <a:latin typeface="Nunito" pitchFamily="2" charset="0"/>
              </a:rPr>
              <a:t>Mon 06:00 SGT</a:t>
            </a:r>
          </a:p>
        </p:txBody>
      </p:sp>
      <p:sp>
        <p:nvSpPr>
          <p:cNvPr id="123" name="Rounded Rectangle 45">
            <a:extLst>
              <a:ext uri="{FF2B5EF4-FFF2-40B4-BE49-F238E27FC236}">
                <a16:creationId xmlns:a16="http://schemas.microsoft.com/office/drawing/2014/main" id="{AEADC04C-5B27-D8A5-1301-27EDA01F3892}"/>
              </a:ext>
            </a:extLst>
          </p:cNvPr>
          <p:cNvSpPr/>
          <p:nvPr/>
        </p:nvSpPr>
        <p:spPr>
          <a:xfrm>
            <a:off x="65748" y="8982441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1B4332"/>
                </a:solidFill>
                <a:latin typeface="Nunito" pitchFamily="2" charset="0"/>
              </a:rPr>
              <a:t>Airflow trigger</a:t>
            </a:r>
          </a:p>
          <a:p>
            <a:pPr algn="ctr"/>
            <a:r>
              <a:rPr lang="en-US" sz="1000" i="1">
                <a:solidFill>
                  <a:srgbClr val="6B7A7A"/>
                </a:solidFill>
                <a:latin typeface="Nunito" pitchFamily="2" charset="0"/>
              </a:rPr>
              <a:t>Wed 06:00 SGT</a:t>
            </a:r>
          </a:p>
        </p:txBody>
      </p:sp>
      <p:cxnSp>
        <p:nvCxnSpPr>
          <p:cNvPr id="124" name="Straight Arrow Connector 80">
            <a:extLst>
              <a:ext uri="{FF2B5EF4-FFF2-40B4-BE49-F238E27FC236}">
                <a16:creationId xmlns:a16="http://schemas.microsoft.com/office/drawing/2014/main" id="{FEFF8529-1132-0A6F-9889-0C053DC867A1}"/>
              </a:ext>
            </a:extLst>
          </p:cNvPr>
          <p:cNvCxnSpPr>
            <a:cxnSpLocks/>
            <a:stCxn id="123" idx="3"/>
            <a:endCxn id="126" idx="1"/>
          </p:cNvCxnSpPr>
          <p:nvPr/>
        </p:nvCxnSpPr>
        <p:spPr>
          <a:xfrm>
            <a:off x="1486788" y="9297328"/>
            <a:ext cx="512617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80">
            <a:extLst>
              <a:ext uri="{FF2B5EF4-FFF2-40B4-BE49-F238E27FC236}">
                <a16:creationId xmlns:a16="http://schemas.microsoft.com/office/drawing/2014/main" id="{C49C5420-348A-FCEF-DB60-66231057F998}"/>
              </a:ext>
            </a:extLst>
          </p:cNvPr>
          <p:cNvCxnSpPr>
            <a:cxnSpLocks/>
            <a:stCxn id="6" idx="3"/>
            <a:endCxn id="80" idx="0"/>
          </p:cNvCxnSpPr>
          <p:nvPr/>
        </p:nvCxnSpPr>
        <p:spPr>
          <a:xfrm flipV="1">
            <a:off x="4218600" y="324738"/>
            <a:ext cx="8699179" cy="9757962"/>
          </a:xfrm>
          <a:prstGeom prst="bentConnector4">
            <a:avLst>
              <a:gd name="adj1" fmla="val 148771"/>
              <a:gd name="adj2" fmla="val 102343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Folded Corner 125">
            <a:extLst>
              <a:ext uri="{FF2B5EF4-FFF2-40B4-BE49-F238E27FC236}">
                <a16:creationId xmlns:a16="http://schemas.microsoft.com/office/drawing/2014/main" id="{F237AD7D-D1B8-B35D-75A2-27EEA7CA1F00}"/>
              </a:ext>
            </a:extLst>
          </p:cNvPr>
          <p:cNvSpPr/>
          <p:nvPr/>
        </p:nvSpPr>
        <p:spPr>
          <a:xfrm>
            <a:off x="1999405" y="8345755"/>
            <a:ext cx="2664000" cy="1903145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>
                <a:solidFill>
                  <a:srgbClr val="6B7A7A"/>
                </a:solidFill>
                <a:latin typeface="Nunito" pitchFamily="2" charset="0"/>
              </a:rPr>
              <a:t>monitor.py</a:t>
            </a:r>
          </a:p>
          <a:p>
            <a:pPr algn="ctr"/>
            <a:endParaRPr lang="en-SG" sz="1600" b="1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Compares recent predictions against confirmed 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Logs PSI/CSI metrics to </a:t>
            </a:r>
            <a:r>
              <a:rPr lang="en-US" sz="1200" err="1">
                <a:solidFill>
                  <a:srgbClr val="6B7A7A"/>
                </a:solidFill>
                <a:latin typeface="Nunito" pitchFamily="2" charset="0"/>
              </a:rPr>
              <a:t>Mlflow</a:t>
            </a:r>
            <a:endParaRPr lang="en-US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6B7A7A"/>
                </a:solidFill>
                <a:latin typeface="Nunito" pitchFamily="2" charset="0"/>
              </a:rPr>
              <a:t>Raises a drift alarm if thresholds breached</a:t>
            </a:r>
            <a:endParaRPr lang="en-SG" sz="160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127" name="Rectangle: Single Corner Rounded 126">
            <a:extLst>
              <a:ext uri="{FF2B5EF4-FFF2-40B4-BE49-F238E27FC236}">
                <a16:creationId xmlns:a16="http://schemas.microsoft.com/office/drawing/2014/main" id="{48DD4224-B04D-E7CB-AE9F-21CD3F689D0C}"/>
              </a:ext>
            </a:extLst>
          </p:cNvPr>
          <p:cNvSpPr/>
          <p:nvPr/>
        </p:nvSpPr>
        <p:spPr>
          <a:xfrm>
            <a:off x="15519566" y="6901543"/>
            <a:ext cx="914400" cy="814481"/>
          </a:xfrm>
          <a:prstGeom prst="round1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>
                <a:solidFill>
                  <a:srgbClr val="6B7A7A"/>
                </a:solidFill>
                <a:latin typeface="Nunito" pitchFamily="2" charset="0"/>
              </a:rPr>
              <a:t>model_v3</a:t>
            </a:r>
            <a:endParaRPr lang="en-SG" sz="110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F905E02-E24F-6997-A01F-88DC3E2506D5}"/>
              </a:ext>
            </a:extLst>
          </p:cNvPr>
          <p:cNvSpPr txBox="1"/>
          <p:nvPr/>
        </p:nvSpPr>
        <p:spPr>
          <a:xfrm>
            <a:off x="15554036" y="7433583"/>
            <a:ext cx="845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b="1" i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Active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0" grpId="0" animBg="1"/>
      <p:bldP spid="41" grpId="0" animBg="1"/>
      <p:bldP spid="46" grpId="0" animBg="1"/>
      <p:bldP spid="48" grpId="0"/>
      <p:bldP spid="49" grpId="0" animBg="1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 animBg="1"/>
      <p:bldP spid="59" grpId="0"/>
      <p:bldP spid="61" grpId="0" animBg="1"/>
      <p:bldP spid="62" grpId="0"/>
      <p:bldP spid="63" grpId="0"/>
      <p:bldP spid="64" grpId="0"/>
      <p:bldP spid="65" grpId="0" animBg="1"/>
      <p:bldP spid="68" grpId="0" animBg="1"/>
      <p:bldP spid="69" grpId="0" animBg="1"/>
      <p:bldP spid="71" grpId="0"/>
      <p:bldP spid="72" grpId="0"/>
      <p:bldP spid="73" grpId="0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/>
      <p:bldP spid="84" grpId="0" animBg="1"/>
      <p:bldP spid="88" grpId="0" animBg="1"/>
      <p:bldP spid="92" grpId="0" animBg="1"/>
      <p:bldP spid="93" grpId="0"/>
      <p:bldP spid="94" grpId="0"/>
      <p:bldP spid="97" grpId="0" animBg="1"/>
      <p:bldP spid="99" grpId="0"/>
      <p:bldP spid="100" grpId="0" animBg="1"/>
      <p:bldP spid="102" grpId="0" animBg="1"/>
      <p:bldP spid="103" grpId="0"/>
      <p:bldP spid="104" grpId="0"/>
      <p:bldP spid="105" grpId="0" animBg="1"/>
      <p:bldP spid="106" grpId="0"/>
      <p:bldP spid="107" grpId="0" animBg="1"/>
      <p:bldP spid="108" grpId="0"/>
      <p:bldP spid="109" grpId="0"/>
      <p:bldP spid="110" grpId="0" animBg="1"/>
      <p:bldP spid="112" grpId="0" animBg="1"/>
      <p:bldP spid="114" grpId="0" animBg="1"/>
      <p:bldP spid="116" grpId="0" animBg="1"/>
      <p:bldP spid="119" grpId="0"/>
      <p:bldP spid="122" grpId="0" animBg="1"/>
      <p:bldP spid="123" grpId="0" animBg="1"/>
      <p:bldP spid="126" grpId="0" animBg="1"/>
      <p:bldP spid="127" grpId="0" animBg="1"/>
      <p:bldP spid="1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568928" y="0"/>
            <a:ext cx="1719072" cy="10287000"/>
          </a:xfrm>
          <a:prstGeom prst="rect">
            <a:avLst/>
          </a:prstGeom>
          <a:solidFill>
            <a:srgbClr val="1A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5544800" cy="824841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>
            <a:defPPr>
              <a:defRPr lang="en-US"/>
            </a:defPPr>
            <a:lvl1pPr>
              <a:defRPr sz="4400" b="1">
                <a:solidFill>
                  <a:srgbClr val="303870"/>
                </a:solidFill>
                <a:latin typeface="Agrandir Wide Bold"/>
              </a:defRPr>
            </a:lvl1pPr>
          </a:lstStyle>
          <a:p>
            <a:r>
              <a:rPr dirty="0"/>
              <a:t>Live System Demo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0270"/>
            <a:ext cx="7955280" cy="5657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7920990"/>
            <a:ext cx="795528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6EA0"/>
                </a:solidFill>
              </a:rPr>
              <a:t>NEA Operations Dashboard — choropleth risk map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160270"/>
            <a:ext cx="7955280" cy="5657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7920990"/>
            <a:ext cx="7955280" cy="514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6EA0"/>
                </a:solidFill>
              </a:rPr>
              <a:t>CDA Officer Mobile — SSE push alert (live)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98a79ca-5a9a-4791-a243-f06afd67464d}" enabled="0" method="" siteId="{c98a79ca-5a9a-4791-a243-f06afd6746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3101</Words>
  <Application>Microsoft Office PowerPoint</Application>
  <PresentationFormat>Custom</PresentationFormat>
  <Paragraphs>572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Agrandir Wide Bold</vt:lpstr>
      <vt:lpstr>Arial</vt:lpstr>
      <vt:lpstr>Nunito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Dengue outbreak risk prediction</dc:title>
  <dc:creator>Tran Nguyen Ngoc Nhu</dc:creator>
  <cp:lastModifiedBy>TRAN Nguyen Ngoc Nhu</cp:lastModifiedBy>
  <cp:revision>4</cp:revision>
  <dcterms:created xsi:type="dcterms:W3CDTF">2006-08-16T00:00:00Z</dcterms:created>
  <dcterms:modified xsi:type="dcterms:W3CDTF">2026-06-22T04:01:57Z</dcterms:modified>
  <dc:identifier>DAHKOYQltV0</dc:identifier>
</cp:coreProperties>
</file>