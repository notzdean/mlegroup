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>
        <p:scale>
          <a:sx n="105" d="100"/>
          <a:sy n="105" d="100"/>
        </p:scale>
        <p:origin x="7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953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51760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73152" y="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Data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514600" y="0"/>
            <a:ext cx="2286000" cy="38404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2587752" y="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Model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0"/>
            <a:ext cx="1554480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4736592" y="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0"/>
            <a:ext cx="2926080" cy="38404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6153912" y="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Retrain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" y="438912"/>
            <a:ext cx="2542032" cy="4480560"/>
          </a:xfrm>
          <a:prstGeom prst="rect">
            <a:avLst/>
          </a:prstGeom>
          <a:solidFill>
            <a:srgbClr val="F0FBF4"/>
          </a:solidFill>
          <a:ln w="19050">
            <a:solidFill>
              <a:srgbClr val="40916C"/>
            </a:solidFill>
            <a:prstDash val="dash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164592" y="49377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Data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46304" y="694944"/>
            <a:ext cx="1115568" cy="841248"/>
          </a:xfrm>
          <a:prstGeom prst="rect">
            <a:avLst/>
          </a:prstGeom>
          <a:solidFill>
            <a:srgbClr val="B7E4C7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146304" y="713232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2880" y="905256"/>
            <a:ext cx="493776" cy="512064"/>
          </a:xfrm>
          <a:prstGeom prst="rect">
            <a:avLst/>
          </a:prstGeom>
          <a:solidFill>
            <a:srgbClr val="40916C">
              <a:alpha val="25000"/>
            </a:srgbClr>
          </a:solidFill>
          <a:ln w="635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182880" y="905256"/>
            <a:ext cx="4937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SGCharts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713232" y="905256"/>
            <a:ext cx="493776" cy="512064"/>
          </a:xfrm>
          <a:prstGeom prst="rect">
            <a:avLst/>
          </a:prstGeom>
          <a:solidFill>
            <a:srgbClr val="40916C">
              <a:alpha val="25000"/>
            </a:srgbClr>
          </a:solidFill>
          <a:ln w="635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713232" y="905256"/>
            <a:ext cx="4937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64592" y="1444752"/>
            <a:ext cx="10789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6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Airflow DAG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09728" y="1664208"/>
            <a:ext cx="2450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09728" y="1847088"/>
            <a:ext cx="768096" cy="1719072"/>
          </a:xfrm>
          <a:prstGeom prst="rect">
            <a:avLst/>
          </a:prstGeom>
          <a:solidFill>
            <a:srgbClr val="F5DEB3"/>
          </a:solidFill>
          <a:ln w="12700">
            <a:solidFill>
              <a:srgbClr val="CD7F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Text 19"/>
          <p:cNvSpPr/>
          <p:nvPr/>
        </p:nvSpPr>
        <p:spPr>
          <a:xfrm>
            <a:off x="146304" y="1883664"/>
            <a:ext cx="694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Bronze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92608" y="2131101"/>
            <a:ext cx="402336" cy="374355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Shape 21"/>
          <p:cNvSpPr/>
          <p:nvPr/>
        </p:nvSpPr>
        <p:spPr>
          <a:xfrm>
            <a:off x="292608" y="2412919"/>
            <a:ext cx="402336" cy="92537"/>
          </a:xfrm>
          <a:prstGeom prst="ellipse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Shape 22"/>
          <p:cNvSpPr/>
          <p:nvPr/>
        </p:nvSpPr>
        <p:spPr>
          <a:xfrm>
            <a:off x="292608" y="2084832"/>
            <a:ext cx="402336" cy="92537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CD7F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3"/>
          <p:cNvSpPr/>
          <p:nvPr/>
        </p:nvSpPr>
        <p:spPr>
          <a:xfrm>
            <a:off x="128016" y="254203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Integration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64592" y="2724912"/>
            <a:ext cx="676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Raw ingest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64592" y="2980944"/>
            <a:ext cx="676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schema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64592" y="3236976"/>
            <a:ext cx="676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Landing zone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914400" y="1847088"/>
            <a:ext cx="804672" cy="1719072"/>
          </a:xfrm>
          <a:prstGeom prst="rect">
            <a:avLst/>
          </a:prstGeom>
          <a:solidFill>
            <a:srgbClr val="E8EDF0"/>
          </a:solidFill>
          <a:ln w="12700">
            <a:solidFill>
              <a:srgbClr val="70809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Text 28"/>
          <p:cNvSpPr/>
          <p:nvPr/>
        </p:nvSpPr>
        <p:spPr>
          <a:xfrm>
            <a:off x="950976" y="188366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Silver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115568" y="2131101"/>
            <a:ext cx="402336" cy="374355"/>
          </a:xfrm>
          <a:prstGeom prst="rect">
            <a:avLst/>
          </a:prstGeom>
          <a:solidFill>
            <a:srgbClr val="708090"/>
          </a:solidFill>
          <a:ln w="12700">
            <a:solidFill>
              <a:srgbClr val="70809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" name="Shape 30"/>
          <p:cNvSpPr/>
          <p:nvPr/>
        </p:nvSpPr>
        <p:spPr>
          <a:xfrm>
            <a:off x="1115568" y="2412919"/>
            <a:ext cx="402336" cy="92537"/>
          </a:xfrm>
          <a:prstGeom prst="ellipse">
            <a:avLst/>
          </a:prstGeom>
          <a:solidFill>
            <a:srgbClr val="708090"/>
          </a:solidFill>
          <a:ln w="12700">
            <a:solidFill>
              <a:srgbClr val="70809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3" name="Shape 31"/>
          <p:cNvSpPr/>
          <p:nvPr/>
        </p:nvSpPr>
        <p:spPr>
          <a:xfrm>
            <a:off x="1115568" y="2084832"/>
            <a:ext cx="402336" cy="92537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70809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4" name="Text 32"/>
          <p:cNvSpPr/>
          <p:nvPr/>
        </p:nvSpPr>
        <p:spPr>
          <a:xfrm>
            <a:off x="932688" y="2542032"/>
            <a:ext cx="7680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&amp; Cleaned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969264" y="2724912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Schema enforced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969264" y="298094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Nulls handled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969264" y="3236976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Joined tables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755648" y="1847088"/>
            <a:ext cx="804672" cy="1719072"/>
          </a:xfrm>
          <a:prstGeom prst="rect">
            <a:avLst/>
          </a:prstGeom>
          <a:solidFill>
            <a:srgbClr val="FFF3CD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9" name="Text 37"/>
          <p:cNvSpPr/>
          <p:nvPr/>
        </p:nvSpPr>
        <p:spPr>
          <a:xfrm>
            <a:off x="1792224" y="188366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Gold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956816" y="2131101"/>
            <a:ext cx="402336" cy="374355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1" name="Shape 39"/>
          <p:cNvSpPr/>
          <p:nvPr/>
        </p:nvSpPr>
        <p:spPr>
          <a:xfrm>
            <a:off x="1956816" y="2412919"/>
            <a:ext cx="402336" cy="92537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2" name="Shape 40"/>
          <p:cNvSpPr/>
          <p:nvPr/>
        </p:nvSpPr>
        <p:spPr>
          <a:xfrm>
            <a:off x="1956816" y="2084832"/>
            <a:ext cx="402336" cy="92537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3" name="Text 41"/>
          <p:cNvSpPr/>
          <p:nvPr/>
        </p:nvSpPr>
        <p:spPr>
          <a:xfrm>
            <a:off x="1773936" y="2542032"/>
            <a:ext cx="7680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1810512" y="2724912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Lag features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810512" y="298094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Spatial join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1810512" y="3236976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ML-ready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877824" y="2706624"/>
            <a:ext cx="36576" cy="0"/>
          </a:xfrm>
          <a:prstGeom prst="line">
            <a:avLst/>
          </a:prstGeom>
          <a:noFill/>
          <a:ln w="19050">
            <a:solidFill>
              <a:srgbClr val="CD7F32"/>
            </a:solidFill>
            <a:prstDash val="solid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48" name="Shape 46"/>
          <p:cNvSpPr/>
          <p:nvPr/>
        </p:nvSpPr>
        <p:spPr>
          <a:xfrm>
            <a:off x="1719072" y="2706624"/>
            <a:ext cx="36576" cy="0"/>
          </a:xfrm>
          <a:prstGeom prst="line">
            <a:avLst/>
          </a:prstGeom>
          <a:noFill/>
          <a:ln w="19050">
            <a:solidFill>
              <a:srgbClr val="708090"/>
            </a:solidFill>
            <a:prstDash val="solid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49" name="Shape 47"/>
          <p:cNvSpPr/>
          <p:nvPr/>
        </p:nvSpPr>
        <p:spPr>
          <a:xfrm>
            <a:off x="109728" y="3657600"/>
            <a:ext cx="2450592" cy="201168"/>
          </a:xfrm>
          <a:prstGeom prst="rect">
            <a:avLst/>
          </a:prstGeom>
          <a:solidFill>
            <a:srgbClr val="1A6FAA">
              <a:alpha val="12000"/>
            </a:srgbClr>
          </a:solidFill>
          <a:ln w="6350">
            <a:solidFill>
              <a:srgbClr val="1A6FA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0" name="Text 48"/>
          <p:cNvSpPr/>
          <p:nvPr/>
        </p:nvSpPr>
        <p:spPr>
          <a:xfrm>
            <a:off x="109728" y="3657600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6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Airflow — weekly ingest · preprocess · feature engineering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109728" y="3913632"/>
            <a:ext cx="2450592" cy="475488"/>
          </a:xfrm>
          <a:prstGeom prst="rect">
            <a:avLst/>
          </a:prstGeom>
          <a:solidFill>
            <a:srgbClr val="F5DEB3"/>
          </a:solidFill>
          <a:ln w="12700">
            <a:solidFill>
              <a:srgbClr val="CD7F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2" name="Text 50"/>
          <p:cNvSpPr/>
          <p:nvPr/>
        </p:nvSpPr>
        <p:spPr>
          <a:xfrm>
            <a:off x="109728" y="3931920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Storage (Bronze)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28016" y="4114800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Postgres — raw_clusters · raw_weather · raw_population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704088" y="1536192"/>
            <a:ext cx="0" cy="310896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55" name="Shape 53"/>
          <p:cNvSpPr/>
          <p:nvPr/>
        </p:nvSpPr>
        <p:spPr>
          <a:xfrm>
            <a:off x="2798064" y="475488"/>
            <a:ext cx="1188720" cy="877824"/>
          </a:xfrm>
          <a:prstGeom prst="rect">
            <a:avLst/>
          </a:prstGeom>
          <a:solidFill>
            <a:srgbClr val="FFF3CD"/>
          </a:solidFill>
          <a:ln w="1905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6" name="Text 54"/>
          <p:cNvSpPr/>
          <p:nvPr/>
        </p:nvSpPr>
        <p:spPr>
          <a:xfrm>
            <a:off x="2798064" y="49377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(Gold)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944368" y="733166"/>
            <a:ext cx="402336" cy="30925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8" name="Shape 56"/>
          <p:cNvSpPr/>
          <p:nvPr/>
        </p:nvSpPr>
        <p:spPr>
          <a:xfrm>
            <a:off x="2944368" y="965972"/>
            <a:ext cx="402336" cy="7644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9" name="Shape 57"/>
          <p:cNvSpPr/>
          <p:nvPr/>
        </p:nvSpPr>
        <p:spPr>
          <a:xfrm>
            <a:off x="2944368" y="694944"/>
            <a:ext cx="402336" cy="76444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0" name="Text 58"/>
          <p:cNvSpPr/>
          <p:nvPr/>
        </p:nvSpPr>
        <p:spPr>
          <a:xfrm>
            <a:off x="2798064" y="1133856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4133088" y="475488"/>
            <a:ext cx="1097280" cy="877824"/>
          </a:xfrm>
          <a:prstGeom prst="rect">
            <a:avLst/>
          </a:prstGeom>
          <a:solidFill>
            <a:srgbClr val="B7E4C7"/>
          </a:solidFill>
          <a:ln w="1905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2" name="Text 60"/>
          <p:cNvSpPr/>
          <p:nvPr/>
        </p:nvSpPr>
        <p:spPr>
          <a:xfrm>
            <a:off x="4133088" y="4937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261104" y="733166"/>
            <a:ext cx="402336" cy="309250"/>
          </a:xfrm>
          <a:prstGeom prst="rect">
            <a:avLst/>
          </a:prstGeom>
          <a:solidFill>
            <a:srgbClr val="1B4332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4" name="Shape 62"/>
          <p:cNvSpPr/>
          <p:nvPr/>
        </p:nvSpPr>
        <p:spPr>
          <a:xfrm>
            <a:off x="4261104" y="965972"/>
            <a:ext cx="402336" cy="76444"/>
          </a:xfrm>
          <a:prstGeom prst="ellipse">
            <a:avLst/>
          </a:prstGeom>
          <a:solidFill>
            <a:srgbClr val="1B4332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5" name="Shape 63"/>
          <p:cNvSpPr/>
          <p:nvPr/>
        </p:nvSpPr>
        <p:spPr>
          <a:xfrm>
            <a:off x="4261104" y="694944"/>
            <a:ext cx="402336" cy="76444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6" name="Text 64"/>
          <p:cNvSpPr/>
          <p:nvPr/>
        </p:nvSpPr>
        <p:spPr>
          <a:xfrm>
            <a:off x="4133088" y="113385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2560320" y="2962656"/>
            <a:ext cx="237744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dash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68" name="Text 66"/>
          <p:cNvSpPr/>
          <p:nvPr/>
        </p:nvSpPr>
        <p:spPr>
          <a:xfrm>
            <a:off x="2578608" y="237744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Features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(Gold)</a:t>
            </a:r>
            <a:endParaRPr lang="en-US" sz="550" dirty="0"/>
          </a:p>
        </p:txBody>
      </p:sp>
      <p:sp>
        <p:nvSpPr>
          <p:cNvPr id="69" name="Shape 67"/>
          <p:cNvSpPr/>
          <p:nvPr/>
        </p:nvSpPr>
        <p:spPr>
          <a:xfrm>
            <a:off x="2743200" y="1481328"/>
            <a:ext cx="1938528" cy="1993392"/>
          </a:xfrm>
          <a:prstGeom prst="rect">
            <a:avLst/>
          </a:prstGeom>
          <a:solidFill>
            <a:srgbClr val="EDE9F8"/>
          </a:solidFill>
          <a:ln w="19050">
            <a:solidFill>
              <a:srgbClr val="6B48A8"/>
            </a:solidFill>
            <a:prstDash val="dash"/>
          </a:ln>
        </p:spPr>
        <p:txBody>
          <a:bodyPr/>
          <a:lstStyle/>
          <a:p>
            <a:endParaRPr lang="en-SG"/>
          </a:p>
        </p:txBody>
      </p:sp>
      <p:sp>
        <p:nvSpPr>
          <p:cNvPr id="70" name="Text 68"/>
          <p:cNvSpPr/>
          <p:nvPr/>
        </p:nvSpPr>
        <p:spPr>
          <a:xfrm>
            <a:off x="2816352" y="153619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4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Model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816352" y="1737360"/>
            <a:ext cx="841248" cy="1609344"/>
          </a:xfrm>
          <a:prstGeom prst="rect">
            <a:avLst/>
          </a:prstGeom>
          <a:solidFill>
            <a:srgbClr val="D8CCF0"/>
          </a:solidFill>
          <a:ln w="12700">
            <a:solidFill>
              <a:srgbClr val="6B48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2" name="Text 70"/>
          <p:cNvSpPr/>
          <p:nvPr/>
        </p:nvSpPr>
        <p:spPr>
          <a:xfrm>
            <a:off x="2816352" y="1755648"/>
            <a:ext cx="841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Tune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2834640" y="1956816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XGBoost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2834640" y="2212848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Optuna HPT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2834640" y="246888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5-fold TS CV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2834640" y="2724912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SMOTE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2834640" y="2980944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MLflow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3730752" y="1737360"/>
            <a:ext cx="877824" cy="1609344"/>
          </a:xfrm>
          <a:prstGeom prst="rect">
            <a:avLst/>
          </a:prstGeom>
          <a:solidFill>
            <a:srgbClr val="C5B8E8"/>
          </a:solidFill>
          <a:ln w="12700">
            <a:solidFill>
              <a:srgbClr val="6B48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9" name="Text 77"/>
          <p:cNvSpPr/>
          <p:nvPr/>
        </p:nvSpPr>
        <p:spPr>
          <a:xfrm>
            <a:off x="3730752" y="175564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3749040" y="1956816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Precision/Recall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3749040" y="2212848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MLflow log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3749040" y="2468880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Promotion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3749040" y="2724912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SHAP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3749040" y="2980944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Spatial acc.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3657600" y="2542032"/>
            <a:ext cx="73152" cy="0"/>
          </a:xfrm>
          <a:prstGeom prst="line">
            <a:avLst/>
          </a:prstGeom>
          <a:noFill/>
          <a:ln w="19050">
            <a:solidFill>
              <a:srgbClr val="6B48A8"/>
            </a:solidFill>
            <a:prstDash val="solid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86" name="Shape 84"/>
          <p:cNvSpPr/>
          <p:nvPr/>
        </p:nvSpPr>
        <p:spPr>
          <a:xfrm>
            <a:off x="3392424" y="1353312"/>
            <a:ext cx="0" cy="384048"/>
          </a:xfrm>
          <a:prstGeom prst="line">
            <a:avLst/>
          </a:prstGeom>
          <a:noFill/>
          <a:ln w="19050">
            <a:solidFill>
              <a:srgbClr val="D4A017"/>
            </a:solidFill>
            <a:prstDash val="dash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87" name="Text 85"/>
          <p:cNvSpPr/>
          <p:nvPr/>
        </p:nvSpPr>
        <p:spPr>
          <a:xfrm>
            <a:off x="3090672" y="1408176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Features</a:t>
            </a:r>
            <a:endParaRPr lang="en-US" sz="550" dirty="0"/>
          </a:p>
        </p:txBody>
      </p:sp>
      <p:sp>
        <p:nvSpPr>
          <p:cNvPr id="88" name="Shape 86"/>
          <p:cNvSpPr/>
          <p:nvPr/>
        </p:nvSpPr>
        <p:spPr>
          <a:xfrm>
            <a:off x="4169664" y="1737360"/>
            <a:ext cx="310896" cy="0"/>
          </a:xfrm>
          <a:prstGeom prst="line">
            <a:avLst/>
          </a:prstGeom>
          <a:noFill/>
          <a:ln w="19050">
            <a:solidFill>
              <a:srgbClr val="1B4332"/>
            </a:solidFill>
            <a:prstDash val="dash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89" name="Text 87"/>
          <p:cNvSpPr/>
          <p:nvPr/>
        </p:nvSpPr>
        <p:spPr>
          <a:xfrm>
            <a:off x="4206240" y="1408176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550" dirty="0"/>
          </a:p>
        </p:txBody>
      </p:sp>
      <p:sp>
        <p:nvSpPr>
          <p:cNvPr id="90" name="Shape 88"/>
          <p:cNvSpPr/>
          <p:nvPr/>
        </p:nvSpPr>
        <p:spPr>
          <a:xfrm>
            <a:off x="4773168" y="1481328"/>
            <a:ext cx="1389888" cy="1993392"/>
          </a:xfrm>
          <a:prstGeom prst="rect">
            <a:avLst/>
          </a:prstGeom>
          <a:solidFill>
            <a:srgbClr val="DBEAFE"/>
          </a:solidFill>
          <a:ln w="19050">
            <a:solidFill>
              <a:srgbClr val="1A6FAA"/>
            </a:solidFill>
            <a:prstDash val="dash"/>
          </a:ln>
        </p:spPr>
        <p:txBody>
          <a:bodyPr/>
          <a:lstStyle/>
          <a:p>
            <a:endParaRPr lang="en-SG"/>
          </a:p>
        </p:txBody>
      </p:sp>
      <p:sp>
        <p:nvSpPr>
          <p:cNvPr id="91" name="Text 89"/>
          <p:cNvSpPr/>
          <p:nvPr/>
        </p:nvSpPr>
        <p:spPr>
          <a:xfrm>
            <a:off x="4846320" y="15361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6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846320" y="1737360"/>
            <a:ext cx="1243584" cy="1609344"/>
          </a:xfrm>
          <a:prstGeom prst="rect">
            <a:avLst/>
          </a:prstGeom>
          <a:solidFill>
            <a:srgbClr val="90CAF9"/>
          </a:solidFill>
          <a:ln w="12700">
            <a:solidFill>
              <a:srgbClr val="1A6FA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3" name="Text 91"/>
          <p:cNvSpPr/>
          <p:nvPr/>
        </p:nvSpPr>
        <p:spPr>
          <a:xfrm>
            <a:off x="4846320" y="1755648"/>
            <a:ext cx="12435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Inference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4882896" y="1956816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Weekly (Monday)</a:t>
            </a:r>
            <a:endParaRPr lang="en-US" sz="650" dirty="0"/>
          </a:p>
        </p:txBody>
      </p:sp>
      <p:sp>
        <p:nvSpPr>
          <p:cNvPr id="95" name="Text 93"/>
          <p:cNvSpPr/>
          <p:nvPr/>
        </p:nvSpPr>
        <p:spPr>
          <a:xfrm>
            <a:off x="4882896" y="2212848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330 subzones</a:t>
            </a:r>
            <a:endParaRPr lang="en-US" sz="650" dirty="0"/>
          </a:p>
        </p:txBody>
      </p:sp>
      <p:sp>
        <p:nvSpPr>
          <p:cNvPr id="96" name="Text 94"/>
          <p:cNvSpPr/>
          <p:nvPr/>
        </p:nvSpPr>
        <p:spPr>
          <a:xfrm>
            <a:off x="4882896" y="2468880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Low/Med/High</a:t>
            </a:r>
            <a:endParaRPr lang="en-US" sz="650" dirty="0"/>
          </a:p>
        </p:txBody>
      </p:sp>
      <p:sp>
        <p:nvSpPr>
          <p:cNvPr id="97" name="Text 95"/>
          <p:cNvSpPr/>
          <p:nvPr/>
        </p:nvSpPr>
        <p:spPr>
          <a:xfrm>
            <a:off x="4882896" y="2724912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→ Postgres map</a:t>
            </a:r>
            <a:endParaRPr lang="en-US" sz="650" dirty="0"/>
          </a:p>
        </p:txBody>
      </p:sp>
      <p:sp>
        <p:nvSpPr>
          <p:cNvPr id="98" name="Text 96"/>
          <p:cNvSpPr/>
          <p:nvPr/>
        </p:nvSpPr>
        <p:spPr>
          <a:xfrm>
            <a:off x="4882896" y="2980944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⚙ Airflow</a:t>
            </a:r>
            <a:endParaRPr lang="en-US" sz="650" dirty="0"/>
          </a:p>
        </p:txBody>
      </p:sp>
      <p:sp>
        <p:nvSpPr>
          <p:cNvPr id="99" name="Shape 97"/>
          <p:cNvSpPr/>
          <p:nvPr/>
        </p:nvSpPr>
        <p:spPr>
          <a:xfrm>
            <a:off x="4681728" y="914400"/>
            <a:ext cx="786384" cy="822960"/>
          </a:xfrm>
          <a:prstGeom prst="line">
            <a:avLst/>
          </a:prstGeom>
          <a:noFill/>
          <a:ln w="19050">
            <a:solidFill>
              <a:srgbClr val="1A6FAA"/>
            </a:solidFill>
            <a:prstDash val="dash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100" name="Text 98"/>
          <p:cNvSpPr/>
          <p:nvPr/>
        </p:nvSpPr>
        <p:spPr>
          <a:xfrm>
            <a:off x="4700016" y="122529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1A6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Model</a:t>
            </a:r>
            <a:endParaRPr lang="en-US" sz="550" dirty="0"/>
          </a:p>
        </p:txBody>
      </p:sp>
      <p:sp>
        <p:nvSpPr>
          <p:cNvPr id="101" name="Shape 99"/>
          <p:cNvSpPr/>
          <p:nvPr/>
        </p:nvSpPr>
        <p:spPr>
          <a:xfrm>
            <a:off x="6272784" y="438912"/>
            <a:ext cx="2743200" cy="4480560"/>
          </a:xfrm>
          <a:prstGeom prst="rect">
            <a:avLst/>
          </a:prstGeom>
          <a:solidFill>
            <a:srgbClr val="F0FBF4"/>
          </a:solidFill>
          <a:ln w="19050">
            <a:solidFill>
              <a:srgbClr val="40916C"/>
            </a:solidFill>
            <a:prstDash val="dash"/>
          </a:ln>
        </p:spPr>
        <p:txBody>
          <a:bodyPr/>
          <a:lstStyle/>
          <a:p>
            <a:endParaRPr lang="en-SG"/>
          </a:p>
        </p:txBody>
      </p:sp>
      <p:sp>
        <p:nvSpPr>
          <p:cNvPr id="102" name="Text 100"/>
          <p:cNvSpPr/>
          <p:nvPr/>
        </p:nvSpPr>
        <p:spPr>
          <a:xfrm>
            <a:off x="6364224" y="49377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Retrain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6345936" y="713232"/>
            <a:ext cx="1353312" cy="749808"/>
          </a:xfrm>
          <a:prstGeom prst="rect">
            <a:avLst/>
          </a:prstGeom>
          <a:solidFill>
            <a:srgbClr val="B7E4C7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4" name="Text 102"/>
          <p:cNvSpPr/>
          <p:nvPr/>
        </p:nvSpPr>
        <p:spPr>
          <a:xfrm>
            <a:off x="6345936" y="731520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 / Pest Control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6382512" y="932688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Views weekly risk map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6382512" y="1097280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Deploys fogging teams</a:t>
            </a:r>
            <a:endParaRPr lang="en-US" sz="650" dirty="0"/>
          </a:p>
        </p:txBody>
      </p:sp>
      <p:sp>
        <p:nvSpPr>
          <p:cNvPr id="107" name="Text 105"/>
          <p:cNvSpPr/>
          <p:nvPr/>
        </p:nvSpPr>
        <p:spPr>
          <a:xfrm>
            <a:off x="6382512" y="126187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High-risk subzones</a:t>
            </a:r>
            <a:endParaRPr lang="en-US" sz="650" dirty="0"/>
          </a:p>
        </p:txBody>
      </p:sp>
      <p:sp>
        <p:nvSpPr>
          <p:cNvPr id="108" name="Shape 106"/>
          <p:cNvSpPr/>
          <p:nvPr/>
        </p:nvSpPr>
        <p:spPr>
          <a:xfrm>
            <a:off x="6345936" y="1554480"/>
            <a:ext cx="1353312" cy="1133856"/>
          </a:xfrm>
          <a:prstGeom prst="rect">
            <a:avLst/>
          </a:prstGeom>
          <a:solidFill>
            <a:srgbClr val="A5D6A7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9" name="Text 107"/>
          <p:cNvSpPr/>
          <p:nvPr/>
        </p:nvSpPr>
        <p:spPr>
          <a:xfrm>
            <a:off x="6345936" y="1572768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6382512" y="177393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Precision/Recall weekly</a:t>
            </a:r>
            <a:endParaRPr lang="en-US" sz="650" dirty="0"/>
          </a:p>
        </p:txBody>
      </p:sp>
      <p:sp>
        <p:nvSpPr>
          <p:cNvPr id="111" name="Text 109"/>
          <p:cNvSpPr/>
          <p:nvPr/>
        </p:nvSpPr>
        <p:spPr>
          <a:xfrm>
            <a:off x="6382512" y="195681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drift (weather)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6382512" y="213969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Concept drift (serotype)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6382512" y="232257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⚙ Airflow scheduled</a:t>
            </a:r>
            <a:endParaRPr lang="en-US" sz="650" dirty="0"/>
          </a:p>
        </p:txBody>
      </p:sp>
      <p:sp>
        <p:nvSpPr>
          <p:cNvPr id="114" name="Text 112"/>
          <p:cNvSpPr/>
          <p:nvPr/>
        </p:nvSpPr>
        <p:spPr>
          <a:xfrm>
            <a:off x="6382512" y="250545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Lineage tracker</a:t>
            </a:r>
            <a:endParaRPr lang="en-US" sz="650" dirty="0"/>
          </a:p>
        </p:txBody>
      </p:sp>
      <p:sp>
        <p:nvSpPr>
          <p:cNvPr id="115" name="Shape 113"/>
          <p:cNvSpPr/>
          <p:nvPr/>
        </p:nvSpPr>
        <p:spPr>
          <a:xfrm>
            <a:off x="7808976" y="1554480"/>
            <a:ext cx="1133856" cy="420624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6" name="Text 114"/>
          <p:cNvSpPr/>
          <p:nvPr/>
        </p:nvSpPr>
        <p:spPr>
          <a:xfrm>
            <a:off x="7808976" y="1554480"/>
            <a:ext cx="11338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Manager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7808976" y="2066544"/>
            <a:ext cx="1133856" cy="420624"/>
          </a:xfrm>
          <a:prstGeom prst="rect">
            <a:avLst/>
          </a:prstGeom>
          <a:solidFill>
            <a:srgbClr val="FFF3CD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8" name="Text 116"/>
          <p:cNvSpPr/>
          <p:nvPr/>
        </p:nvSpPr>
        <p:spPr>
          <a:xfrm>
            <a:off x="7808976" y="2066544"/>
            <a:ext cx="11338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7699248" y="1764792"/>
            <a:ext cx="10972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120" name="Shape 118"/>
          <p:cNvSpPr/>
          <p:nvPr/>
        </p:nvSpPr>
        <p:spPr>
          <a:xfrm>
            <a:off x="7699248" y="2276856"/>
            <a:ext cx="109728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121" name="Shape 119"/>
          <p:cNvSpPr/>
          <p:nvPr/>
        </p:nvSpPr>
        <p:spPr>
          <a:xfrm>
            <a:off x="6345936" y="2798064"/>
            <a:ext cx="2596896" cy="585216"/>
          </a:xfrm>
          <a:prstGeom prst="rect">
            <a:avLst/>
          </a:prstGeom>
          <a:solidFill>
            <a:srgbClr val="FDECEA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2" name="Text 120"/>
          <p:cNvSpPr/>
          <p:nvPr/>
        </p:nvSpPr>
        <p:spPr>
          <a:xfrm>
            <a:off x="6345936" y="2816352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Trigger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6345936" y="3054096"/>
            <a:ext cx="2596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alert (serotype / seasonal) → fires Airflow retraining DAG</a:t>
            </a:r>
            <a:endParaRPr lang="en-US" sz="650" dirty="0"/>
          </a:p>
        </p:txBody>
      </p:sp>
      <p:sp>
        <p:nvSpPr>
          <p:cNvPr id="124" name="Shape 122"/>
          <p:cNvSpPr/>
          <p:nvPr/>
        </p:nvSpPr>
        <p:spPr>
          <a:xfrm>
            <a:off x="7022592" y="2688336"/>
            <a:ext cx="0" cy="109728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125" name="Shape 123"/>
          <p:cNvSpPr/>
          <p:nvPr/>
        </p:nvSpPr>
        <p:spPr>
          <a:xfrm>
            <a:off x="8375904" y="2487168"/>
            <a:ext cx="0" cy="896112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126" name="Shape 124"/>
          <p:cNvSpPr/>
          <p:nvPr/>
        </p:nvSpPr>
        <p:spPr>
          <a:xfrm>
            <a:off x="8375904" y="3383280"/>
            <a:ext cx="56692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127" name="Shape 125"/>
          <p:cNvSpPr/>
          <p:nvPr/>
        </p:nvSpPr>
        <p:spPr>
          <a:xfrm>
            <a:off x="6199632" y="2304288"/>
            <a:ext cx="14630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128" name="Text 126"/>
          <p:cNvSpPr/>
          <p:nvPr/>
        </p:nvSpPr>
        <p:spPr>
          <a:xfrm>
            <a:off x="5760720" y="169164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tiers</a:t>
            </a:r>
            <a:endParaRPr lang="en-US" sz="550" dirty="0"/>
          </a:p>
        </p:txBody>
      </p:sp>
      <p:sp>
        <p:nvSpPr>
          <p:cNvPr id="129" name="Shape 127"/>
          <p:cNvSpPr/>
          <p:nvPr/>
        </p:nvSpPr>
        <p:spPr>
          <a:xfrm>
            <a:off x="6199632" y="2651760"/>
            <a:ext cx="14630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130" name="Text 128"/>
          <p:cNvSpPr/>
          <p:nvPr/>
        </p:nvSpPr>
        <p:spPr>
          <a:xfrm>
            <a:off x="5742432" y="254203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</a:t>
            </a:r>
            <a:endParaRPr lang="en-US" sz="550" dirty="0"/>
          </a:p>
        </p:txBody>
      </p:sp>
      <p:sp>
        <p:nvSpPr>
          <p:cNvPr id="131" name="Shape 129"/>
          <p:cNvSpPr/>
          <p:nvPr/>
        </p:nvSpPr>
        <p:spPr>
          <a:xfrm>
            <a:off x="493776" y="4443984"/>
            <a:ext cx="3639312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lgDash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132" name="Text 130"/>
          <p:cNvSpPr/>
          <p:nvPr/>
        </p:nvSpPr>
        <p:spPr>
          <a:xfrm>
            <a:off x="1097280" y="4480560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Feedback Loop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3236976" y="4663440"/>
            <a:ext cx="3785616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lgDash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134" name="Text 132"/>
          <p:cNvSpPr/>
          <p:nvPr/>
        </p:nvSpPr>
        <p:spPr>
          <a:xfrm>
            <a:off x="3566160" y="4700016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 / Serotype Change Feedback Loop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4169664" y="4297680"/>
            <a:ext cx="512064" cy="0"/>
          </a:xfrm>
          <a:prstGeom prst="line">
            <a:avLst/>
          </a:prstGeom>
          <a:noFill/>
          <a:ln w="12700">
            <a:solidFill>
              <a:srgbClr val="1B4332"/>
            </a:solidFill>
            <a:prstDash val="dash"/>
          </a:ln>
        </p:spPr>
        <p:txBody>
          <a:bodyPr/>
          <a:lstStyle/>
          <a:p>
            <a:endParaRPr lang="en-SG"/>
          </a:p>
        </p:txBody>
      </p:sp>
      <p:sp>
        <p:nvSpPr>
          <p:cNvPr id="136" name="Text 134"/>
          <p:cNvSpPr/>
          <p:nvPr/>
        </p:nvSpPr>
        <p:spPr>
          <a:xfrm>
            <a:off x="3749040" y="4334256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Artifacts (Data, Code, Model)</a:t>
            </a:r>
            <a:endParaRPr lang="en-US" sz="650" dirty="0"/>
          </a:p>
        </p:txBody>
      </p:sp>
      <p:sp>
        <p:nvSpPr>
          <p:cNvPr id="137" name="Shape 135"/>
          <p:cNvSpPr/>
          <p:nvPr/>
        </p:nvSpPr>
        <p:spPr>
          <a:xfrm>
            <a:off x="73152" y="4901184"/>
            <a:ext cx="8933688" cy="24688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8" name="Text 136"/>
          <p:cNvSpPr/>
          <p:nvPr/>
        </p:nvSpPr>
        <p:spPr>
          <a:xfrm>
            <a:off x="109728" y="4901184"/>
            <a:ext cx="8869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All components containerised via Docker + docker-compose  —  runs fully locally · deployable to any cloud with same tooling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271</Words>
  <Application>Microsoft Office PowerPoint</Application>
  <PresentationFormat>On-screen Show (16:9)</PresentationFormat>
  <Paragraphs>82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Gareth Wang</cp:lastModifiedBy>
  <cp:revision>2</cp:revision>
  <dcterms:created xsi:type="dcterms:W3CDTF">2026-05-14T09:19:47Z</dcterms:created>
  <dcterms:modified xsi:type="dcterms:W3CDTF">2026-05-14T09:23:36Z</dcterms:modified>
</cp:coreProperties>
</file>